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70" r:id="rId11"/>
    <p:sldId id="271" r:id="rId12"/>
    <p:sldId id="272" r:id="rId13"/>
    <p:sldId id="273" r:id="rId14"/>
    <p:sldId id="263" r:id="rId15"/>
    <p:sldId id="265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72BF-4B61-420D-A45E-27C9B61CC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59914"/>
            <a:ext cx="10572000" cy="2971051"/>
          </a:xfrm>
        </p:spPr>
        <p:txBody>
          <a:bodyPr/>
          <a:lstStyle/>
          <a:p>
            <a:r>
              <a:rPr lang="en-US" dirty="0"/>
              <a:t>TOPIC 3: FUNCTION AND OOP IN PYTHON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1BE5A-379C-4111-BCCF-3322BD85E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767615"/>
          </a:xfrm>
        </p:spPr>
        <p:txBody>
          <a:bodyPr/>
          <a:lstStyle/>
          <a:p>
            <a:r>
              <a:rPr lang="en-US" dirty="0"/>
              <a:t>3.5 : USE MAGIC METHOD IN PYTHON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1475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99DB-B41F-4BF9-812E-09F103B6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CADA6-1236-46EB-AFB3-64926AFE4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32" y="1492444"/>
            <a:ext cx="10554574" cy="36365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Students are able to describe magic method.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Students are able to use magic method in Python.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201492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810000" y="2485049"/>
            <a:ext cx="10104077" cy="3680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Verdana" panose="020B0604030504040204" pitchFamily="34" charset="0"/>
              </a:rPr>
              <a:t>special methods that start and end with the double underscores.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Verdana" panose="020B0604030504040204" pitchFamily="34" charset="0"/>
              </a:rPr>
              <a:t>also called </a:t>
            </a:r>
            <a:r>
              <a:rPr lang="en-US" altLang="en-US" dirty="0" err="1">
                <a:latin typeface="Verdana" panose="020B0604030504040204" pitchFamily="34" charset="0"/>
              </a:rPr>
              <a:t>dunder</a:t>
            </a:r>
            <a:r>
              <a:rPr lang="en-US" altLang="en-US" dirty="0">
                <a:latin typeface="Verdana" panose="020B0604030504040204" pitchFamily="34" charset="0"/>
              </a:rPr>
              <a:t> methods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Verdana" panose="020B0604030504040204" pitchFamily="34" charset="0"/>
              </a:rPr>
              <a:t>invocation happens internally from the class on a certain action.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Verdana" panose="020B0604030504040204" pitchFamily="34" charset="0"/>
              </a:rPr>
              <a:t>For example, when you add two numbers using the + operator, internally, the </a:t>
            </a:r>
            <a:r>
              <a:rPr lang="en-US" altLang="en-US" dirty="0">
                <a:latin typeface="Consolas" panose="020B0609020204030204" pitchFamily="49" charset="0"/>
              </a:rPr>
              <a:t>__add__()</a:t>
            </a:r>
            <a:r>
              <a:rPr lang="en-US" altLang="en-US" dirty="0">
                <a:latin typeface="Verdana" panose="020B0604030504040204" pitchFamily="34" charset="0"/>
              </a:rPr>
              <a:t> method will be called.</a:t>
            </a:r>
            <a:r>
              <a:rPr lang="en-US" altLang="en-US" sz="1050" dirty="0"/>
              <a:t>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207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Built-in classes in Python define many magic methods. 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Use the </a:t>
            </a:r>
            <a:r>
              <a:rPr lang="en-US" altLang="en-US" dirty="0" err="1">
                <a:latin typeface="Consolas" panose="020B0609020204030204" pitchFamily="49" charset="0"/>
              </a:rPr>
              <a:t>dir</a:t>
            </a:r>
            <a:r>
              <a:rPr lang="en-US" altLang="en-US" dirty="0">
                <a:latin typeface="Consolas" panose="020B0609020204030204" pitchFamily="49" charset="0"/>
              </a:rPr>
              <a:t>()</a:t>
            </a:r>
            <a:r>
              <a:rPr lang="en-US" altLang="en-US" dirty="0">
                <a:latin typeface="Verdana" panose="020B0604030504040204" pitchFamily="34" charset="0"/>
              </a:rPr>
              <a:t> function to see the number of magic methods inherited by a class. 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For example, the following lists all the attributes and methods defined in the </a:t>
            </a:r>
            <a:r>
              <a:rPr lang="en-US" altLang="en-US" dirty="0">
                <a:latin typeface="Consolas" panose="020B0609020204030204" pitchFamily="49" charset="0"/>
              </a:rPr>
              <a:t>int</a:t>
            </a:r>
            <a:r>
              <a:rPr lang="en-US" altLang="en-US" dirty="0">
                <a:latin typeface="Verdana" panose="020B0604030504040204" pitchFamily="34" charset="0"/>
              </a:rPr>
              <a:t> class.</a:t>
            </a:r>
            <a:r>
              <a:rPr lang="en-US" altLang="en-US" sz="1050" dirty="0"/>
              <a:t> </a:t>
            </a:r>
            <a:endParaRPr lang="en-US" altLang="en-US" sz="28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07BF2-7349-4B13-ABBF-1E18236B4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97" y="4124812"/>
            <a:ext cx="102393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7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649C1A-C491-43D6-BBD9-9511C136AF24}"/>
              </a:ext>
            </a:extLst>
          </p:cNvPr>
          <p:cNvSpPr/>
          <p:nvPr/>
        </p:nvSpPr>
        <p:spPr>
          <a:xfrm>
            <a:off x="908807" y="2457088"/>
            <a:ext cx="94767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For example, the </a:t>
            </a:r>
            <a:r>
              <a:rPr lang="en-US" altLang="en-US" dirty="0">
                <a:latin typeface="Consolas" panose="020B0609020204030204" pitchFamily="49" charset="0"/>
              </a:rPr>
              <a:t>__add__</a:t>
            </a:r>
            <a:r>
              <a:rPr lang="en-US" altLang="en-US" dirty="0">
                <a:latin typeface="Verdana" panose="020B0604030504040204" pitchFamily="34" charset="0"/>
              </a:rPr>
              <a:t> method is a magic method which gets called when we add two numbers using the + operator.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Verdana" panose="020B0604030504040204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Consider the following example.</a:t>
            </a:r>
            <a:r>
              <a:rPr lang="en-US" altLang="en-US" sz="1050" dirty="0"/>
              <a:t> </a:t>
            </a:r>
            <a:endParaRPr lang="en-US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74A4FE-F1B2-48D8-A2DD-2CB1E16A0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26" y="4318975"/>
            <a:ext cx="26003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7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rdana"/>
              </a:rPr>
              <a:t>__</a:t>
            </a:r>
            <a:r>
              <a:rPr lang="en-US" dirty="0" err="1">
                <a:latin typeface="erdana"/>
              </a:rPr>
              <a:t>init</a:t>
            </a:r>
            <a:r>
              <a:rPr lang="en-US" dirty="0">
                <a:latin typeface="erdana"/>
              </a:rPr>
              <a:t>__()</a:t>
            </a:r>
            <a:r>
              <a:rPr lang="en-US" dirty="0"/>
              <a:t> 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F4A61C-D316-47E5-91D5-CEF5EDC562AC}"/>
              </a:ext>
            </a:extLst>
          </p:cNvPr>
          <p:cNvSpPr/>
          <p:nvPr/>
        </p:nvSpPr>
        <p:spPr>
          <a:xfrm>
            <a:off x="226502" y="1991633"/>
            <a:ext cx="10410738" cy="1711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erdana"/>
              </a:rPr>
              <a:t>__</a:t>
            </a:r>
            <a:r>
              <a:rPr lang="en-US" dirty="0" err="1">
                <a:latin typeface="erdana"/>
              </a:rPr>
              <a:t>init</a:t>
            </a:r>
            <a:r>
              <a:rPr lang="en-US" dirty="0">
                <a:latin typeface="erdana"/>
              </a:rPr>
              <a:t>__() Method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inter-regular"/>
              </a:rPr>
              <a:t>When we create an instance of the class, it is called automatically.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inter-regular"/>
              </a:rPr>
              <a:t>It’s like constructors in various programming languages like the popular ones C++, Java.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inter-regular"/>
              </a:rPr>
              <a:t>These methods are invoked after _new_ and therefore are referred to as initializing the 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293F0-2598-44C8-9E70-F2FDA3079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02" y="3926059"/>
            <a:ext cx="76485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2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__new__() 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C0D0D-63C8-4732-B435-8FAF45F343E1}"/>
              </a:ext>
            </a:extLst>
          </p:cNvPr>
          <p:cNvSpPr/>
          <p:nvPr/>
        </p:nvSpPr>
        <p:spPr>
          <a:xfrm>
            <a:off x="645020" y="2046913"/>
            <a:ext cx="10595295" cy="1845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__new__() method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Languages such as Java and C# use the new operator to create a new instance of a class.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In Python the </a:t>
            </a:r>
            <a:r>
              <a:rPr lang="en-US" altLang="en-US" dirty="0">
                <a:latin typeface="Consolas" panose="020B0609020204030204" pitchFamily="49" charset="0"/>
              </a:rPr>
              <a:t>__new__()</a:t>
            </a:r>
            <a:r>
              <a:rPr lang="en-US" altLang="en-US" dirty="0">
                <a:latin typeface="Verdana" panose="020B0604030504040204" pitchFamily="34" charset="0"/>
              </a:rPr>
              <a:t> magic method is implicitly called before the </a:t>
            </a:r>
            <a:r>
              <a:rPr lang="en-US" altLang="en-US" dirty="0">
                <a:latin typeface="Consolas" panose="020B0609020204030204" pitchFamily="49" charset="0"/>
              </a:rPr>
              <a:t>__</a:t>
            </a:r>
            <a:r>
              <a:rPr lang="en-US" altLang="en-US" dirty="0" err="1">
                <a:latin typeface="Consolas" panose="020B0609020204030204" pitchFamily="49" charset="0"/>
              </a:rPr>
              <a:t>init</a:t>
            </a:r>
            <a:r>
              <a:rPr lang="en-US" altLang="en-US" dirty="0">
                <a:latin typeface="Consolas" panose="020B0609020204030204" pitchFamily="49" charset="0"/>
              </a:rPr>
              <a:t>__()</a:t>
            </a:r>
            <a:r>
              <a:rPr lang="en-US" altLang="en-US" dirty="0">
                <a:latin typeface="Verdana" panose="020B0604030504040204" pitchFamily="34" charset="0"/>
              </a:rPr>
              <a:t> method.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The </a:t>
            </a:r>
            <a:r>
              <a:rPr lang="en-US" altLang="en-US" dirty="0">
                <a:latin typeface="Consolas" panose="020B0609020204030204" pitchFamily="49" charset="0"/>
              </a:rPr>
              <a:t>__new__()</a:t>
            </a:r>
            <a:r>
              <a:rPr lang="en-US" altLang="en-US" dirty="0">
                <a:latin typeface="Verdana" panose="020B0604030504040204" pitchFamily="34" charset="0"/>
              </a:rPr>
              <a:t> method returns a new object, which is then initialized by </a:t>
            </a:r>
            <a:r>
              <a:rPr lang="en-US" altLang="en-US" dirty="0">
                <a:latin typeface="Consolas" panose="020B0609020204030204" pitchFamily="49" charset="0"/>
              </a:rPr>
              <a:t>__</a:t>
            </a:r>
            <a:r>
              <a:rPr lang="en-US" altLang="en-US" dirty="0" err="1">
                <a:latin typeface="Consolas" panose="020B0609020204030204" pitchFamily="49" charset="0"/>
              </a:rPr>
              <a:t>init</a:t>
            </a:r>
            <a:r>
              <a:rPr lang="en-US" altLang="en-US" dirty="0">
                <a:latin typeface="Consolas" panose="020B0609020204030204" pitchFamily="49" charset="0"/>
              </a:rPr>
              <a:t>__()</a:t>
            </a:r>
            <a:r>
              <a:rPr lang="en-US" altLang="en-US" dirty="0">
                <a:latin typeface="Verdana" panose="020B0604030504040204" pitchFamily="34" charset="0"/>
              </a:rPr>
              <a:t>.</a:t>
            </a:r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2CEFED-D44B-432C-82D3-80A76DB9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20" y="4060648"/>
            <a:ext cx="4505325" cy="2609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30" y="6451423"/>
            <a:ext cx="1047750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2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__str__() </a:t>
            </a:r>
            <a:r>
              <a:rPr lang="en-US" dirty="0"/>
              <a:t>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A7308-6B72-40C4-A7E2-DD926998D192}"/>
              </a:ext>
            </a:extLst>
          </p:cNvPr>
          <p:cNvSpPr/>
          <p:nvPr/>
        </p:nvSpPr>
        <p:spPr>
          <a:xfrm>
            <a:off x="220910" y="2063264"/>
            <a:ext cx="111610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__str__() method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Another useful magic method is </a:t>
            </a:r>
            <a:r>
              <a:rPr lang="en-US" altLang="en-US" dirty="0">
                <a:latin typeface="Consolas" panose="020B0609020204030204" pitchFamily="49" charset="0"/>
              </a:rPr>
              <a:t>__str__()</a:t>
            </a:r>
            <a:r>
              <a:rPr lang="en-US" altLang="en-US" dirty="0">
                <a:latin typeface="Verdana" panose="020B0604030504040204" pitchFamily="34" charset="0"/>
              </a:rPr>
              <a:t>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It is overridden to return a printable string representation of any user defined class.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We have seen </a:t>
            </a:r>
            <a:r>
              <a:rPr lang="en-US" altLang="en-US" dirty="0">
                <a:latin typeface="Consolas" panose="020B0609020204030204" pitchFamily="49" charset="0"/>
              </a:rPr>
              <a:t>str()</a:t>
            </a:r>
            <a:r>
              <a:rPr lang="en-US" altLang="en-US" dirty="0">
                <a:latin typeface="Verdana" panose="020B0604030504040204" pitchFamily="34" charset="0"/>
              </a:rPr>
              <a:t> built-in function which returns a string from the object parameter.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Verdana" panose="020B0604030504040204" pitchFamily="34" charset="0"/>
              </a:rPr>
              <a:t>For example, </a:t>
            </a:r>
            <a:r>
              <a:rPr lang="en-US" altLang="en-US" dirty="0">
                <a:latin typeface="Consolas" panose="020B0609020204030204" pitchFamily="49" charset="0"/>
              </a:rPr>
              <a:t>str(12)</a:t>
            </a:r>
            <a:r>
              <a:rPr lang="en-US" altLang="en-US" dirty="0">
                <a:latin typeface="Verdana" panose="020B0604030504040204" pitchFamily="34" charset="0"/>
              </a:rPr>
              <a:t> returns '12'. When invoked, it calls the </a:t>
            </a:r>
            <a:r>
              <a:rPr lang="en-US" altLang="en-US" dirty="0">
                <a:latin typeface="Consolas" panose="020B0609020204030204" pitchFamily="49" charset="0"/>
              </a:rPr>
              <a:t>__str__()</a:t>
            </a:r>
            <a:r>
              <a:rPr lang="en-US" altLang="en-US" dirty="0">
                <a:latin typeface="Verdana" panose="020B0604030504040204" pitchFamily="34" charset="0"/>
              </a:rPr>
              <a:t> method in the int class.</a:t>
            </a:r>
            <a:endParaRPr lang="en-US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7149C-F768-4CF4-9AEB-6EA73CAFA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18" y="4500257"/>
            <a:ext cx="55435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7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D6C-6DF3-4982-B2E7-0E6F125B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rdana"/>
              </a:rPr>
              <a:t>__contains__() </a:t>
            </a:r>
            <a:r>
              <a:rPr lang="en-US" dirty="0"/>
              <a:t>METHOD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B4288-18DD-4A4C-B044-46C4ABEF81E7}"/>
              </a:ext>
            </a:extLst>
          </p:cNvPr>
          <p:cNvSpPr/>
          <p:nvPr/>
        </p:nvSpPr>
        <p:spPr>
          <a:xfrm>
            <a:off x="503339" y="2214693"/>
            <a:ext cx="10878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7D2802-052F-443F-B4ED-56D9435C3AB1}"/>
              </a:ext>
            </a:extLst>
          </p:cNvPr>
          <p:cNvSpPr/>
          <p:nvPr/>
        </p:nvSpPr>
        <p:spPr>
          <a:xfrm>
            <a:off x="399119" y="2642416"/>
            <a:ext cx="46678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erdana"/>
              </a:rPr>
              <a:t>__contains__() Method</a:t>
            </a:r>
          </a:p>
          <a:p>
            <a:pPr algn="just"/>
            <a:endParaRPr lang="en-US" dirty="0">
              <a:latin typeface="erdana"/>
            </a:endParaRPr>
          </a:p>
          <a:p>
            <a:pPr algn="just"/>
            <a:r>
              <a:rPr lang="en-US" dirty="0">
                <a:latin typeface="inter-regular"/>
              </a:rPr>
              <a:t>The 'in' membership operator of Python implicitly calls the __contains__ method. </a:t>
            </a:r>
          </a:p>
          <a:p>
            <a:pPr algn="just"/>
            <a:endParaRPr lang="en-US" dirty="0">
              <a:latin typeface="inter-regular"/>
            </a:endParaRPr>
          </a:p>
          <a:p>
            <a:pPr algn="just"/>
            <a:r>
              <a:rPr lang="en-US" dirty="0">
                <a:latin typeface="inter-regular"/>
              </a:rPr>
              <a:t>We can use the __contains__ method to determine if an element is contained in an object's attributes. </a:t>
            </a:r>
          </a:p>
          <a:p>
            <a:pPr algn="just"/>
            <a:endParaRPr lang="en-US" dirty="0">
              <a:latin typeface="inter-regular"/>
            </a:endParaRPr>
          </a:p>
          <a:p>
            <a:pPr algn="just"/>
            <a:r>
              <a:rPr lang="en-US" dirty="0">
                <a:latin typeface="inter-regular"/>
              </a:rPr>
              <a:t>We can use this method for attributes that are containers ( such as lists, tuples, etc.).</a:t>
            </a:r>
            <a:endParaRPr lang="en-US" b="0" i="0" dirty="0">
              <a:effectLst/>
              <a:latin typeface="inter-regula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523972-FFF2-4E50-8DE3-BA346878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486" y="2440546"/>
            <a:ext cx="57054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8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Comparison Methods</a:t>
            </a:r>
            <a:endParaRPr lang="en-MY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5187" y="2486367"/>
            <a:ext cx="7681626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3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0"/>
            <a:ext cx="10571998" cy="970450"/>
          </a:xfrm>
        </p:spPr>
        <p:txBody>
          <a:bodyPr/>
          <a:lstStyle/>
          <a:p>
            <a:r>
              <a:rPr lang="en-US" dirty="0"/>
              <a:t>List of Comparison Methods</a:t>
            </a:r>
            <a:endParaRPr lang="en-MY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970450"/>
            <a:ext cx="10293800" cy="576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5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377" y="363896"/>
            <a:ext cx="10571998" cy="659992"/>
          </a:xfrm>
        </p:spPr>
        <p:txBody>
          <a:bodyPr/>
          <a:lstStyle/>
          <a:p>
            <a:r>
              <a:rPr lang="en-US" dirty="0"/>
              <a:t>List of Numeric Methods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7" y="1023888"/>
            <a:ext cx="10776753" cy="55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89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48" y="454476"/>
            <a:ext cx="10571998" cy="970450"/>
          </a:xfrm>
        </p:spPr>
        <p:txBody>
          <a:bodyPr/>
          <a:lstStyle/>
          <a:p>
            <a:r>
              <a:rPr lang="en-US" dirty="0"/>
              <a:t>Numeric Methods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1424926"/>
            <a:ext cx="10571998" cy="49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9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F7D8-C7D3-4A6F-B1CC-2F27D664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58" y="204963"/>
            <a:ext cx="10571998" cy="970450"/>
          </a:xfrm>
        </p:spPr>
        <p:txBody>
          <a:bodyPr/>
          <a:lstStyle/>
          <a:p>
            <a:r>
              <a:rPr lang="en-US" dirty="0"/>
              <a:t>Important Magic Methods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9A43-5C7D-4089-A05B-02F47F1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CAC57-0FE7-4A8E-9890-2C2658770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37" y="1614312"/>
            <a:ext cx="104298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3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F7D8-C7D3-4A6F-B1CC-2F27D664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58" y="204963"/>
            <a:ext cx="10571998" cy="970450"/>
          </a:xfrm>
        </p:spPr>
        <p:txBody>
          <a:bodyPr/>
          <a:lstStyle/>
          <a:p>
            <a:r>
              <a:rPr lang="en-US" dirty="0"/>
              <a:t>Important Magic Methods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9A43-5C7D-4089-A05B-02F47F1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4E8A2-6F8A-40E5-B29A-CF9DFB31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52" y="1435454"/>
            <a:ext cx="104394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7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F7D8-C7D3-4A6F-B1CC-2F27D664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58" y="204963"/>
            <a:ext cx="10571998" cy="970450"/>
          </a:xfrm>
        </p:spPr>
        <p:txBody>
          <a:bodyPr/>
          <a:lstStyle/>
          <a:p>
            <a:r>
              <a:rPr lang="en-US" dirty="0"/>
              <a:t>Important Magic Methods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9A43-5C7D-4089-A05B-02F47F1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08B72-3C82-40CF-9770-D797468D7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82" y="1508397"/>
            <a:ext cx="9110784" cy="506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7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F7D8-C7D3-4A6F-B1CC-2F27D664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58" y="204963"/>
            <a:ext cx="10571998" cy="970450"/>
          </a:xfrm>
        </p:spPr>
        <p:txBody>
          <a:bodyPr/>
          <a:lstStyle/>
          <a:p>
            <a:r>
              <a:rPr lang="en-US" dirty="0"/>
              <a:t>Important Magic Methods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9A43-5C7D-4089-A05B-02F47F1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F6AC9-1F0B-410F-A09F-72DF9C4C9E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354"/>
          <a:stretch/>
        </p:blipFill>
        <p:spPr>
          <a:xfrm>
            <a:off x="718833" y="2766238"/>
            <a:ext cx="10754332" cy="171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7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4C51-9D0F-4698-B72D-B47B28D92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/>
              <a:t>Thank You</a:t>
            </a:r>
            <a:endParaRPr lang="en-MY" sz="8800" dirty="0"/>
          </a:p>
        </p:txBody>
      </p:sp>
    </p:spTree>
    <p:extLst>
      <p:ext uri="{BB962C8B-B14F-4D97-AF65-F5344CB8AC3E}">
        <p14:creationId xmlns:p14="http://schemas.microsoft.com/office/powerpoint/2010/main" val="4094259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205</TotalTime>
  <Words>444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Century Gothic</vt:lpstr>
      <vt:lpstr>Consolas</vt:lpstr>
      <vt:lpstr>erdana</vt:lpstr>
      <vt:lpstr>inter-regular</vt:lpstr>
      <vt:lpstr>Segoe UI</vt:lpstr>
      <vt:lpstr>Verdana</vt:lpstr>
      <vt:lpstr>Wingdings</vt:lpstr>
      <vt:lpstr>Wingdings 2</vt:lpstr>
      <vt:lpstr>Quotable</vt:lpstr>
      <vt:lpstr>TOPIC 3: FUNCTION AND OOP IN PYTHON</vt:lpstr>
      <vt:lpstr>LEARNING OUTCOME</vt:lpstr>
      <vt:lpstr>MAGIC METHOD</vt:lpstr>
      <vt:lpstr>MAGIC METHOD</vt:lpstr>
      <vt:lpstr>MAGIC METHOD</vt:lpstr>
      <vt:lpstr>__init__() METHOD</vt:lpstr>
      <vt:lpstr>__new__() METHOD</vt:lpstr>
      <vt:lpstr>__str__() METHOD</vt:lpstr>
      <vt:lpstr>__contains__() METHOD</vt:lpstr>
      <vt:lpstr>List of Comparison Methods</vt:lpstr>
      <vt:lpstr>List of Comparison Methods</vt:lpstr>
      <vt:lpstr>List of Numeric Methods</vt:lpstr>
      <vt:lpstr>Numeric Methods</vt:lpstr>
      <vt:lpstr>Important Magic Methods</vt:lpstr>
      <vt:lpstr>Important Magic Methods</vt:lpstr>
      <vt:lpstr>Important Magic Methods</vt:lpstr>
      <vt:lpstr>Important Magic Methods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3: FUNCTION AND OOP IN PYTHON</dc:title>
  <dc:creator>Salehah Binti. Haji Omar</dc:creator>
  <cp:lastModifiedBy>muhd</cp:lastModifiedBy>
  <cp:revision>16</cp:revision>
  <dcterms:created xsi:type="dcterms:W3CDTF">2022-10-02T04:16:33Z</dcterms:created>
  <dcterms:modified xsi:type="dcterms:W3CDTF">2023-03-26T02:36:23Z</dcterms:modified>
</cp:coreProperties>
</file>