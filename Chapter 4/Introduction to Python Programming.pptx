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3"/>
  </p:notesMasterIdLst>
  <p:sldIdLst>
    <p:sldId id="256" r:id="rId2"/>
    <p:sldId id="258" r:id="rId3"/>
    <p:sldId id="259" r:id="rId4"/>
    <p:sldId id="260" r:id="rId5"/>
    <p:sldId id="265" r:id="rId6"/>
    <p:sldId id="266" r:id="rId7"/>
    <p:sldId id="267" r:id="rId8"/>
    <p:sldId id="268" r:id="rId9"/>
    <p:sldId id="284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85" r:id="rId18"/>
    <p:sldId id="276" r:id="rId19"/>
    <p:sldId id="277" r:id="rId20"/>
    <p:sldId id="278" r:id="rId21"/>
    <p:sldId id="279" r:id="rId22"/>
  </p:sldIdLst>
  <p:sldSz cx="9144000" cy="6858000" type="screen4x3"/>
  <p:notesSz cx="6858000" cy="9144000"/>
  <p:custDataLst>
    <p:tags r:id="rId24"/>
  </p:custDataLst>
  <p:defaultTextStyle>
    <a:defPPr>
      <a:defRPr lang="en-MY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F6DDDA-C518-413C-81FD-4A9AACEB261C}" type="datetimeFigureOut">
              <a:rPr lang="en-MY" smtClean="0"/>
              <a:t>9/3/2021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E7710-C01B-4246-8CB3-E01B80389E0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37017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 smtClean="0"/>
              <a:t>https://courses.cs.washington.edu/courses/cse142/10au/_python/week2/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E7710-C01B-4246-8CB3-E01B80389E00}" type="slidenum">
              <a:rPr lang="en-MY" smtClean="0"/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12529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eaLnBrk="1" hangingPunct="1"/>
            <a:fld id="{4BC70D53-DCFA-4B13-94C4-19324DABA509}" type="slidenum">
              <a:rPr lang="en-US" sz="1200">
                <a:solidFill>
                  <a:srgbClr val="000000"/>
                </a:solidFill>
                <a:latin typeface="Times New Roman" charset="0"/>
              </a:rPr>
              <a:pPr eaLnBrk="1" hangingPunct="1"/>
              <a:t>5</a:t>
            </a:fld>
            <a:endParaRPr lang="en-US" sz="12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33795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33796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eaLnBrk="1" hangingPunct="1"/>
            <a:fld id="{8127A012-EAE8-4BA0-8975-BFF4E2863ADE}" type="slidenum">
              <a:rPr lang="en-US" sz="1200">
                <a:solidFill>
                  <a:srgbClr val="000000"/>
                </a:solidFill>
                <a:latin typeface="Times New Roman" charset="0"/>
              </a:rPr>
              <a:pPr eaLnBrk="1" hangingPunct="1"/>
              <a:t>6</a:t>
            </a:fld>
            <a:endParaRPr lang="en-US" sz="12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35843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35844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eaLnBrk="1" hangingPunct="1"/>
            <a:fld id="{0A7E283B-5B6A-487D-800B-5E107478B645}" type="slidenum">
              <a:rPr lang="en-US" sz="1200">
                <a:solidFill>
                  <a:srgbClr val="000000"/>
                </a:solidFill>
                <a:latin typeface="Times New Roman" charset="0"/>
              </a:rPr>
              <a:pPr eaLnBrk="1" hangingPunct="1"/>
              <a:t>7</a:t>
            </a:fld>
            <a:endParaRPr lang="en-US" sz="12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37891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37892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eaLnBrk="1" hangingPunct="1"/>
            <a:fld id="{C9D950EB-793C-45D4-9600-3DED01B5FC1B}" type="slidenum">
              <a:rPr lang="en-US" sz="1200">
                <a:solidFill>
                  <a:srgbClr val="000000"/>
                </a:solidFill>
                <a:latin typeface="Times New Roman" charset="0"/>
              </a:rPr>
              <a:pPr eaLnBrk="1" hangingPunct="1"/>
              <a:t>8</a:t>
            </a:fld>
            <a:endParaRPr lang="en-US" sz="12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39939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3994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http://python.org/ftp/python/3.1/python-3.1.msi</a:t>
            </a:r>
          </a:p>
          <a:p>
            <a:endParaRPr lang="en-U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eaLnBrk="1" hangingPunct="1"/>
            <a:fld id="{3794267C-D76C-4156-AD56-3B4E2EB17EB5}" type="slidenum">
              <a:rPr lang="en-US" sz="1200">
                <a:solidFill>
                  <a:srgbClr val="000000"/>
                </a:solidFill>
                <a:latin typeface="Times New Roman" charset="0"/>
              </a:rPr>
              <a:pPr eaLnBrk="1" hangingPunct="1"/>
              <a:t>10</a:t>
            </a:fld>
            <a:endParaRPr lang="en-US" sz="12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41987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41988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eaLnBrk="1" hangingPunct="1"/>
            <a:fld id="{C69575F6-B61F-469B-9BB7-C822BF197952}" type="slidenum">
              <a:rPr lang="en-US" sz="1200">
                <a:solidFill>
                  <a:srgbClr val="000000"/>
                </a:solidFill>
                <a:latin typeface="Times New Roman" charset="0"/>
              </a:rPr>
              <a:pPr eaLnBrk="1" hangingPunct="1"/>
              <a:t>11</a:t>
            </a:fld>
            <a:endParaRPr lang="en-US" sz="12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44035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44036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eaLnBrk="1" hangingPunct="1"/>
            <a:fld id="{99289F73-37E5-4351-9B5B-760A75848E98}" type="slidenum">
              <a:rPr lang="en-US" sz="1200">
                <a:solidFill>
                  <a:srgbClr val="000000"/>
                </a:solidFill>
                <a:latin typeface="Times New Roman" charset="0"/>
              </a:rPr>
              <a:pPr eaLnBrk="1" hangingPunct="1"/>
              <a:t>12</a:t>
            </a:fld>
            <a:endParaRPr lang="en-US" sz="12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46083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46084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eaLnBrk="1" hangingPunct="1"/>
            <a:fld id="{AFD89313-96E0-45AA-9774-A977F8336471}" type="slidenum">
              <a:rPr lang="en-US" sz="1200">
                <a:solidFill>
                  <a:srgbClr val="000000"/>
                </a:solidFill>
                <a:latin typeface="Times New Roman" charset="0"/>
              </a:rPr>
              <a:pPr eaLnBrk="1" hangingPunct="1"/>
              <a:t>13</a:t>
            </a:fld>
            <a:endParaRPr lang="en-US" sz="12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48131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48132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eaLnBrk="1" hangingPunct="1"/>
            <a:fld id="{6B66BC02-669D-40D0-8928-EC5C129C6765}" type="slidenum">
              <a:rPr lang="en-US" sz="1200">
                <a:solidFill>
                  <a:srgbClr val="000000"/>
                </a:solidFill>
                <a:latin typeface="Times New Roman" charset="0"/>
              </a:rPr>
              <a:pPr eaLnBrk="1" hangingPunct="1"/>
              <a:t>14</a:t>
            </a:fld>
            <a:endParaRPr lang="en-US" sz="12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50179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5018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eaLnBrk="1" hangingPunct="1"/>
            <a:fld id="{6C689801-5AFE-4C03-B85D-73D45921E6EB}" type="slidenum">
              <a:rPr lang="en-US" sz="1200">
                <a:solidFill>
                  <a:srgbClr val="000000"/>
                </a:solidFill>
                <a:latin typeface="Times New Roman" charset="0"/>
              </a:rPr>
              <a:pPr eaLnBrk="1" hangingPunct="1"/>
              <a:t>15</a:t>
            </a:fld>
            <a:endParaRPr lang="en-US" sz="12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52227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52228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eaLnBrk="1" hangingPunct="1"/>
            <a:fld id="{EB21AC04-EE33-498F-9386-B076784747C4}" type="slidenum">
              <a:rPr lang="en-US" sz="1200">
                <a:solidFill>
                  <a:srgbClr val="000000"/>
                </a:solidFill>
                <a:latin typeface="Times New Roman" charset="0"/>
              </a:rPr>
              <a:pPr eaLnBrk="1" hangingPunct="1"/>
              <a:t>16</a:t>
            </a:fld>
            <a:endParaRPr lang="en-US" sz="12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54275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54276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eaLnBrk="1" hangingPunct="1"/>
            <a:fld id="{17682059-8DD8-4AF4-B404-EDC5C1B3E27A}" type="slidenum">
              <a:rPr lang="en-US" sz="1200">
                <a:solidFill>
                  <a:srgbClr val="000000"/>
                </a:solidFill>
                <a:latin typeface="Times New Roman" charset="0"/>
              </a:rPr>
              <a:pPr eaLnBrk="1" hangingPunct="1"/>
              <a:t>17</a:t>
            </a:fld>
            <a:endParaRPr lang="en-US" sz="12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31747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31748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859679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eaLnBrk="1" hangingPunct="1"/>
            <a:fld id="{13DF1DB8-D10B-4048-9C68-A129AB38B5C2}" type="slidenum">
              <a:rPr lang="en-US" sz="1200">
                <a:solidFill>
                  <a:srgbClr val="000000"/>
                </a:solidFill>
                <a:latin typeface="Times New Roman" charset="0"/>
              </a:rPr>
              <a:pPr eaLnBrk="1" hangingPunct="1"/>
              <a:t>18</a:t>
            </a:fld>
            <a:endParaRPr lang="en-US" sz="12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56323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56324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eaLnBrk="1" hangingPunct="1"/>
            <a:fld id="{43B7BF2C-94F7-42EE-87D8-108359733796}" type="slidenum">
              <a:rPr lang="en-US" sz="1200">
                <a:solidFill>
                  <a:srgbClr val="000000"/>
                </a:solidFill>
                <a:latin typeface="Times New Roman" charset="0"/>
              </a:rPr>
              <a:pPr eaLnBrk="1" hangingPunct="1"/>
              <a:t>19</a:t>
            </a:fld>
            <a:endParaRPr lang="en-US" sz="12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58371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58372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eaLnBrk="1" hangingPunct="1"/>
            <a:fld id="{C896B9AB-0575-4DFD-A0D0-CBA8679C5204}" type="slidenum">
              <a:rPr lang="en-US" sz="1200">
                <a:solidFill>
                  <a:srgbClr val="000000"/>
                </a:solidFill>
                <a:latin typeface="Times New Roman" charset="0"/>
              </a:rPr>
              <a:pPr eaLnBrk="1" hangingPunct="1"/>
              <a:t>20</a:t>
            </a:fld>
            <a:endParaRPr lang="en-US" sz="12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60419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6042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eaLnBrk="1" hangingPunct="1"/>
            <a:fld id="{15F9A75A-DA06-407B-BDD9-67608F913725}" type="slidenum">
              <a:rPr lang="en-US" sz="1200">
                <a:solidFill>
                  <a:srgbClr val="000000"/>
                </a:solidFill>
                <a:latin typeface="Times New Roman" charset="0"/>
              </a:rPr>
              <a:pPr eaLnBrk="1" hangingPunct="1"/>
              <a:t>21</a:t>
            </a:fld>
            <a:endParaRPr lang="en-US" sz="12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62467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62468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200400"/>
            <a:ext cx="75438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24400"/>
            <a:ext cx="6858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FCF42-4387-474B-A5DD-935936EB5212}" type="slidenum">
              <a:rPr lang="en-MY" smtClean="0"/>
              <a:pPr/>
              <a:t>‹#›</a:t>
            </a:fld>
            <a:endParaRPr lang="en-MY"/>
          </a:p>
        </p:txBody>
      </p:sp>
      <p:sp>
        <p:nvSpPr>
          <p:cNvPr id="7" name="Rectangle 6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B4FC8-84F8-47E1-B01B-BF28325CE25B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276600"/>
            <a:ext cx="7543800" cy="16764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953000"/>
            <a:ext cx="6858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D78D9-08D8-4B7E-B445-836A5EE1F233}" type="slidenum">
              <a:rPr lang="en-MY" smtClean="0"/>
              <a:pPr/>
              <a:t>‹#›</a:t>
            </a:fld>
            <a:endParaRPr lang="en-MY"/>
          </a:p>
        </p:txBody>
      </p:sp>
      <p:sp>
        <p:nvSpPr>
          <p:cNvPr id="8" name="Rectangle 7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CD303-2B1D-4248-BB1B-8DCC20B91E3B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06B1-93BE-4B77-AA9C-625EC99753A4}" type="slidenum">
              <a:rPr lang="en-MY" smtClean="0"/>
              <a:pPr/>
              <a:t>‹#›</a:t>
            </a:fld>
            <a:endParaRPr lang="en-MY"/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7FB2D-E1CC-42EA-8B50-743205710211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81330-432F-4AAA-8B97-DA33E882B671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457200"/>
            <a:ext cx="4594934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457200"/>
            <a:ext cx="2673657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192F4-9476-4C1C-AA75-9396EE2FC761}" type="slidenum">
              <a:rPr lang="en-MY" smtClean="0"/>
              <a:pPr/>
              <a:t>‹#›</a:t>
            </a:fld>
            <a:endParaRPr lang="en-MY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677194" y="2514600"/>
            <a:ext cx="38100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457200"/>
            <a:ext cx="75438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3505200"/>
            <a:ext cx="73914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C7B2-D65E-45DD-B4F1-978DD3FECA42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85800"/>
            <a:ext cx="7239000" cy="38862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FDC23-4724-46EF-8861-DC73E937EA1D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685801"/>
            <a:ext cx="1828800" cy="541019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685801"/>
            <a:ext cx="5715000" cy="48768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F410-50D0-4439-AA76-5E28FCA3A7A2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18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685800"/>
            <a:ext cx="75438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2087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999" y="6208776"/>
            <a:ext cx="4873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5687568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8F668330-A6C1-45F5-A5C0-DB65D498E0F6}" type="slidenum">
              <a:rPr lang="en-MY" smtClean="0"/>
              <a:pPr/>
              <a:t>‹#›</a:t>
            </a:fld>
            <a:endParaRPr lang="en-MY"/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python.org/ftp/python/3.1/python-3.1.msi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7584" y="3717032"/>
            <a:ext cx="7543800" cy="1524000"/>
          </a:xfrm>
        </p:spPr>
        <p:txBody>
          <a:bodyPr/>
          <a:lstStyle/>
          <a:p>
            <a:r>
              <a:rPr lang="en-MY" sz="6000" b="1" dirty="0" smtClean="0">
                <a:solidFill>
                  <a:schemeClr val="tx1"/>
                </a:solidFill>
              </a:rPr>
              <a:t>Introduction to Python Programming </a:t>
            </a:r>
            <a:endParaRPr lang="en-MY" sz="60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87624" y="2276872"/>
            <a:ext cx="6858000" cy="504056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DFP40203 </a:t>
            </a:r>
            <a:r>
              <a:rPr lang="en-US" dirty="0" smtClean="0">
                <a:solidFill>
                  <a:schemeClr val="bg1"/>
                </a:solidFill>
              </a:rPr>
              <a:t>PYHTON PROGRAMMING</a:t>
            </a:r>
            <a:endParaRPr lang="en-MY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743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Python</a:t>
            </a:r>
            <a:r>
              <a:rPr lang="en-US" dirty="0" smtClean="0"/>
              <a:t>?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Python </a:t>
            </a:r>
            <a:r>
              <a:rPr lang="en-US" dirty="0"/>
              <a:t>is a popular programming language. It was created by Guido van </a:t>
            </a:r>
            <a:r>
              <a:rPr lang="en-US" dirty="0" err="1"/>
              <a:t>Rossum</a:t>
            </a:r>
            <a:r>
              <a:rPr lang="en-US" dirty="0"/>
              <a:t>, and released in 1991.</a:t>
            </a:r>
          </a:p>
          <a:p>
            <a:r>
              <a:rPr lang="en-US" dirty="0"/>
              <a:t>It is used for:</a:t>
            </a:r>
          </a:p>
          <a:p>
            <a:r>
              <a:rPr lang="en-US" dirty="0"/>
              <a:t>web development (server-side),</a:t>
            </a:r>
          </a:p>
          <a:p>
            <a:r>
              <a:rPr lang="en-US" dirty="0"/>
              <a:t>software development,</a:t>
            </a:r>
          </a:p>
          <a:p>
            <a:r>
              <a:rPr lang="en-US" dirty="0"/>
              <a:t>mathematics,</a:t>
            </a:r>
          </a:p>
          <a:p>
            <a:r>
              <a:rPr lang="en-US" dirty="0"/>
              <a:t>system scripting.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879140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can Python do</a:t>
            </a:r>
            <a:r>
              <a:rPr lang="en-US" dirty="0" smtClean="0"/>
              <a:t>?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Python </a:t>
            </a:r>
            <a:r>
              <a:rPr lang="en-US" dirty="0"/>
              <a:t>can be used on a server to create web applications.</a:t>
            </a:r>
          </a:p>
          <a:p>
            <a:r>
              <a:rPr lang="en-US" dirty="0"/>
              <a:t>Python can be used alongside software to create workflows.</a:t>
            </a:r>
          </a:p>
          <a:p>
            <a:r>
              <a:rPr lang="en-US" dirty="0"/>
              <a:t>Python can connect to database systems. It can also read and modify files.</a:t>
            </a:r>
          </a:p>
          <a:p>
            <a:r>
              <a:rPr lang="en-US" dirty="0"/>
              <a:t>Python can be used to handle big data and perform complex mathematics.</a:t>
            </a:r>
          </a:p>
          <a:p>
            <a:r>
              <a:rPr lang="en-US" dirty="0"/>
              <a:t>Python can be used for rapid prototyping, or for production-ready software development.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540482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Principles of Python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Python works on different platforms (Windows, Mac, Linux, Raspberry Pi, </a:t>
            </a:r>
            <a:r>
              <a:rPr lang="en-US" dirty="0" err="1"/>
              <a:t>etc</a:t>
            </a:r>
            <a:r>
              <a:rPr lang="en-US" dirty="0"/>
              <a:t>).</a:t>
            </a:r>
          </a:p>
          <a:p>
            <a:r>
              <a:rPr lang="en-US" dirty="0"/>
              <a:t>Python has a simple syntax similar to the English language.</a:t>
            </a:r>
          </a:p>
          <a:p>
            <a:r>
              <a:rPr lang="en-US" dirty="0"/>
              <a:t>Python has syntax that allows developers to write programs with fewer lines than some other programming languages.</a:t>
            </a:r>
          </a:p>
          <a:p>
            <a:r>
              <a:rPr lang="en-US" dirty="0"/>
              <a:t>Python runs on an interpreter system, meaning that code can be executed as soon as it is written. This means that prototyping can be very quick.</a:t>
            </a:r>
          </a:p>
          <a:p>
            <a:r>
              <a:rPr lang="en-US" dirty="0"/>
              <a:t>Python can be treated in a procedural way, an object-oriented way or a functional way.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40663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1"/>
          <p:cNvSpPr txBox="1">
            <a:spLocks noChangeArrowheads="1"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sz="4400" b="1">
                <a:solidFill>
                  <a:srgbClr val="FFFFFF"/>
                </a:solidFill>
                <a:latin typeface="Tahoma" charset="0"/>
              </a:rPr>
              <a:t>Python!</a:t>
            </a:r>
          </a:p>
        </p:txBody>
      </p:sp>
      <p:sp>
        <p:nvSpPr>
          <p:cNvPr id="32771" name="Text Box 2"/>
          <p:cNvSpPr txBox="1">
            <a:spLocks noChangeArrowheads="1"/>
          </p:cNvSpPr>
          <p:nvPr/>
        </p:nvSpPr>
        <p:spPr bwMode="auto">
          <a:xfrm>
            <a:off x="304800" y="1295400"/>
            <a:ext cx="8686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1313" indent="-341313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741363" indent="-284163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eaLnBrk="1" hangingPunct="1">
              <a:spcBef>
                <a:spcPts val="600"/>
              </a:spcBef>
              <a:buFont typeface="Tahoma" charset="0"/>
              <a:buChar char="•"/>
            </a:pPr>
            <a:r>
              <a:rPr lang="en-US">
                <a:solidFill>
                  <a:srgbClr val="000000"/>
                </a:solidFill>
                <a:latin typeface="Tahoma" charset="0"/>
              </a:rPr>
              <a:t>Created in 1991 by Guido van Rossum (now at Google)</a:t>
            </a:r>
          </a:p>
          <a:p>
            <a:pPr lvl="1" eaLnBrk="1" hangingPunct="1">
              <a:spcBef>
                <a:spcPts val="550"/>
              </a:spcBef>
              <a:buFont typeface="Tahoma" charset="0"/>
              <a:buChar char="–"/>
            </a:pPr>
            <a:r>
              <a:rPr lang="en-US" sz="2200">
                <a:solidFill>
                  <a:srgbClr val="000000"/>
                </a:solidFill>
                <a:latin typeface="Tahoma" charset="0"/>
              </a:rPr>
              <a:t>Named for Monty Python</a:t>
            </a:r>
          </a:p>
          <a:p>
            <a:pPr lvl="1" eaLnBrk="1" hangingPunct="1">
              <a:spcBef>
                <a:spcPts val="550"/>
              </a:spcBef>
              <a:buFont typeface="Tahoma" charset="0"/>
              <a:buNone/>
            </a:pPr>
            <a:endParaRPr lang="en-US" sz="2200">
              <a:solidFill>
                <a:srgbClr val="000000"/>
              </a:solidFill>
              <a:latin typeface="Tahoma" charset="0"/>
            </a:endParaRPr>
          </a:p>
          <a:p>
            <a:pPr eaLnBrk="1" hangingPunct="1">
              <a:spcBef>
                <a:spcPts val="600"/>
              </a:spcBef>
              <a:buFont typeface="Tahoma" charset="0"/>
              <a:buChar char="•"/>
            </a:pPr>
            <a:r>
              <a:rPr lang="en-US">
                <a:solidFill>
                  <a:srgbClr val="000000"/>
                </a:solidFill>
                <a:latin typeface="Tahoma" charset="0"/>
              </a:rPr>
              <a:t>Useful as a </a:t>
            </a:r>
            <a:r>
              <a:rPr lang="en-US" b="1">
                <a:solidFill>
                  <a:srgbClr val="000000"/>
                </a:solidFill>
                <a:latin typeface="Tahoma" charset="0"/>
              </a:rPr>
              <a:t>scripting language</a:t>
            </a:r>
          </a:p>
          <a:p>
            <a:pPr lvl="1" eaLnBrk="1" hangingPunct="1">
              <a:spcBef>
                <a:spcPts val="550"/>
              </a:spcBef>
              <a:buFont typeface="Tahoma" charset="0"/>
              <a:buChar char="–"/>
            </a:pPr>
            <a:r>
              <a:rPr lang="en-US" sz="2200" b="1">
                <a:solidFill>
                  <a:srgbClr val="000000"/>
                </a:solidFill>
                <a:latin typeface="Tahoma" charset="0"/>
              </a:rPr>
              <a:t>script</a:t>
            </a:r>
            <a:r>
              <a:rPr lang="en-US" sz="2200">
                <a:solidFill>
                  <a:srgbClr val="000000"/>
                </a:solidFill>
                <a:latin typeface="Tahoma" charset="0"/>
              </a:rPr>
              <a:t>: A small program meant for one-time use</a:t>
            </a:r>
          </a:p>
          <a:p>
            <a:pPr lvl="1" eaLnBrk="1" hangingPunct="1">
              <a:spcBef>
                <a:spcPts val="550"/>
              </a:spcBef>
              <a:buFont typeface="Tahoma" charset="0"/>
              <a:buChar char="–"/>
            </a:pPr>
            <a:r>
              <a:rPr lang="en-US" sz="2200">
                <a:solidFill>
                  <a:srgbClr val="000000"/>
                </a:solidFill>
                <a:latin typeface="Tahoma" charset="0"/>
              </a:rPr>
              <a:t>Targeted towards small to medium sized projects</a:t>
            </a:r>
          </a:p>
          <a:p>
            <a:pPr lvl="1" eaLnBrk="1" hangingPunct="1">
              <a:spcBef>
                <a:spcPts val="550"/>
              </a:spcBef>
              <a:buFont typeface="Tahoma" charset="0"/>
              <a:buNone/>
            </a:pPr>
            <a:endParaRPr lang="en-US" sz="2200">
              <a:solidFill>
                <a:srgbClr val="000000"/>
              </a:solidFill>
              <a:latin typeface="Tahoma" charset="0"/>
            </a:endParaRPr>
          </a:p>
          <a:p>
            <a:pPr eaLnBrk="1" hangingPunct="1">
              <a:spcBef>
                <a:spcPts val="600"/>
              </a:spcBef>
              <a:buFont typeface="Tahoma" charset="0"/>
              <a:buChar char="•"/>
            </a:pPr>
            <a:r>
              <a:rPr lang="en-US">
                <a:solidFill>
                  <a:srgbClr val="000000"/>
                </a:solidFill>
                <a:latin typeface="Tahoma" charset="0"/>
              </a:rPr>
              <a:t>Used by:</a:t>
            </a:r>
          </a:p>
          <a:p>
            <a:pPr lvl="1" eaLnBrk="1" hangingPunct="1">
              <a:spcBef>
                <a:spcPts val="550"/>
              </a:spcBef>
              <a:buFont typeface="Tahoma" charset="0"/>
              <a:buChar char="–"/>
            </a:pPr>
            <a:r>
              <a:rPr lang="en-US" sz="2200">
                <a:solidFill>
                  <a:srgbClr val="000000"/>
                </a:solidFill>
                <a:latin typeface="Tahoma" charset="0"/>
              </a:rPr>
              <a:t>Google, Yahoo!, Youtube</a:t>
            </a:r>
          </a:p>
          <a:p>
            <a:pPr lvl="1" eaLnBrk="1" hangingPunct="1">
              <a:spcBef>
                <a:spcPts val="550"/>
              </a:spcBef>
              <a:buFont typeface="Tahoma" charset="0"/>
              <a:buChar char="–"/>
            </a:pPr>
            <a:r>
              <a:rPr lang="en-US" sz="2200">
                <a:solidFill>
                  <a:srgbClr val="000000"/>
                </a:solidFill>
                <a:latin typeface="Tahoma" charset="0"/>
              </a:rPr>
              <a:t>Many Linux distributions</a:t>
            </a:r>
          </a:p>
          <a:p>
            <a:pPr lvl="1" eaLnBrk="1" hangingPunct="1">
              <a:spcBef>
                <a:spcPts val="550"/>
              </a:spcBef>
              <a:buFont typeface="Tahoma" charset="0"/>
              <a:buChar char="–"/>
            </a:pPr>
            <a:r>
              <a:rPr lang="en-US" sz="2200">
                <a:solidFill>
                  <a:srgbClr val="000000"/>
                </a:solidFill>
                <a:latin typeface="Tahoma" charset="0"/>
              </a:rPr>
              <a:t>Games and apps (e.g. Eve Online)</a:t>
            </a:r>
          </a:p>
        </p:txBody>
      </p:sp>
      <p:pic>
        <p:nvPicPr>
          <p:cNvPr id="3277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6450" y="4327525"/>
            <a:ext cx="3043238" cy="227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87222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9" descr="youtube-logo(2).jpe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7763" y="3060700"/>
            <a:ext cx="4186237" cy="29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19" name="Picture 6" descr="Lucasfilm_eps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143000"/>
            <a:ext cx="41148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0" name="Text Box 1"/>
          <p:cNvSpPr txBox="1">
            <a:spLocks noChangeArrowheads="1"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sz="4400" b="1">
                <a:solidFill>
                  <a:srgbClr val="FFFFFF"/>
                </a:solidFill>
                <a:latin typeface="Tahoma" charset="0"/>
              </a:rPr>
              <a:t>Python is used everywhere!</a:t>
            </a:r>
          </a:p>
        </p:txBody>
      </p:sp>
      <p:pic>
        <p:nvPicPr>
          <p:cNvPr id="34821" name="Picture 4" descr="bt-logo.gi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295400"/>
            <a:ext cx="4008438" cy="89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2" name="Picture 7" descr="nasa-logo.gif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143000"/>
            <a:ext cx="3048000" cy="260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3" name="Picture 8" descr="ps_logo2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038600"/>
            <a:ext cx="3810000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4" name="Picture 5" descr="CIVILIZATION V LOGO ON WHITE.jp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5354638"/>
            <a:ext cx="5156200" cy="157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48324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1"/>
          <p:cNvSpPr txBox="1">
            <a:spLocks noChangeArrowheads="1"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sz="4400" b="1">
                <a:solidFill>
                  <a:srgbClr val="FFFFFF"/>
                </a:solidFill>
                <a:latin typeface="Tahoma" charset="0"/>
              </a:rPr>
              <a:t>Interpreted Languages</a:t>
            </a:r>
          </a:p>
        </p:txBody>
      </p:sp>
      <p:sp>
        <p:nvSpPr>
          <p:cNvPr id="36867" name="Text Box 2"/>
          <p:cNvSpPr txBox="1">
            <a:spLocks noChangeArrowheads="1"/>
          </p:cNvSpPr>
          <p:nvPr/>
        </p:nvSpPr>
        <p:spPr bwMode="auto">
          <a:xfrm>
            <a:off x="304800" y="1295400"/>
            <a:ext cx="8686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1313" indent="-341313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741363" indent="-284163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eaLnBrk="1" hangingPunct="1">
              <a:spcBef>
                <a:spcPts val="600"/>
              </a:spcBef>
              <a:buFont typeface="Tahoma" charset="0"/>
              <a:buChar char="•"/>
            </a:pPr>
            <a:r>
              <a:rPr lang="en-US" b="1">
                <a:solidFill>
                  <a:srgbClr val="000000"/>
                </a:solidFill>
                <a:latin typeface="Tahoma" charset="0"/>
              </a:rPr>
              <a:t>Interpreted</a:t>
            </a:r>
          </a:p>
          <a:p>
            <a:pPr lvl="1" eaLnBrk="1" hangingPunct="1">
              <a:spcBef>
                <a:spcPts val="550"/>
              </a:spcBef>
              <a:buFont typeface="Tahoma" charset="0"/>
              <a:buChar char="–"/>
            </a:pPr>
            <a:r>
              <a:rPr lang="en-US" sz="2200">
                <a:solidFill>
                  <a:srgbClr val="000000"/>
                </a:solidFill>
                <a:latin typeface="Tahoma" charset="0"/>
              </a:rPr>
              <a:t>Not compiled like Java</a:t>
            </a:r>
          </a:p>
          <a:p>
            <a:pPr lvl="1" eaLnBrk="1" hangingPunct="1">
              <a:spcBef>
                <a:spcPts val="550"/>
              </a:spcBef>
              <a:buFont typeface="Tahoma" charset="0"/>
              <a:buChar char="–"/>
            </a:pPr>
            <a:r>
              <a:rPr lang="en-US" sz="2200">
                <a:solidFill>
                  <a:srgbClr val="000000"/>
                </a:solidFill>
                <a:latin typeface="Tahoma" charset="0"/>
              </a:rPr>
              <a:t>Code is written and then directly executed by an </a:t>
            </a:r>
            <a:r>
              <a:rPr lang="en-US" sz="2200" b="1">
                <a:solidFill>
                  <a:srgbClr val="000000"/>
                </a:solidFill>
                <a:latin typeface="Tahoma" charset="0"/>
              </a:rPr>
              <a:t>interpreter</a:t>
            </a:r>
          </a:p>
          <a:p>
            <a:pPr lvl="1" eaLnBrk="1" hangingPunct="1">
              <a:spcBef>
                <a:spcPts val="550"/>
              </a:spcBef>
              <a:buFont typeface="Tahoma" charset="0"/>
              <a:buChar char="–"/>
            </a:pPr>
            <a:r>
              <a:rPr lang="en-US" sz="2200">
                <a:solidFill>
                  <a:srgbClr val="000000"/>
                </a:solidFill>
                <a:latin typeface="Tahoma" charset="0"/>
              </a:rPr>
              <a:t>Type commands into interpreter and see immediate results</a:t>
            </a:r>
          </a:p>
        </p:txBody>
      </p:sp>
      <p:grpSp>
        <p:nvGrpSpPr>
          <p:cNvPr id="36868" name="Group 3"/>
          <p:cNvGrpSpPr>
            <a:grpSpLocks/>
          </p:cNvGrpSpPr>
          <p:nvPr/>
        </p:nvGrpSpPr>
        <p:grpSpPr bwMode="auto">
          <a:xfrm>
            <a:off x="808038" y="3636963"/>
            <a:ext cx="6804025" cy="2278062"/>
            <a:chOff x="509" y="2291"/>
            <a:chExt cx="4286" cy="1435"/>
          </a:xfrm>
        </p:grpSpPr>
        <p:sp>
          <p:nvSpPr>
            <p:cNvPr id="36869" name="Line 4"/>
            <p:cNvSpPr>
              <a:spLocks noChangeShapeType="1"/>
            </p:cNvSpPr>
            <p:nvPr/>
          </p:nvSpPr>
          <p:spPr bwMode="auto">
            <a:xfrm>
              <a:off x="2508" y="3724"/>
              <a:ext cx="1893" cy="2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Y"/>
            </a:p>
          </p:txBody>
        </p:sp>
        <p:grpSp>
          <p:nvGrpSpPr>
            <p:cNvPr id="36870" name="Group 5"/>
            <p:cNvGrpSpPr>
              <a:grpSpLocks/>
            </p:cNvGrpSpPr>
            <p:nvPr/>
          </p:nvGrpSpPr>
          <p:grpSpPr bwMode="auto">
            <a:xfrm>
              <a:off x="517" y="2291"/>
              <a:ext cx="4278" cy="574"/>
              <a:chOff x="517" y="2291"/>
              <a:chExt cx="4278" cy="574"/>
            </a:xfrm>
          </p:grpSpPr>
          <p:grpSp>
            <p:nvGrpSpPr>
              <p:cNvPr id="36877" name="Group 6"/>
              <p:cNvGrpSpPr>
                <a:grpSpLocks/>
              </p:cNvGrpSpPr>
              <p:nvPr/>
            </p:nvGrpSpPr>
            <p:grpSpPr bwMode="auto">
              <a:xfrm>
                <a:off x="1374" y="2291"/>
                <a:ext cx="3421" cy="574"/>
                <a:chOff x="1374" y="2291"/>
                <a:chExt cx="3421" cy="574"/>
              </a:xfrm>
            </p:grpSpPr>
            <p:sp>
              <p:nvSpPr>
                <p:cNvPr id="36879" name="AutoShape 7"/>
                <p:cNvSpPr>
                  <a:spLocks noChangeArrowheads="1"/>
                </p:cNvSpPr>
                <p:nvPr/>
              </p:nvSpPr>
              <p:spPr bwMode="auto">
                <a:xfrm>
                  <a:off x="3992" y="2403"/>
                  <a:ext cx="805" cy="463"/>
                </a:xfrm>
                <a:prstGeom prst="roundRect">
                  <a:avLst>
                    <a:gd name="adj" fmla="val 269"/>
                  </a:avLst>
                </a:prstGeom>
                <a:solidFill>
                  <a:srgbClr val="5C8526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81720" tIns="40680" rIns="81720" bIns="40680" anchor="ctr" anchorCtr="1"/>
                <a:lstStyle/>
                <a:p>
                  <a:pPr algn="ctr">
                    <a:lnSpc>
                      <a:spcPct val="94000"/>
                    </a:lnSpc>
                    <a:buClrTx/>
                    <a:buSzPct val="45000"/>
                    <a:buFontTx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>
                      <a:solidFill>
                        <a:srgbClr val="FFFFFF"/>
                      </a:solidFill>
                      <a:latin typeface="Tahoma" charset="0"/>
                      <a:cs typeface="Arial" charset="0"/>
                    </a:rPr>
                    <a:t>Computer</a:t>
                  </a:r>
                </a:p>
              </p:txBody>
            </p:sp>
            <p:sp>
              <p:nvSpPr>
                <p:cNvPr id="36880" name="AutoShape 8"/>
                <p:cNvSpPr>
                  <a:spLocks noChangeArrowheads="1"/>
                </p:cNvSpPr>
                <p:nvPr/>
              </p:nvSpPr>
              <p:spPr bwMode="auto">
                <a:xfrm>
                  <a:off x="2770" y="2403"/>
                  <a:ext cx="1211" cy="463"/>
                </a:xfrm>
                <a:prstGeom prst="roundRect">
                  <a:avLst>
                    <a:gd name="adj" fmla="val 269"/>
                  </a:avLst>
                </a:prstGeom>
                <a:solidFill>
                  <a:srgbClr val="5784A3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81720" tIns="40680" rIns="81720" bIns="40680" anchor="ctr" anchorCtr="1"/>
                <a:lstStyle/>
                <a:p>
                  <a:pPr algn="ctr">
                    <a:lnSpc>
                      <a:spcPct val="94000"/>
                    </a:lnSpc>
                    <a:buClrTx/>
                    <a:buSzPct val="45000"/>
                    <a:buFontTx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>
                      <a:solidFill>
                        <a:srgbClr val="000000"/>
                      </a:solidFill>
                      <a:latin typeface="Tahoma" charset="0"/>
                      <a:cs typeface="Arial" charset="0"/>
                    </a:rPr>
                    <a:t>Runtime</a:t>
                  </a:r>
                </a:p>
                <a:p>
                  <a:pPr algn="ctr">
                    <a:lnSpc>
                      <a:spcPct val="94000"/>
                    </a:lnSpc>
                    <a:buClrTx/>
                    <a:buSzPct val="45000"/>
                    <a:buFontTx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>
                      <a:solidFill>
                        <a:srgbClr val="000000"/>
                      </a:solidFill>
                      <a:latin typeface="Tahoma" charset="0"/>
                      <a:cs typeface="Arial" charset="0"/>
                    </a:rPr>
                    <a:t>Environment</a:t>
                  </a:r>
                </a:p>
              </p:txBody>
            </p:sp>
            <p:sp>
              <p:nvSpPr>
                <p:cNvPr id="36881" name="AutoShape 9"/>
                <p:cNvSpPr>
                  <a:spLocks noChangeArrowheads="1"/>
                </p:cNvSpPr>
                <p:nvPr/>
              </p:nvSpPr>
              <p:spPr bwMode="auto">
                <a:xfrm>
                  <a:off x="1947" y="2403"/>
                  <a:ext cx="805" cy="463"/>
                </a:xfrm>
                <a:prstGeom prst="roundRect">
                  <a:avLst>
                    <a:gd name="adj" fmla="val 269"/>
                  </a:avLst>
                </a:prstGeom>
                <a:solidFill>
                  <a:srgbClr val="E78324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81720" tIns="40680" rIns="81720" bIns="40680" anchor="ctr" anchorCtr="1"/>
                <a:lstStyle/>
                <a:p>
                  <a:pPr algn="ctr">
                    <a:lnSpc>
                      <a:spcPct val="94000"/>
                    </a:lnSpc>
                    <a:buClrTx/>
                    <a:buSzPct val="45000"/>
                    <a:buFontTx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>
                      <a:solidFill>
                        <a:srgbClr val="000000"/>
                      </a:solidFill>
                      <a:latin typeface="Tahoma" charset="0"/>
                      <a:cs typeface="Arial" charset="0"/>
                    </a:rPr>
                    <a:t>Compiler</a:t>
                  </a:r>
                </a:p>
              </p:txBody>
            </p:sp>
            <p:sp>
              <p:nvSpPr>
                <p:cNvPr id="36882" name="AutoShape 10"/>
                <p:cNvSpPr>
                  <a:spLocks noChangeArrowheads="1"/>
                </p:cNvSpPr>
                <p:nvPr/>
              </p:nvSpPr>
              <p:spPr bwMode="auto">
                <a:xfrm>
                  <a:off x="1374" y="2403"/>
                  <a:ext cx="553" cy="463"/>
                </a:xfrm>
                <a:prstGeom prst="roundRect">
                  <a:avLst>
                    <a:gd name="adj" fmla="val 269"/>
                  </a:avLst>
                </a:prstGeom>
                <a:solidFill>
                  <a:srgbClr val="646464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81720" tIns="40680" rIns="81720" bIns="40680" anchor="ctr" anchorCtr="1"/>
                <a:lstStyle/>
                <a:p>
                  <a:pPr algn="ctr">
                    <a:lnSpc>
                      <a:spcPct val="94000"/>
                    </a:lnSpc>
                    <a:buClrTx/>
                    <a:buSzPct val="45000"/>
                    <a:buFontTx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 b="1">
                      <a:solidFill>
                        <a:srgbClr val="FFFFFF"/>
                      </a:solidFill>
                      <a:latin typeface="Tahoma" charset="0"/>
                      <a:cs typeface="Arial" charset="0"/>
                    </a:rPr>
                    <a:t>Code</a:t>
                  </a:r>
                </a:p>
              </p:txBody>
            </p:sp>
            <p:sp>
              <p:nvSpPr>
                <p:cNvPr id="36883" name="Line 11"/>
                <p:cNvSpPr>
                  <a:spLocks noChangeShapeType="1"/>
                </p:cNvSpPr>
                <p:nvPr/>
              </p:nvSpPr>
              <p:spPr bwMode="auto">
                <a:xfrm>
                  <a:off x="1638" y="2291"/>
                  <a:ext cx="2737" cy="4"/>
                </a:xfrm>
                <a:prstGeom prst="line">
                  <a:avLst/>
                </a:prstGeom>
                <a:noFill/>
                <a:ln w="936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MY"/>
                </a:p>
              </p:txBody>
            </p:sp>
          </p:grpSp>
          <p:sp>
            <p:nvSpPr>
              <p:cNvPr id="36878" name="Text Box 12"/>
              <p:cNvSpPr txBox="1">
                <a:spLocks noChangeArrowheads="1"/>
              </p:cNvSpPr>
              <p:nvPr/>
            </p:nvSpPr>
            <p:spPr bwMode="auto">
              <a:xfrm>
                <a:off x="517" y="2474"/>
                <a:ext cx="633" cy="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82800" tIns="41400" rIns="82800" bIns="41400">
                <a:spAutoFit/>
              </a:bodyPr>
              <a:lstStyle>
                <a:lvl1pPr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Arial" charset="0"/>
                    <a:ea typeface="SimSun" charset="-122"/>
                  </a:defRPr>
                </a:lvl1pPr>
                <a:lvl2pPr marL="37931725" indent="-37474525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Arial" charset="0"/>
                    <a:ea typeface="SimSun" charset="-122"/>
                  </a:defRPr>
                </a:lvl2pPr>
                <a:lvl3pPr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Arial" charset="0"/>
                    <a:ea typeface="SimSun" charset="-122"/>
                  </a:defRPr>
                </a:lvl3pPr>
                <a:lvl4pPr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Arial" charset="0"/>
                    <a:ea typeface="SimSun" charset="-122"/>
                  </a:defRPr>
                </a:lvl4pPr>
                <a:lvl5pPr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Arial" charset="0"/>
                    <a:ea typeface="SimSun" charset="-122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Arial" charset="0"/>
                    <a:ea typeface="SimSun" charset="-122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Arial" charset="0"/>
                    <a:ea typeface="SimSun" charset="-122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Arial" charset="0"/>
                    <a:ea typeface="SimSun" charset="-122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Arial" charset="0"/>
                    <a:ea typeface="SimSun" charset="-122"/>
                  </a:defRPr>
                </a:lvl9pPr>
              </a:lstStyle>
              <a:p>
                <a:pPr eaLnBrk="1" hangingPunct="1">
                  <a:lnSpc>
                    <a:spcPct val="93000"/>
                  </a:lnSpc>
                  <a:buClrTx/>
                  <a:buFontTx/>
                  <a:buNone/>
                </a:pPr>
                <a:r>
                  <a:rPr lang="en-US" sz="2200">
                    <a:solidFill>
                      <a:srgbClr val="000000"/>
                    </a:solidFill>
                    <a:latin typeface="Andale Mono" charset="0"/>
                    <a:cs typeface="Arial" charset="0"/>
                  </a:rPr>
                  <a:t>Java:</a:t>
                </a:r>
              </a:p>
            </p:txBody>
          </p:sp>
        </p:grpSp>
        <p:grpSp>
          <p:nvGrpSpPr>
            <p:cNvPr id="36871" name="Group 13"/>
            <p:cNvGrpSpPr>
              <a:grpSpLocks/>
            </p:cNvGrpSpPr>
            <p:nvPr/>
          </p:nvGrpSpPr>
          <p:grpSpPr bwMode="auto">
            <a:xfrm>
              <a:off x="509" y="3080"/>
              <a:ext cx="4286" cy="462"/>
              <a:chOff x="509" y="3080"/>
              <a:chExt cx="4286" cy="462"/>
            </a:xfrm>
          </p:grpSpPr>
          <p:grpSp>
            <p:nvGrpSpPr>
              <p:cNvPr id="36872" name="Group 14"/>
              <p:cNvGrpSpPr>
                <a:grpSpLocks/>
              </p:cNvGrpSpPr>
              <p:nvPr/>
            </p:nvGrpSpPr>
            <p:grpSpPr bwMode="auto">
              <a:xfrm>
                <a:off x="2197" y="3080"/>
                <a:ext cx="2598" cy="462"/>
                <a:chOff x="2197" y="3080"/>
                <a:chExt cx="2598" cy="462"/>
              </a:xfrm>
            </p:grpSpPr>
            <p:sp>
              <p:nvSpPr>
                <p:cNvPr id="36874" name="AutoShape 15"/>
                <p:cNvSpPr>
                  <a:spLocks noChangeArrowheads="1"/>
                </p:cNvSpPr>
                <p:nvPr/>
              </p:nvSpPr>
              <p:spPr bwMode="auto">
                <a:xfrm>
                  <a:off x="3992" y="3080"/>
                  <a:ext cx="805" cy="463"/>
                </a:xfrm>
                <a:prstGeom prst="roundRect">
                  <a:avLst>
                    <a:gd name="adj" fmla="val 269"/>
                  </a:avLst>
                </a:prstGeom>
                <a:solidFill>
                  <a:srgbClr val="5C8526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81720" tIns="40680" rIns="81720" bIns="40680" anchor="ctr" anchorCtr="1"/>
                <a:lstStyle/>
                <a:p>
                  <a:pPr algn="ctr">
                    <a:lnSpc>
                      <a:spcPct val="94000"/>
                    </a:lnSpc>
                    <a:buClrTx/>
                    <a:buSzPct val="45000"/>
                    <a:buFontTx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>
                      <a:solidFill>
                        <a:srgbClr val="FFFFFF"/>
                      </a:solidFill>
                      <a:latin typeface="Tahoma" charset="0"/>
                      <a:cs typeface="Arial" charset="0"/>
                    </a:rPr>
                    <a:t>Computer</a:t>
                  </a:r>
                </a:p>
              </p:txBody>
            </p:sp>
            <p:sp>
              <p:nvSpPr>
                <p:cNvPr id="36875" name="AutoShape 16"/>
                <p:cNvSpPr>
                  <a:spLocks noChangeArrowheads="1"/>
                </p:cNvSpPr>
                <p:nvPr/>
              </p:nvSpPr>
              <p:spPr bwMode="auto">
                <a:xfrm>
                  <a:off x="2770" y="3080"/>
                  <a:ext cx="1211" cy="463"/>
                </a:xfrm>
                <a:prstGeom prst="roundRect">
                  <a:avLst>
                    <a:gd name="adj" fmla="val 269"/>
                  </a:avLst>
                </a:prstGeom>
                <a:solidFill>
                  <a:srgbClr val="FFD43B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81720" tIns="40680" rIns="81720" bIns="40680" anchor="ctr" anchorCtr="1"/>
                <a:lstStyle/>
                <a:p>
                  <a:pPr algn="ctr">
                    <a:lnSpc>
                      <a:spcPct val="94000"/>
                    </a:lnSpc>
                    <a:buClrTx/>
                    <a:buSzPct val="45000"/>
                    <a:buFontTx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>
                      <a:solidFill>
                        <a:srgbClr val="000000"/>
                      </a:solidFill>
                      <a:latin typeface="Tahoma" charset="0"/>
                      <a:cs typeface="Arial" charset="0"/>
                    </a:rPr>
                    <a:t>Interpreter</a:t>
                  </a:r>
                </a:p>
              </p:txBody>
            </p:sp>
            <p:sp>
              <p:nvSpPr>
                <p:cNvPr id="36876" name="AutoShape 17"/>
                <p:cNvSpPr>
                  <a:spLocks noChangeArrowheads="1"/>
                </p:cNvSpPr>
                <p:nvPr/>
              </p:nvSpPr>
              <p:spPr bwMode="auto">
                <a:xfrm>
                  <a:off x="2197" y="3080"/>
                  <a:ext cx="553" cy="463"/>
                </a:xfrm>
                <a:prstGeom prst="roundRect">
                  <a:avLst>
                    <a:gd name="adj" fmla="val 269"/>
                  </a:avLst>
                </a:prstGeom>
                <a:solidFill>
                  <a:srgbClr val="646464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81720" tIns="40680" rIns="81720" bIns="40680" anchor="ctr" anchorCtr="1"/>
                <a:lstStyle/>
                <a:p>
                  <a:pPr algn="ctr">
                    <a:lnSpc>
                      <a:spcPct val="94000"/>
                    </a:lnSpc>
                    <a:buClrTx/>
                    <a:buSzPct val="45000"/>
                    <a:buFontTx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 b="1">
                      <a:solidFill>
                        <a:srgbClr val="FFFFFF"/>
                      </a:solidFill>
                      <a:latin typeface="Tahoma" charset="0"/>
                      <a:cs typeface="Arial" charset="0"/>
                    </a:rPr>
                    <a:t>Code</a:t>
                  </a:r>
                </a:p>
              </p:txBody>
            </p:sp>
          </p:grpSp>
          <p:sp>
            <p:nvSpPr>
              <p:cNvPr id="36873" name="Text Box 18"/>
              <p:cNvSpPr txBox="1">
                <a:spLocks noChangeArrowheads="1"/>
              </p:cNvSpPr>
              <p:nvPr/>
            </p:nvSpPr>
            <p:spPr bwMode="auto">
              <a:xfrm>
                <a:off x="509" y="3150"/>
                <a:ext cx="844" cy="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82800" tIns="41400" rIns="82800" bIns="41400">
                <a:spAutoFit/>
              </a:bodyPr>
              <a:lstStyle>
                <a:lvl1pPr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Arial" charset="0"/>
                    <a:ea typeface="SimSun" charset="-122"/>
                  </a:defRPr>
                </a:lvl1pPr>
                <a:lvl2pPr marL="37931725" indent="-37474525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Arial" charset="0"/>
                    <a:ea typeface="SimSun" charset="-122"/>
                  </a:defRPr>
                </a:lvl2pPr>
                <a:lvl3pPr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Arial" charset="0"/>
                    <a:ea typeface="SimSun" charset="-122"/>
                  </a:defRPr>
                </a:lvl3pPr>
                <a:lvl4pPr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Arial" charset="0"/>
                    <a:ea typeface="SimSun" charset="-122"/>
                  </a:defRPr>
                </a:lvl4pPr>
                <a:lvl5pPr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Arial" charset="0"/>
                    <a:ea typeface="SimSun" charset="-122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Arial" charset="0"/>
                    <a:ea typeface="SimSun" charset="-122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Arial" charset="0"/>
                    <a:ea typeface="SimSun" charset="-122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Arial" charset="0"/>
                    <a:ea typeface="SimSun" charset="-122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Arial" charset="0"/>
                    <a:ea typeface="SimSun" charset="-122"/>
                  </a:defRPr>
                </a:lvl9pPr>
              </a:lstStyle>
              <a:p>
                <a:pPr eaLnBrk="1" hangingPunct="1">
                  <a:lnSpc>
                    <a:spcPct val="93000"/>
                  </a:lnSpc>
                  <a:buClrTx/>
                  <a:buFontTx/>
                  <a:buNone/>
                </a:pPr>
                <a:r>
                  <a:rPr lang="en-US" sz="2200">
                    <a:solidFill>
                      <a:srgbClr val="000000"/>
                    </a:solidFill>
                    <a:latin typeface="Andale Mono" charset="0"/>
                    <a:cs typeface="Arial" charset="0"/>
                  </a:rPr>
                  <a:t>Python: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0474931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1"/>
          <p:cNvSpPr txBox="1">
            <a:spLocks noChangeArrowheads="1"/>
          </p:cNvSpPr>
          <p:nvPr/>
        </p:nvSpPr>
        <p:spPr bwMode="auto">
          <a:xfrm>
            <a:off x="461963" y="26064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sz="4400" b="1" dirty="0">
                <a:solidFill>
                  <a:schemeClr val="tx1"/>
                </a:solidFill>
                <a:latin typeface="Tahoma" charset="0"/>
              </a:rPr>
              <a:t>Installing Python</a:t>
            </a:r>
          </a:p>
        </p:txBody>
      </p:sp>
      <p:sp>
        <p:nvSpPr>
          <p:cNvPr id="38915" name="Text Box 2"/>
          <p:cNvSpPr txBox="1">
            <a:spLocks noChangeArrowheads="1"/>
          </p:cNvSpPr>
          <p:nvPr/>
        </p:nvSpPr>
        <p:spPr bwMode="auto">
          <a:xfrm>
            <a:off x="304800" y="1295400"/>
            <a:ext cx="4271963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2900" indent="-341313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eaLnBrk="1" hangingPunct="1">
              <a:spcBef>
                <a:spcPts val="500"/>
              </a:spcBef>
              <a:buClrTx/>
              <a:buFontTx/>
              <a:buNone/>
            </a:pPr>
            <a:r>
              <a:rPr lang="en-US" sz="2000" b="1" dirty="0">
                <a:solidFill>
                  <a:srgbClr val="000000"/>
                </a:solidFill>
                <a:latin typeface="Tahoma" charset="0"/>
              </a:rPr>
              <a:t>Windows:</a:t>
            </a:r>
          </a:p>
          <a:p>
            <a:pPr eaLnBrk="1" hangingPunct="1">
              <a:spcBef>
                <a:spcPts val="500"/>
              </a:spcBef>
              <a:buFont typeface="Tahoma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charset="0"/>
              </a:rPr>
              <a:t>Download Python from      </a:t>
            </a:r>
            <a:r>
              <a:rPr lang="en-US" sz="2000" u="sng" dirty="0">
                <a:solidFill>
                  <a:schemeClr val="accent2"/>
                </a:solidFill>
                <a:latin typeface="Tahoma" charset="0"/>
              </a:rPr>
              <a:t>http://www.python.org</a:t>
            </a:r>
          </a:p>
          <a:p>
            <a:pPr eaLnBrk="1" hangingPunct="1">
              <a:spcBef>
                <a:spcPts val="500"/>
              </a:spcBef>
              <a:buFont typeface="Tahoma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charset="0"/>
              </a:rPr>
              <a:t>Install Python.</a:t>
            </a:r>
          </a:p>
          <a:p>
            <a:pPr eaLnBrk="1" hangingPunct="1">
              <a:spcBef>
                <a:spcPts val="500"/>
              </a:spcBef>
              <a:buFont typeface="Tahoma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charset="0"/>
              </a:rPr>
              <a:t>Run </a:t>
            </a:r>
            <a:r>
              <a:rPr lang="en-US" sz="2000" b="1" dirty="0">
                <a:solidFill>
                  <a:srgbClr val="000000"/>
                </a:solidFill>
                <a:latin typeface="Tahoma" charset="0"/>
              </a:rPr>
              <a:t>Idle</a:t>
            </a:r>
            <a:r>
              <a:rPr lang="en-US" sz="2000" dirty="0">
                <a:solidFill>
                  <a:srgbClr val="000000"/>
                </a:solidFill>
                <a:latin typeface="Tahoma" charset="0"/>
              </a:rPr>
              <a:t> from the Start Menu.</a:t>
            </a:r>
          </a:p>
        </p:txBody>
      </p:sp>
    </p:spTree>
    <p:extLst>
      <p:ext uri="{BB962C8B-B14F-4D97-AF65-F5344CB8AC3E}">
        <p14:creationId xmlns:p14="http://schemas.microsoft.com/office/powerpoint/2010/main" val="172802686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Installing and Python Environment Setup </a:t>
            </a:r>
            <a:endParaRPr lang="en-MY" dirty="0"/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>
            <a:normAutofit fontScale="85000" lnSpcReduction="10000"/>
          </a:bodyPr>
          <a:lstStyle>
            <a:lvl1pPr marL="342900" indent="-341313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marL="1587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Step 1. Install Python</a:t>
            </a:r>
          </a:p>
          <a:p>
            <a:r>
              <a:rPr lang="en-US" sz="2000" b="1" u="sng" dirty="0">
                <a:solidFill>
                  <a:schemeClr val="tx1"/>
                </a:solidFill>
                <a:hlinkClick r:id="rId2"/>
              </a:rPr>
              <a:t>Python v3.1 </a:t>
            </a:r>
            <a:r>
              <a:rPr lang="en-US" sz="2000" b="1" u="sng" dirty="0" smtClean="0">
                <a:solidFill>
                  <a:schemeClr val="tx1"/>
                </a:solidFill>
                <a:hlinkClick r:id="rId2"/>
              </a:rPr>
              <a:t>Installer</a:t>
            </a:r>
            <a:endParaRPr lang="en-US" sz="2000" b="1" u="sng" dirty="0" smtClean="0">
              <a:solidFill>
                <a:schemeClr val="tx1"/>
              </a:solidFill>
            </a:endParaRPr>
          </a:p>
          <a:p>
            <a:r>
              <a:rPr lang="en-US" sz="2000" dirty="0" smtClean="0">
                <a:solidFill>
                  <a:schemeClr val="tx1"/>
                </a:solidFill>
              </a:rPr>
              <a:t>Click </a:t>
            </a:r>
            <a:r>
              <a:rPr lang="en-US" sz="2000" dirty="0">
                <a:solidFill>
                  <a:schemeClr val="tx1"/>
                </a:solidFill>
              </a:rPr>
              <a:t>the link above to download the Python installer. Once downloaded, run the program to install Python.</a:t>
            </a:r>
          </a:p>
          <a:p>
            <a:pPr marL="1587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Step 2. Run The IDLE Editor</a:t>
            </a:r>
          </a:p>
          <a:p>
            <a:r>
              <a:rPr lang="en-US" sz="2000" dirty="0">
                <a:solidFill>
                  <a:schemeClr val="tx1"/>
                </a:solidFill>
              </a:rPr>
              <a:t>IDLE is an interpreter/editor combo called found under "</a:t>
            </a:r>
            <a:r>
              <a:rPr lang="en-US" sz="2000" b="1" dirty="0">
                <a:solidFill>
                  <a:schemeClr val="tx1"/>
                </a:solidFill>
              </a:rPr>
              <a:t>Start -&gt; Programs -&gt; Python </a:t>
            </a:r>
            <a:r>
              <a:rPr lang="en-US" sz="2000" b="1" dirty="0" smtClean="0">
                <a:solidFill>
                  <a:schemeClr val="tx1"/>
                </a:solidFill>
              </a:rPr>
              <a:t>3</a:t>
            </a:r>
            <a:r>
              <a:rPr lang="en-US" sz="2000" b="1" dirty="0" smtClean="0">
                <a:solidFill>
                  <a:schemeClr val="tx1"/>
                </a:solidFill>
              </a:rPr>
              <a:t>.6.5 </a:t>
            </a:r>
            <a:r>
              <a:rPr lang="en-US" sz="2000" b="1" dirty="0">
                <a:solidFill>
                  <a:schemeClr val="tx1"/>
                </a:solidFill>
              </a:rPr>
              <a:t>-&gt; IDLE (Python GUI)</a:t>
            </a:r>
            <a:r>
              <a:rPr lang="en-US" sz="2000" dirty="0">
                <a:solidFill>
                  <a:schemeClr val="tx1"/>
                </a:solidFill>
              </a:rPr>
              <a:t>". To create a new Python script, go to "</a:t>
            </a:r>
            <a:r>
              <a:rPr lang="en-US" sz="2000" b="1" dirty="0">
                <a:solidFill>
                  <a:schemeClr val="tx1"/>
                </a:solidFill>
              </a:rPr>
              <a:t>File -&gt; New Window</a:t>
            </a:r>
            <a:r>
              <a:rPr lang="en-US" sz="2000" dirty="0">
                <a:solidFill>
                  <a:schemeClr val="tx1"/>
                </a:solidFill>
              </a:rPr>
              <a:t>" (CTRL+N). Here you can type out your Python code, save it, and then run it by selecting "</a:t>
            </a:r>
            <a:r>
              <a:rPr lang="en-US" sz="2000" b="1" dirty="0">
                <a:solidFill>
                  <a:schemeClr val="tx1"/>
                </a:solidFill>
              </a:rPr>
              <a:t>Run -&gt; Run Module</a:t>
            </a:r>
            <a:r>
              <a:rPr lang="en-US" sz="2000" dirty="0">
                <a:solidFill>
                  <a:schemeClr val="tx1"/>
                </a:solidFill>
              </a:rPr>
              <a:t>" (F5). A benefit of the IDLE environment is that you can test Python commands in the </a:t>
            </a:r>
            <a:r>
              <a:rPr lang="en-US" sz="2000" b="1" dirty="0">
                <a:solidFill>
                  <a:schemeClr val="tx1"/>
                </a:solidFill>
              </a:rPr>
              <a:t>Python Shell</a:t>
            </a:r>
            <a:r>
              <a:rPr lang="en-US" sz="2000" dirty="0">
                <a:solidFill>
                  <a:schemeClr val="tx1"/>
                </a:solidFill>
              </a:rPr>
              <a:t> window ("</a:t>
            </a:r>
            <a:r>
              <a:rPr lang="en-US" sz="2000" b="1" dirty="0">
                <a:solidFill>
                  <a:schemeClr val="tx1"/>
                </a:solidFill>
              </a:rPr>
              <a:t>Run -&gt; Python Shell</a:t>
            </a:r>
            <a:r>
              <a:rPr lang="en-US" sz="2000" dirty="0">
                <a:solidFill>
                  <a:schemeClr val="tx1"/>
                </a:solidFill>
              </a:rPr>
              <a:t>"), which contains the Python interactive interpreter.</a:t>
            </a:r>
          </a:p>
          <a:p>
            <a:r>
              <a:rPr lang="en-US" sz="2000" dirty="0">
                <a:solidFill>
                  <a:schemeClr val="tx1"/>
                </a:solidFill>
              </a:rPr>
              <a:t>To use the Python interpreter alone, run "</a:t>
            </a:r>
            <a:r>
              <a:rPr lang="en-US" sz="2000" b="1" dirty="0">
                <a:solidFill>
                  <a:schemeClr val="tx1"/>
                </a:solidFill>
              </a:rPr>
              <a:t>Start -&gt; Programs -&gt; Python </a:t>
            </a:r>
            <a:r>
              <a:rPr lang="en-US" sz="2000" b="1" dirty="0" smtClean="0">
                <a:solidFill>
                  <a:schemeClr val="tx1"/>
                </a:solidFill>
              </a:rPr>
              <a:t>3</a:t>
            </a:r>
            <a:r>
              <a:rPr lang="en-US" sz="2000" b="1" dirty="0" smtClean="0">
                <a:solidFill>
                  <a:schemeClr val="tx1"/>
                </a:solidFill>
              </a:rPr>
              <a:t>.6.5 </a:t>
            </a:r>
            <a:r>
              <a:rPr lang="en-US" sz="2000" b="1" dirty="0">
                <a:solidFill>
                  <a:schemeClr val="tx1"/>
                </a:solidFill>
              </a:rPr>
              <a:t>-&gt; Python (command line)</a:t>
            </a:r>
            <a:r>
              <a:rPr lang="en-US" sz="2000" dirty="0">
                <a:solidFill>
                  <a:schemeClr val="tx1"/>
                </a:solidFill>
              </a:rPr>
              <a:t>". Here you can type Python commands into the window interactively.</a:t>
            </a:r>
          </a:p>
          <a:p>
            <a:pPr eaLnBrk="1" hangingPunct="1">
              <a:spcBef>
                <a:spcPts val="500"/>
              </a:spcBef>
              <a:buFont typeface="Tahoma" charset="0"/>
              <a:buNone/>
            </a:pPr>
            <a:endParaRPr lang="en-US" sz="2000" dirty="0">
              <a:solidFill>
                <a:schemeClr val="tx1"/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238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sz="4400" b="1">
                <a:solidFill>
                  <a:srgbClr val="FFFFFF"/>
                </a:solidFill>
                <a:latin typeface="Tahoma" charset="0"/>
              </a:rPr>
              <a:t>The Python Interpreter</a:t>
            </a:r>
          </a:p>
        </p:txBody>
      </p:sp>
      <p:sp>
        <p:nvSpPr>
          <p:cNvPr id="40963" name="Text Box 2"/>
          <p:cNvSpPr txBox="1">
            <a:spLocks noChangeArrowheads="1"/>
          </p:cNvSpPr>
          <p:nvPr/>
        </p:nvSpPr>
        <p:spPr bwMode="auto">
          <a:xfrm>
            <a:off x="304800" y="1295400"/>
            <a:ext cx="8686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1313" indent="-341313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741363" indent="-284163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eaLnBrk="1" hangingPunct="1">
              <a:spcBef>
                <a:spcPts val="600"/>
              </a:spcBef>
              <a:buFont typeface="Tahoma" charset="0"/>
              <a:buChar char="•"/>
            </a:pPr>
            <a:r>
              <a:rPr lang="en-US">
                <a:solidFill>
                  <a:srgbClr val="000000"/>
                </a:solidFill>
                <a:latin typeface="Tahoma" charset="0"/>
              </a:rPr>
              <a:t>Allows you to type commands one-at-a-time and see results</a:t>
            </a:r>
          </a:p>
          <a:p>
            <a:pPr eaLnBrk="1" hangingPunct="1">
              <a:spcBef>
                <a:spcPts val="600"/>
              </a:spcBef>
              <a:buFont typeface="Tahoma" charset="0"/>
              <a:buChar char="•"/>
            </a:pPr>
            <a:r>
              <a:rPr lang="en-US">
                <a:solidFill>
                  <a:srgbClr val="000000"/>
                </a:solidFill>
                <a:latin typeface="Tahoma" charset="0"/>
              </a:rPr>
              <a:t>A great way to explore Python's syntax</a:t>
            </a:r>
          </a:p>
          <a:p>
            <a:pPr lvl="1" eaLnBrk="1" hangingPunct="1">
              <a:spcBef>
                <a:spcPts val="550"/>
              </a:spcBef>
              <a:buFont typeface="Tahoma" charset="0"/>
              <a:buChar char="–"/>
            </a:pPr>
            <a:r>
              <a:rPr lang="en-US" sz="2200">
                <a:solidFill>
                  <a:srgbClr val="000000"/>
                </a:solidFill>
                <a:latin typeface="Tahoma" charset="0"/>
              </a:rPr>
              <a:t>Repeat previous command: </a:t>
            </a:r>
            <a:r>
              <a:rPr lang="en-US" sz="2200" i="1">
                <a:solidFill>
                  <a:srgbClr val="000000"/>
                </a:solidFill>
                <a:latin typeface="Tahoma" charset="0"/>
              </a:rPr>
              <a:t>Alt+P</a:t>
            </a:r>
          </a:p>
        </p:txBody>
      </p:sp>
      <p:pic>
        <p:nvPicPr>
          <p:cNvPr id="4096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667000"/>
            <a:ext cx="6248400" cy="352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856122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1"/>
          <p:cNvSpPr txBox="1">
            <a:spLocks noChangeArrowheads="1"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sz="4400" b="1">
                <a:solidFill>
                  <a:srgbClr val="FFFFFF"/>
                </a:solidFill>
                <a:latin typeface="Tahoma" charset="0"/>
              </a:rPr>
              <a:t>How to run Python Windows</a:t>
            </a:r>
          </a:p>
        </p:txBody>
      </p:sp>
      <p:sp>
        <p:nvSpPr>
          <p:cNvPr id="43011" name="Text Box 2"/>
          <p:cNvSpPr txBox="1">
            <a:spLocks noChangeArrowheads="1"/>
          </p:cNvSpPr>
          <p:nvPr/>
        </p:nvSpPr>
        <p:spPr bwMode="auto">
          <a:xfrm>
            <a:off x="304800" y="1295400"/>
            <a:ext cx="8686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1313" indent="-341313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eaLnBrk="1" hangingPunct="1">
              <a:spcBef>
                <a:spcPts val="600"/>
              </a:spcBef>
              <a:buFont typeface="Tahoma" charset="0"/>
              <a:buChar char="•"/>
            </a:pPr>
            <a:r>
              <a:rPr lang="en-US">
                <a:solidFill>
                  <a:srgbClr val="000000"/>
                </a:solidFill>
                <a:latin typeface="Tahoma" charset="0"/>
              </a:rPr>
              <a:t>Run IDLE to use the interpret</a:t>
            </a:r>
          </a:p>
          <a:p>
            <a:pPr eaLnBrk="1" hangingPunct="1">
              <a:spcBef>
                <a:spcPts val="600"/>
              </a:spcBef>
              <a:buFont typeface="Tahoma" charset="0"/>
              <a:buChar char="•"/>
            </a:pPr>
            <a:r>
              <a:rPr lang="en-US">
                <a:solidFill>
                  <a:srgbClr val="000000"/>
                </a:solidFill>
                <a:latin typeface="Tahoma" charset="0"/>
              </a:rPr>
              <a:t>Open a new window in IDLE to write and save programs</a:t>
            </a:r>
          </a:p>
        </p:txBody>
      </p:sp>
      <p:pic>
        <p:nvPicPr>
          <p:cNvPr id="43012" name="Picture 4" descr="Screen shot 2010-10-06 at 8.15.33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62200"/>
            <a:ext cx="9144000" cy="282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00447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1"/>
          <p:cNvSpPr txBox="1">
            <a:spLocks noChangeArrowheads="1"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sz="4400" b="1">
                <a:solidFill>
                  <a:srgbClr val="FFFFFF"/>
                </a:solidFill>
                <a:latin typeface="Tahoma" charset="0"/>
              </a:rPr>
              <a:t>How to run Python Unix</a:t>
            </a:r>
          </a:p>
        </p:txBody>
      </p:sp>
      <p:sp>
        <p:nvSpPr>
          <p:cNvPr id="45059" name="Text Box 2"/>
          <p:cNvSpPr txBox="1">
            <a:spLocks noChangeArrowheads="1"/>
          </p:cNvSpPr>
          <p:nvPr/>
        </p:nvSpPr>
        <p:spPr bwMode="auto">
          <a:xfrm>
            <a:off x="304800" y="1295400"/>
            <a:ext cx="8686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1313" indent="-341313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eaLnBrk="1" hangingPunct="1">
              <a:spcBef>
                <a:spcPts val="600"/>
              </a:spcBef>
              <a:buFont typeface="Tahoma" charset="0"/>
              <a:buChar char="•"/>
            </a:pPr>
            <a:r>
              <a:rPr lang="en-US">
                <a:solidFill>
                  <a:srgbClr val="000000"/>
                </a:solidFill>
                <a:latin typeface="Tahoma" charset="0"/>
              </a:rPr>
              <a:t>Start the interactive shell with </a:t>
            </a:r>
            <a:r>
              <a:rPr lang="en-US">
                <a:solidFill>
                  <a:srgbClr val="000000"/>
                </a:solidFill>
                <a:latin typeface="Courier" charset="0"/>
              </a:rPr>
              <a:t>python</a:t>
            </a:r>
          </a:p>
          <a:p>
            <a:pPr eaLnBrk="1" hangingPunct="1">
              <a:spcBef>
                <a:spcPts val="600"/>
              </a:spcBef>
              <a:buFont typeface="Tahoma" charset="0"/>
              <a:buChar char="•"/>
            </a:pPr>
            <a:r>
              <a:rPr lang="en-US">
                <a:solidFill>
                  <a:srgbClr val="000000"/>
                </a:solidFill>
                <a:latin typeface="Tahoma" charset="0"/>
              </a:rPr>
              <a:t>Run a program with </a:t>
            </a:r>
            <a:r>
              <a:rPr lang="en-US">
                <a:solidFill>
                  <a:srgbClr val="000000"/>
                </a:solidFill>
                <a:latin typeface="Courier" charset="0"/>
              </a:rPr>
              <a:t>python /path/to/program.py</a:t>
            </a:r>
          </a:p>
        </p:txBody>
      </p:sp>
      <p:pic>
        <p:nvPicPr>
          <p:cNvPr id="45060" name="Picture 6" descr="Screen shot 2010-10-06 at 8.00.07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86000"/>
            <a:ext cx="9144000" cy="362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919632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1"/>
          <p:cNvSpPr txBox="1">
            <a:spLocks noChangeArrowheads="1"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sz="4400" b="1">
                <a:solidFill>
                  <a:srgbClr val="FFFFFF"/>
                </a:solidFill>
                <a:latin typeface="Tahoma" charset="0"/>
              </a:rPr>
              <a:t>Chapter 1 Review</a:t>
            </a:r>
          </a:p>
        </p:txBody>
      </p:sp>
      <p:sp>
        <p:nvSpPr>
          <p:cNvPr id="47107" name="Text Box 2"/>
          <p:cNvSpPr txBox="1">
            <a:spLocks noChangeArrowheads="1"/>
          </p:cNvSpPr>
          <p:nvPr/>
        </p:nvSpPr>
        <p:spPr bwMode="auto">
          <a:xfrm>
            <a:off x="304800" y="1295400"/>
            <a:ext cx="8686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1313" indent="-341313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eaLnBrk="1" hangingPunct="1">
              <a:spcBef>
                <a:spcPts val="600"/>
              </a:spcBef>
              <a:buFont typeface="Tahoma" charset="0"/>
              <a:buChar char="•"/>
            </a:pPr>
            <a:r>
              <a:rPr lang="en-US">
                <a:solidFill>
                  <a:srgbClr val="000000"/>
                </a:solidFill>
                <a:latin typeface="Tahoma" charset="0"/>
              </a:rPr>
              <a:t>Console output: </a:t>
            </a:r>
            <a:r>
              <a:rPr lang="en-US">
                <a:solidFill>
                  <a:srgbClr val="000000"/>
                </a:solidFill>
                <a:latin typeface="Courier New" charset="0"/>
              </a:rPr>
              <a:t>System.out.println();</a:t>
            </a:r>
          </a:p>
          <a:p>
            <a:pPr eaLnBrk="1" hangingPunct="1">
              <a:spcBef>
                <a:spcPts val="600"/>
              </a:spcBef>
              <a:buFont typeface="Tahoma" charset="0"/>
              <a:buChar char="•"/>
            </a:pPr>
            <a:r>
              <a:rPr lang="en-US">
                <a:solidFill>
                  <a:srgbClr val="000000"/>
                </a:solidFill>
                <a:latin typeface="Tahoma" charset="0"/>
              </a:rPr>
              <a:t>Methods: </a:t>
            </a:r>
            <a:r>
              <a:rPr lang="en-US">
                <a:solidFill>
                  <a:srgbClr val="000000"/>
                </a:solidFill>
                <a:latin typeface="Courier New" charset="0"/>
              </a:rPr>
              <a:t>public static void </a:t>
            </a:r>
            <a:r>
              <a:rPr lang="en-US" b="1">
                <a:solidFill>
                  <a:srgbClr val="000000"/>
                </a:solidFill>
                <a:latin typeface="Tahoma" charset="0"/>
              </a:rPr>
              <a:t>name</a:t>
            </a:r>
            <a:r>
              <a:rPr lang="en-US">
                <a:solidFill>
                  <a:srgbClr val="000000"/>
                </a:solidFill>
                <a:latin typeface="Courier New" charset="0"/>
              </a:rPr>
              <a:t>() { ... }</a:t>
            </a:r>
          </a:p>
        </p:txBody>
      </p:sp>
      <p:graphicFrame>
        <p:nvGraphicFramePr>
          <p:cNvPr id="10243" name="Group 3"/>
          <p:cNvGraphicFramePr>
            <a:graphicFrameLocks noGrp="1"/>
          </p:cNvGraphicFramePr>
          <p:nvPr/>
        </p:nvGraphicFramePr>
        <p:xfrm>
          <a:off x="966788" y="2600325"/>
          <a:ext cx="6805612" cy="2998788"/>
        </p:xfrm>
        <a:graphic>
          <a:graphicData uri="http://schemas.openxmlformats.org/drawingml/2006/table">
            <a:tbl>
              <a:tblPr/>
              <a:tblGrid>
                <a:gridCol w="442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575">
                <a:tc gridSpan="2">
                  <a:txBody>
                    <a:bodyPr/>
                    <a:lstStyle/>
                    <a:p>
                      <a:pPr marL="106363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charset="0"/>
                          <a:ea typeface="SimSun" charset="-122"/>
                        </a:rPr>
                        <a:t>Hello2.java</a:t>
                      </a:r>
                    </a:p>
                  </a:txBody>
                  <a:tcPr marL="41400" marR="41400" marT="41400" marB="41400" horzOverflow="overflow">
                    <a:lnL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66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9213">
                <a:tc>
                  <a:txBody>
                    <a:bodyPr/>
                    <a:lstStyle/>
                    <a:p>
                      <a:pPr marL="106363" marR="0" lvl="0" indent="0" algn="r" defTabSz="457200" rtl="0" eaLnBrk="1" fontAlgn="base" latinLnBrk="0" hangingPunct="1">
                        <a:lnSpc>
                          <a:spcPct val="54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1</a:t>
                      </a:r>
                    </a:p>
                    <a:p>
                      <a:pPr marL="106363" marR="0" lvl="0" indent="0" algn="r" defTabSz="457200" rtl="0" eaLnBrk="1" fontAlgn="base" latinLnBrk="0" hangingPunct="1">
                        <a:lnSpc>
                          <a:spcPct val="54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2</a:t>
                      </a:r>
                    </a:p>
                    <a:p>
                      <a:pPr marL="106363" marR="0" lvl="0" indent="0" algn="r" defTabSz="457200" rtl="0" eaLnBrk="1" fontAlgn="base" latinLnBrk="0" hangingPunct="1">
                        <a:lnSpc>
                          <a:spcPct val="54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3</a:t>
                      </a:r>
                    </a:p>
                    <a:p>
                      <a:pPr marL="106363" marR="0" lvl="0" indent="0" algn="r" defTabSz="457200" rtl="0" eaLnBrk="1" fontAlgn="base" latinLnBrk="0" hangingPunct="1">
                        <a:lnSpc>
                          <a:spcPct val="54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4</a:t>
                      </a:r>
                    </a:p>
                    <a:p>
                      <a:pPr marL="106363" marR="0" lvl="0" indent="0" algn="r" defTabSz="457200" rtl="0" eaLnBrk="1" fontAlgn="base" latinLnBrk="0" hangingPunct="1">
                        <a:lnSpc>
                          <a:spcPct val="54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5</a:t>
                      </a:r>
                    </a:p>
                    <a:p>
                      <a:pPr marL="106363" marR="0" lvl="0" indent="0" algn="r" defTabSz="457200" rtl="0" eaLnBrk="1" fontAlgn="base" latinLnBrk="0" hangingPunct="1">
                        <a:lnSpc>
                          <a:spcPct val="54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6</a:t>
                      </a:r>
                    </a:p>
                    <a:p>
                      <a:pPr marL="106363" marR="0" lvl="0" indent="0" algn="r" defTabSz="457200" rtl="0" eaLnBrk="1" fontAlgn="base" latinLnBrk="0" hangingPunct="1">
                        <a:lnSpc>
                          <a:spcPct val="54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7</a:t>
                      </a:r>
                    </a:p>
                    <a:p>
                      <a:pPr marL="106363" marR="0" lvl="0" indent="0" algn="r" defTabSz="457200" rtl="0" eaLnBrk="1" fontAlgn="base" latinLnBrk="0" hangingPunct="1">
                        <a:lnSpc>
                          <a:spcPct val="54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8</a:t>
                      </a:r>
                    </a:p>
                    <a:p>
                      <a:pPr marL="106363" marR="0" lvl="0" indent="0" algn="r" defTabSz="457200" rtl="0" eaLnBrk="1" fontAlgn="base" latinLnBrk="0" hangingPunct="1">
                        <a:lnSpc>
                          <a:spcPct val="54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9</a:t>
                      </a:r>
                    </a:p>
                  </a:txBody>
                  <a:tcPr marL="41400" marR="82800" marT="311688" marB="207360" horzOverflow="overflow">
                    <a:lnL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0" indent="0" algn="l" defTabSz="457200" rtl="0" eaLnBrk="1" fontAlgn="base" latinLnBrk="0" hangingPunct="1">
                        <a:lnSpc>
                          <a:spcPct val="54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public class Hello2 {</a:t>
                      </a:r>
                    </a:p>
                    <a:p>
                      <a:pPr marL="106363" marR="0" lvl="0" indent="0" algn="l" defTabSz="457200" rtl="0" eaLnBrk="1" fontAlgn="base" latinLnBrk="0" hangingPunct="1">
                        <a:lnSpc>
                          <a:spcPct val="54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    public static void main(String[] args) {</a:t>
                      </a:r>
                    </a:p>
                    <a:p>
                      <a:pPr marL="106363" marR="0" lvl="0" indent="0" algn="l" defTabSz="457200" rtl="0" eaLnBrk="1" fontAlgn="base" latinLnBrk="0" hangingPunct="1">
                        <a:lnSpc>
                          <a:spcPct val="54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        hello();</a:t>
                      </a:r>
                    </a:p>
                    <a:p>
                      <a:pPr marL="106363" marR="0" lvl="0" indent="0" algn="l" defTabSz="457200" rtl="0" eaLnBrk="1" fontAlgn="base" latinLnBrk="0" hangingPunct="1">
                        <a:lnSpc>
                          <a:spcPct val="54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    }</a:t>
                      </a:r>
                    </a:p>
                    <a:p>
                      <a:pPr marL="106363" marR="0" lvl="0" indent="0" algn="l" defTabSz="457200" rtl="0" eaLnBrk="1" fontAlgn="base" latinLnBrk="0" hangingPunct="1">
                        <a:lnSpc>
                          <a:spcPct val="54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charset="0"/>
                        <a:ea typeface="SimSun" charset="-122"/>
                      </a:endParaRPr>
                    </a:p>
                    <a:p>
                      <a:pPr marL="106363" marR="0" lvl="0" indent="0" algn="l" defTabSz="457200" rtl="0" eaLnBrk="1" fontAlgn="base" latinLnBrk="0" hangingPunct="1">
                        <a:lnSpc>
                          <a:spcPct val="54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    public static void hello() {</a:t>
                      </a:r>
                    </a:p>
                    <a:p>
                      <a:pPr marL="106363" marR="0" lvl="0" indent="0" algn="l" defTabSz="457200" rtl="0" eaLnBrk="1" fontAlgn="base" latinLnBrk="0" hangingPunct="1">
                        <a:lnSpc>
                          <a:spcPct val="54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        System.out.println("Hello, world!");</a:t>
                      </a:r>
                    </a:p>
                    <a:p>
                      <a:pPr marL="106363" marR="0" lvl="0" indent="0" algn="l" defTabSz="457200" rtl="0" eaLnBrk="1" fontAlgn="base" latinLnBrk="0" hangingPunct="1">
                        <a:lnSpc>
                          <a:spcPct val="54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    }</a:t>
                      </a:r>
                    </a:p>
                    <a:p>
                      <a:pPr marL="106363" marR="0" lvl="0" indent="0" algn="l" defTabSz="457200" rtl="0" eaLnBrk="1" fontAlgn="base" latinLnBrk="0" hangingPunct="1">
                        <a:lnSpc>
                          <a:spcPct val="54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}</a:t>
                      </a:r>
                    </a:p>
                  </a:txBody>
                  <a:tcPr marL="41400" marR="165960" marT="311688" marB="207360" horzOverflow="overflow">
                    <a:lnL>
                      <a:noFill/>
                    </a:lnL>
                    <a:lnR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752263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1"/>
          <p:cNvSpPr txBox="1">
            <a:spLocks noChangeArrowheads="1"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sz="4400" b="1">
                <a:solidFill>
                  <a:srgbClr val="FFFFFF"/>
                </a:solidFill>
                <a:latin typeface="Tahoma" charset="0"/>
              </a:rPr>
              <a:t>Our First Python Program</a:t>
            </a:r>
          </a:p>
        </p:txBody>
      </p:sp>
      <p:sp>
        <p:nvSpPr>
          <p:cNvPr id="49155" name="Text Box 2"/>
          <p:cNvSpPr txBox="1">
            <a:spLocks noChangeArrowheads="1"/>
          </p:cNvSpPr>
          <p:nvPr/>
        </p:nvSpPr>
        <p:spPr bwMode="auto">
          <a:xfrm>
            <a:off x="304800" y="1295400"/>
            <a:ext cx="8686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1313" indent="-341313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741363" indent="-284163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eaLnBrk="1" hangingPunct="1">
              <a:spcBef>
                <a:spcPts val="600"/>
              </a:spcBef>
              <a:buFont typeface="Tahoma" charset="0"/>
              <a:buChar char="•"/>
            </a:pPr>
            <a:r>
              <a:rPr lang="en-US">
                <a:solidFill>
                  <a:srgbClr val="000000"/>
                </a:solidFill>
                <a:latin typeface="Tahoma" charset="0"/>
              </a:rPr>
              <a:t>Python does not have a </a:t>
            </a:r>
            <a:r>
              <a:rPr lang="en-US">
                <a:solidFill>
                  <a:srgbClr val="000000"/>
                </a:solidFill>
                <a:latin typeface="Courier New" charset="0"/>
              </a:rPr>
              <a:t>main</a:t>
            </a:r>
            <a:r>
              <a:rPr lang="en-US">
                <a:solidFill>
                  <a:srgbClr val="000000"/>
                </a:solidFill>
                <a:latin typeface="Tahoma" charset="0"/>
              </a:rPr>
              <a:t> method like Java</a:t>
            </a:r>
          </a:p>
          <a:p>
            <a:pPr lvl="1" eaLnBrk="1" hangingPunct="1">
              <a:spcBef>
                <a:spcPts val="550"/>
              </a:spcBef>
              <a:buFont typeface="Tahoma" charset="0"/>
              <a:buChar char="–"/>
            </a:pPr>
            <a:r>
              <a:rPr lang="en-US" sz="2200">
                <a:solidFill>
                  <a:srgbClr val="000000"/>
                </a:solidFill>
                <a:latin typeface="Tahoma" charset="0"/>
              </a:rPr>
              <a:t>The program's main code is just written directly in the file</a:t>
            </a:r>
          </a:p>
          <a:p>
            <a:pPr eaLnBrk="1" hangingPunct="1">
              <a:spcBef>
                <a:spcPts val="600"/>
              </a:spcBef>
              <a:buFont typeface="Tahoma" charset="0"/>
              <a:buChar char="•"/>
            </a:pPr>
            <a:r>
              <a:rPr lang="en-US">
                <a:solidFill>
                  <a:srgbClr val="000000"/>
                </a:solidFill>
                <a:latin typeface="Tahoma" charset="0"/>
              </a:rPr>
              <a:t>Python statements do not end with semicolons</a:t>
            </a:r>
          </a:p>
        </p:txBody>
      </p:sp>
      <p:graphicFrame>
        <p:nvGraphicFramePr>
          <p:cNvPr id="11267" name="Group 3"/>
          <p:cNvGraphicFramePr>
            <a:graphicFrameLocks noGrp="1"/>
          </p:cNvGraphicFramePr>
          <p:nvPr/>
        </p:nvGraphicFramePr>
        <p:xfrm>
          <a:off x="2609850" y="3013075"/>
          <a:ext cx="4706938" cy="10488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5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350">
                <a:tc gridSpan="2">
                  <a:txBody>
                    <a:bodyPr/>
                    <a:lstStyle/>
                    <a:p>
                      <a:pPr marL="106363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charset="0"/>
                          <a:ea typeface="SimSun" charset="-122"/>
                        </a:rPr>
                        <a:t>hello.py</a:t>
                      </a:r>
                    </a:p>
                  </a:txBody>
                  <a:tcPr marL="41400" marR="41400" marT="41400" marB="41400" horzOverflow="overflow">
                    <a:lnL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66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06363" marR="0" lvl="0" indent="0" algn="r" defTabSz="457200" rtl="0" eaLnBrk="1" fontAlgn="base" latinLnBrk="0" hangingPunct="1">
                        <a:lnSpc>
                          <a:spcPct val="35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1</a:t>
                      </a:r>
                    </a:p>
                  </a:txBody>
                  <a:tcPr marL="41400" marR="82800" marT="354780" marB="207360" horzOverflow="overflow">
                    <a:lnL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0" indent="0" algn="l" defTabSz="457200" rtl="0" eaLnBrk="1" fontAlgn="base" latinLnBrk="0" hangingPunct="1">
                        <a:lnSpc>
                          <a:spcPct val="35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print("Hello, world!")</a:t>
                      </a:r>
                    </a:p>
                  </a:txBody>
                  <a:tcPr marL="41400" marR="165960" marT="354780" marB="207360" horzOverflow="overflow">
                    <a:lnL>
                      <a:noFill/>
                    </a:lnL>
                    <a:lnR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46072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1"/>
          <p:cNvSpPr txBox="1">
            <a:spLocks noChangeArrowheads="1"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sz="4400" b="1">
                <a:solidFill>
                  <a:srgbClr val="FFFFFF"/>
                </a:solidFill>
                <a:latin typeface="Tahoma" charset="0"/>
              </a:rPr>
              <a:t>A Brief Review</a:t>
            </a:r>
          </a:p>
        </p:txBody>
      </p:sp>
      <p:grpSp>
        <p:nvGrpSpPr>
          <p:cNvPr id="51203" name="Group 2"/>
          <p:cNvGrpSpPr>
            <a:grpSpLocks/>
          </p:cNvGrpSpPr>
          <p:nvPr/>
        </p:nvGrpSpPr>
        <p:grpSpPr bwMode="auto">
          <a:xfrm>
            <a:off x="2466975" y="1295400"/>
            <a:ext cx="4360863" cy="4951413"/>
            <a:chOff x="1554" y="816"/>
            <a:chExt cx="2747" cy="3119"/>
          </a:xfrm>
        </p:grpSpPr>
        <p:pic>
          <p:nvPicPr>
            <p:cNvPr id="51204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4" y="816"/>
              <a:ext cx="2748" cy="3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sp>
          <p:nvSpPr>
            <p:cNvPr id="51205" name="Text Box 4"/>
            <p:cNvSpPr txBox="1">
              <a:spLocks noChangeArrowheads="1"/>
            </p:cNvSpPr>
            <p:nvPr/>
          </p:nvSpPr>
          <p:spPr bwMode="auto">
            <a:xfrm>
              <a:off x="1554" y="816"/>
              <a:ext cx="2748" cy="3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bg1"/>
                  </a:solidFill>
                  <a:latin typeface="Arial" charset="0"/>
                  <a:ea typeface="SimSun" charset="-122"/>
                </a:defRPr>
              </a:lvl1pPr>
              <a:lvl2pPr marL="37931725" indent="-37474525" eaLnBrk="0" hangingPunct="0">
                <a:defRPr sz="2400">
                  <a:solidFill>
                    <a:schemeClr val="bg1"/>
                  </a:solidFill>
                  <a:latin typeface="Arial" charset="0"/>
                  <a:ea typeface="SimSun" charset="-122"/>
                </a:defRPr>
              </a:lvl2pPr>
              <a:lvl3pPr eaLnBrk="0" hangingPunct="0">
                <a:defRPr sz="2400">
                  <a:solidFill>
                    <a:schemeClr val="bg1"/>
                  </a:solidFill>
                  <a:latin typeface="Arial" charset="0"/>
                  <a:ea typeface="SimSun" charset="-122"/>
                </a:defRPr>
              </a:lvl3pPr>
              <a:lvl4pPr eaLnBrk="0" hangingPunct="0">
                <a:defRPr sz="2400">
                  <a:solidFill>
                    <a:schemeClr val="bg1"/>
                  </a:solidFill>
                  <a:latin typeface="Arial" charset="0"/>
                  <a:ea typeface="SimSun" charset="-122"/>
                </a:defRPr>
              </a:lvl4pPr>
              <a:lvl5pPr eaLnBrk="0" hangingPunct="0">
                <a:defRPr sz="2400">
                  <a:solidFill>
                    <a:schemeClr val="bg1"/>
                  </a:solidFill>
                  <a:latin typeface="Arial" charset="0"/>
                  <a:ea typeface="SimSun" charset="-122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Arial" charset="0"/>
                  <a:ea typeface="SimSun" charset="-122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Arial" charset="0"/>
                  <a:ea typeface="SimSun" charset="-122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Arial" charset="0"/>
                  <a:ea typeface="SimSun" charset="-122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Arial" charset="0"/>
                  <a:ea typeface="SimSun" charset="-122"/>
                </a:defRPr>
              </a:lvl9pPr>
            </a:lstStyle>
            <a:p>
              <a:pPr eaLnBrk="1" hangingPunct="1"/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4937311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1"/>
          <p:cNvSpPr txBox="1">
            <a:spLocks noChangeArrowheads="1"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sz="4400" b="1">
                <a:solidFill>
                  <a:srgbClr val="FFFFFF"/>
                </a:solidFill>
                <a:latin typeface="Tahoma" charset="0"/>
              </a:rPr>
              <a:t>Python 2.x vs Python 3.x</a:t>
            </a:r>
          </a:p>
        </p:txBody>
      </p:sp>
      <p:sp>
        <p:nvSpPr>
          <p:cNvPr id="53251" name="Text Box 2"/>
          <p:cNvSpPr txBox="1">
            <a:spLocks noChangeArrowheads="1"/>
          </p:cNvSpPr>
          <p:nvPr/>
        </p:nvSpPr>
        <p:spPr bwMode="auto">
          <a:xfrm>
            <a:off x="304800" y="1295400"/>
            <a:ext cx="8686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24161750" indent="-24161750" eaLnBrk="0" hangingPunct="0">
              <a:tabLst>
                <a:tab pos="1031875" algn="l"/>
                <a:tab pos="1946275" algn="l"/>
                <a:tab pos="2860675" algn="l"/>
                <a:tab pos="3775075" algn="l"/>
                <a:tab pos="4689475" algn="l"/>
                <a:tab pos="5603875" algn="l"/>
                <a:tab pos="6518275" algn="l"/>
                <a:tab pos="7432675" algn="l"/>
                <a:tab pos="8347075" algn="l"/>
                <a:tab pos="9261475" algn="l"/>
                <a:tab pos="1017587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862013" indent="-284163" eaLnBrk="0" hangingPunct="0">
              <a:tabLst>
                <a:tab pos="1031875" algn="l"/>
                <a:tab pos="1946275" algn="l"/>
                <a:tab pos="2860675" algn="l"/>
                <a:tab pos="3775075" algn="l"/>
                <a:tab pos="4689475" algn="l"/>
                <a:tab pos="5603875" algn="l"/>
                <a:tab pos="6518275" algn="l"/>
                <a:tab pos="7432675" algn="l"/>
                <a:tab pos="8347075" algn="l"/>
                <a:tab pos="9261475" algn="l"/>
                <a:tab pos="1017587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1031875" algn="l"/>
                <a:tab pos="1946275" algn="l"/>
                <a:tab pos="2860675" algn="l"/>
                <a:tab pos="3775075" algn="l"/>
                <a:tab pos="4689475" algn="l"/>
                <a:tab pos="5603875" algn="l"/>
                <a:tab pos="6518275" algn="l"/>
                <a:tab pos="7432675" algn="l"/>
                <a:tab pos="8347075" algn="l"/>
                <a:tab pos="9261475" algn="l"/>
                <a:tab pos="1017587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1031875" algn="l"/>
                <a:tab pos="1946275" algn="l"/>
                <a:tab pos="2860675" algn="l"/>
                <a:tab pos="3775075" algn="l"/>
                <a:tab pos="4689475" algn="l"/>
                <a:tab pos="5603875" algn="l"/>
                <a:tab pos="6518275" algn="l"/>
                <a:tab pos="7432675" algn="l"/>
                <a:tab pos="8347075" algn="l"/>
                <a:tab pos="9261475" algn="l"/>
                <a:tab pos="1017587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1031875" algn="l"/>
                <a:tab pos="1946275" algn="l"/>
                <a:tab pos="2860675" algn="l"/>
                <a:tab pos="3775075" algn="l"/>
                <a:tab pos="4689475" algn="l"/>
                <a:tab pos="5603875" algn="l"/>
                <a:tab pos="6518275" algn="l"/>
                <a:tab pos="7432675" algn="l"/>
                <a:tab pos="8347075" algn="l"/>
                <a:tab pos="9261475" algn="l"/>
                <a:tab pos="1017587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1031875" algn="l"/>
                <a:tab pos="1946275" algn="l"/>
                <a:tab pos="2860675" algn="l"/>
                <a:tab pos="3775075" algn="l"/>
                <a:tab pos="4689475" algn="l"/>
                <a:tab pos="5603875" algn="l"/>
                <a:tab pos="6518275" algn="l"/>
                <a:tab pos="7432675" algn="l"/>
                <a:tab pos="8347075" algn="l"/>
                <a:tab pos="9261475" algn="l"/>
                <a:tab pos="1017587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1031875" algn="l"/>
                <a:tab pos="1946275" algn="l"/>
                <a:tab pos="2860675" algn="l"/>
                <a:tab pos="3775075" algn="l"/>
                <a:tab pos="4689475" algn="l"/>
                <a:tab pos="5603875" algn="l"/>
                <a:tab pos="6518275" algn="l"/>
                <a:tab pos="7432675" algn="l"/>
                <a:tab pos="8347075" algn="l"/>
                <a:tab pos="9261475" algn="l"/>
                <a:tab pos="1017587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31875" algn="l"/>
                <a:tab pos="1946275" algn="l"/>
                <a:tab pos="2860675" algn="l"/>
                <a:tab pos="3775075" algn="l"/>
                <a:tab pos="4689475" algn="l"/>
                <a:tab pos="5603875" algn="l"/>
                <a:tab pos="6518275" algn="l"/>
                <a:tab pos="7432675" algn="l"/>
                <a:tab pos="8347075" algn="l"/>
                <a:tab pos="9261475" algn="l"/>
                <a:tab pos="1017587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1031875" algn="l"/>
                <a:tab pos="1946275" algn="l"/>
                <a:tab pos="2860675" algn="l"/>
                <a:tab pos="3775075" algn="l"/>
                <a:tab pos="4689475" algn="l"/>
                <a:tab pos="5603875" algn="l"/>
                <a:tab pos="6518275" algn="l"/>
                <a:tab pos="7432675" algn="l"/>
                <a:tab pos="8347075" algn="l"/>
                <a:tab pos="9261475" algn="l"/>
                <a:tab pos="1017587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lvl="1" eaLnBrk="1" hangingPunct="1">
              <a:spcBef>
                <a:spcPts val="550"/>
              </a:spcBef>
              <a:buFont typeface="Tahoma" charset="0"/>
              <a:buChar char="–"/>
            </a:pPr>
            <a:r>
              <a:rPr lang="en-US" sz="2200">
                <a:solidFill>
                  <a:srgbClr val="000000"/>
                </a:solidFill>
                <a:latin typeface="Tahoma" charset="0"/>
              </a:rPr>
              <a:t>We will be using Python 3 for this course</a:t>
            </a:r>
          </a:p>
          <a:p>
            <a:pPr lvl="1" eaLnBrk="1" hangingPunct="1">
              <a:spcBef>
                <a:spcPts val="550"/>
              </a:spcBef>
              <a:buFont typeface="Tahoma" charset="0"/>
              <a:buChar char="–"/>
            </a:pPr>
            <a:r>
              <a:rPr lang="en-US" sz="2200">
                <a:solidFill>
                  <a:srgbClr val="000000"/>
                </a:solidFill>
                <a:latin typeface="Tahoma" charset="0"/>
              </a:rPr>
              <a:t>Sometimes we may refer to Python 2</a:t>
            </a:r>
          </a:p>
          <a:p>
            <a:pPr lvl="1" eaLnBrk="1" hangingPunct="1">
              <a:spcBef>
                <a:spcPts val="550"/>
              </a:spcBef>
              <a:buFont typeface="Tahoma" charset="0"/>
              <a:buChar char="–"/>
            </a:pPr>
            <a:r>
              <a:rPr lang="en-US" sz="2200">
                <a:solidFill>
                  <a:srgbClr val="000000"/>
                </a:solidFill>
                <a:latin typeface="Tahoma" charset="0"/>
              </a:rPr>
              <a:t>The differences are minimal</a:t>
            </a:r>
            <a:endParaRPr lang="en-US" sz="2200">
              <a:solidFill>
                <a:srgbClr val="000000"/>
              </a:solidFill>
              <a:latin typeface="Courier New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819400"/>
          <a:ext cx="8229600" cy="1737360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SimSun" charset="-122"/>
                        </a:rPr>
                        <a:t>How to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SimSun" charset="-122"/>
                        </a:rPr>
                        <a:t>Python 2.x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SimSun" charset="-122"/>
                        </a:rPr>
                        <a:t>Python 3.x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SimSun" charset="-122"/>
                        </a:rPr>
                        <a:t>print text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SimSun" charset="-122"/>
                        </a:rPr>
                        <a:t>print “text”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SimSun" charset="-122"/>
                        </a:rPr>
                        <a:t>print(“text”)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SimSun" charset="-122"/>
                        </a:rPr>
                        <a:t>print a blank line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SimSun" charset="-122"/>
                        </a:rPr>
                        <a:t>print 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SimSun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charset="0"/>
                          <a:ea typeface="SimSun" charset="-122"/>
                        </a:rPr>
                        <a:t>print()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SimSun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65288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/>
          <p:cNvSpPr txBox="1">
            <a:spLocks noChangeArrowheads="1"/>
          </p:cNvSpPr>
          <p:nvPr/>
        </p:nvSpPr>
        <p:spPr bwMode="auto">
          <a:xfrm>
            <a:off x="304800" y="486916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sz="4400" b="1" dirty="0">
                <a:solidFill>
                  <a:schemeClr val="tx1"/>
                </a:solidFill>
                <a:latin typeface="Tahoma" charset="0"/>
              </a:rPr>
              <a:t>Words you will learn today</a:t>
            </a:r>
          </a:p>
        </p:txBody>
      </p:sp>
      <p:sp>
        <p:nvSpPr>
          <p:cNvPr id="30723" name="Text Box 2"/>
          <p:cNvSpPr txBox="1">
            <a:spLocks noChangeArrowheads="1"/>
          </p:cNvSpPr>
          <p:nvPr/>
        </p:nvSpPr>
        <p:spPr bwMode="auto">
          <a:xfrm>
            <a:off x="1763688" y="1196752"/>
            <a:ext cx="6291808" cy="3755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1313" indent="-341313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algn="ctr" eaLnBrk="1" hangingPunct="1">
              <a:spcBef>
                <a:spcPts val="600"/>
              </a:spcBef>
            </a:pPr>
            <a:r>
              <a:rPr lang="en-US" sz="5000" b="1" dirty="0">
                <a:solidFill>
                  <a:srgbClr val="000000"/>
                </a:solidFill>
                <a:latin typeface="Courier New" charset="0"/>
              </a:rPr>
              <a:t>python</a:t>
            </a:r>
          </a:p>
          <a:p>
            <a:pPr algn="ctr" eaLnBrk="1" hangingPunct="1">
              <a:spcBef>
                <a:spcPts val="600"/>
              </a:spcBef>
            </a:pPr>
            <a:r>
              <a:rPr lang="en-US" sz="5000" b="1" dirty="0">
                <a:solidFill>
                  <a:srgbClr val="000000"/>
                </a:solidFill>
                <a:latin typeface="Courier New" charset="0"/>
              </a:rPr>
              <a:t>print</a:t>
            </a:r>
            <a:r>
              <a:rPr lang="en-US" sz="5000" b="1" dirty="0" smtClean="0">
                <a:solidFill>
                  <a:srgbClr val="000000"/>
                </a:solidFill>
                <a:latin typeface="Courier New" charset="0"/>
              </a:rPr>
              <a:t>()</a:t>
            </a:r>
            <a:endParaRPr lang="en-US" sz="5000" b="1" dirty="0">
              <a:solidFill>
                <a:srgbClr val="000000"/>
              </a:solidFill>
              <a:latin typeface="Courier New" charset="0"/>
            </a:endParaRPr>
          </a:p>
          <a:p>
            <a:pPr algn="ctr" eaLnBrk="1" hangingPunct="1">
              <a:spcBef>
                <a:spcPts val="600"/>
              </a:spcBef>
            </a:pPr>
            <a:endParaRPr lang="en-US" sz="5000" b="1" dirty="0">
              <a:solidFill>
                <a:srgbClr val="000000"/>
              </a:solidFill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8902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1"/>
          <p:cNvSpPr txBox="1">
            <a:spLocks noChangeArrowheads="1"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sz="4400" b="1">
                <a:solidFill>
                  <a:srgbClr val="FFFFFF"/>
                </a:solidFill>
                <a:latin typeface="Tahoma" charset="0"/>
              </a:rPr>
              <a:t>The </a:t>
            </a:r>
            <a:r>
              <a:rPr lang="en-US" sz="4400" b="1">
                <a:solidFill>
                  <a:srgbClr val="FFFFFF"/>
                </a:solidFill>
                <a:latin typeface="Courier New" charset="0"/>
              </a:rPr>
              <a:t>print</a:t>
            </a:r>
            <a:r>
              <a:rPr lang="en-US" sz="4400" b="1">
                <a:solidFill>
                  <a:srgbClr val="FFFFFF"/>
                </a:solidFill>
                <a:latin typeface="Tahoma" charset="0"/>
              </a:rPr>
              <a:t> Statement</a:t>
            </a:r>
          </a:p>
        </p:txBody>
      </p:sp>
      <p:sp>
        <p:nvSpPr>
          <p:cNvPr id="55299" name="Text Box 2"/>
          <p:cNvSpPr txBox="1">
            <a:spLocks noChangeArrowheads="1"/>
          </p:cNvSpPr>
          <p:nvPr/>
        </p:nvSpPr>
        <p:spPr bwMode="auto">
          <a:xfrm>
            <a:off x="304800" y="1295400"/>
            <a:ext cx="8686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24161750" indent="-24161750" eaLnBrk="0" hangingPunct="0">
              <a:tabLst>
                <a:tab pos="1031875" algn="l"/>
                <a:tab pos="1946275" algn="l"/>
                <a:tab pos="2860675" algn="l"/>
                <a:tab pos="3775075" algn="l"/>
                <a:tab pos="4689475" algn="l"/>
                <a:tab pos="5603875" algn="l"/>
                <a:tab pos="6518275" algn="l"/>
                <a:tab pos="7432675" algn="l"/>
                <a:tab pos="8347075" algn="l"/>
                <a:tab pos="9261475" algn="l"/>
                <a:tab pos="1017587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862013" indent="-284163" eaLnBrk="0" hangingPunct="0">
              <a:tabLst>
                <a:tab pos="1031875" algn="l"/>
                <a:tab pos="1946275" algn="l"/>
                <a:tab pos="2860675" algn="l"/>
                <a:tab pos="3775075" algn="l"/>
                <a:tab pos="4689475" algn="l"/>
                <a:tab pos="5603875" algn="l"/>
                <a:tab pos="6518275" algn="l"/>
                <a:tab pos="7432675" algn="l"/>
                <a:tab pos="8347075" algn="l"/>
                <a:tab pos="9261475" algn="l"/>
                <a:tab pos="1017587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1031875" algn="l"/>
                <a:tab pos="1946275" algn="l"/>
                <a:tab pos="2860675" algn="l"/>
                <a:tab pos="3775075" algn="l"/>
                <a:tab pos="4689475" algn="l"/>
                <a:tab pos="5603875" algn="l"/>
                <a:tab pos="6518275" algn="l"/>
                <a:tab pos="7432675" algn="l"/>
                <a:tab pos="8347075" algn="l"/>
                <a:tab pos="9261475" algn="l"/>
                <a:tab pos="1017587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1031875" algn="l"/>
                <a:tab pos="1946275" algn="l"/>
                <a:tab pos="2860675" algn="l"/>
                <a:tab pos="3775075" algn="l"/>
                <a:tab pos="4689475" algn="l"/>
                <a:tab pos="5603875" algn="l"/>
                <a:tab pos="6518275" algn="l"/>
                <a:tab pos="7432675" algn="l"/>
                <a:tab pos="8347075" algn="l"/>
                <a:tab pos="9261475" algn="l"/>
                <a:tab pos="1017587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1031875" algn="l"/>
                <a:tab pos="1946275" algn="l"/>
                <a:tab pos="2860675" algn="l"/>
                <a:tab pos="3775075" algn="l"/>
                <a:tab pos="4689475" algn="l"/>
                <a:tab pos="5603875" algn="l"/>
                <a:tab pos="6518275" algn="l"/>
                <a:tab pos="7432675" algn="l"/>
                <a:tab pos="8347075" algn="l"/>
                <a:tab pos="9261475" algn="l"/>
                <a:tab pos="1017587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1031875" algn="l"/>
                <a:tab pos="1946275" algn="l"/>
                <a:tab pos="2860675" algn="l"/>
                <a:tab pos="3775075" algn="l"/>
                <a:tab pos="4689475" algn="l"/>
                <a:tab pos="5603875" algn="l"/>
                <a:tab pos="6518275" algn="l"/>
                <a:tab pos="7432675" algn="l"/>
                <a:tab pos="8347075" algn="l"/>
                <a:tab pos="9261475" algn="l"/>
                <a:tab pos="1017587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1031875" algn="l"/>
                <a:tab pos="1946275" algn="l"/>
                <a:tab pos="2860675" algn="l"/>
                <a:tab pos="3775075" algn="l"/>
                <a:tab pos="4689475" algn="l"/>
                <a:tab pos="5603875" algn="l"/>
                <a:tab pos="6518275" algn="l"/>
                <a:tab pos="7432675" algn="l"/>
                <a:tab pos="8347075" algn="l"/>
                <a:tab pos="9261475" algn="l"/>
                <a:tab pos="1017587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31875" algn="l"/>
                <a:tab pos="1946275" algn="l"/>
                <a:tab pos="2860675" algn="l"/>
                <a:tab pos="3775075" algn="l"/>
                <a:tab pos="4689475" algn="l"/>
                <a:tab pos="5603875" algn="l"/>
                <a:tab pos="6518275" algn="l"/>
                <a:tab pos="7432675" algn="l"/>
                <a:tab pos="8347075" algn="l"/>
                <a:tab pos="9261475" algn="l"/>
                <a:tab pos="1017587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1031875" algn="l"/>
                <a:tab pos="1946275" algn="l"/>
                <a:tab pos="2860675" algn="l"/>
                <a:tab pos="3775075" algn="l"/>
                <a:tab pos="4689475" algn="l"/>
                <a:tab pos="5603875" algn="l"/>
                <a:tab pos="6518275" algn="l"/>
                <a:tab pos="7432675" algn="l"/>
                <a:tab pos="8347075" algn="l"/>
                <a:tab pos="9261475" algn="l"/>
                <a:tab pos="1017587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lvl="1" eaLnBrk="1" hangingPunct="1">
              <a:lnSpc>
                <a:spcPct val="77000"/>
              </a:lnSpc>
              <a:spcBef>
                <a:spcPts val="550"/>
              </a:spcBef>
              <a:buClrTx/>
              <a:buFontTx/>
              <a:buNone/>
            </a:pPr>
            <a:r>
              <a:rPr lang="en-US" sz="2200">
                <a:solidFill>
                  <a:srgbClr val="000000"/>
                </a:solidFill>
                <a:latin typeface="Courier New" charset="0"/>
              </a:rPr>
              <a:t>print(”</a:t>
            </a:r>
            <a:r>
              <a:rPr lang="en-US" sz="2200" b="1">
                <a:solidFill>
                  <a:srgbClr val="000000"/>
                </a:solidFill>
                <a:latin typeface="Tahoma" charset="0"/>
              </a:rPr>
              <a:t>text</a:t>
            </a:r>
            <a:r>
              <a:rPr lang="en-US" sz="2200">
                <a:solidFill>
                  <a:srgbClr val="000000"/>
                </a:solidFill>
                <a:latin typeface="Courier New" charset="0"/>
              </a:rPr>
              <a:t>")</a:t>
            </a:r>
          </a:p>
          <a:p>
            <a:pPr lvl="1" eaLnBrk="1" hangingPunct="1">
              <a:lnSpc>
                <a:spcPct val="77000"/>
              </a:lnSpc>
              <a:spcBef>
                <a:spcPts val="550"/>
              </a:spcBef>
              <a:buClrTx/>
              <a:buFontTx/>
              <a:buNone/>
            </a:pPr>
            <a:r>
              <a:rPr lang="en-US" sz="2200">
                <a:solidFill>
                  <a:srgbClr val="000000"/>
                </a:solidFill>
                <a:latin typeface="Courier New" charset="0"/>
              </a:rPr>
              <a:t>print()</a:t>
            </a:r>
            <a:r>
              <a:rPr lang="en-US" sz="2200">
                <a:solidFill>
                  <a:srgbClr val="000000"/>
                </a:solidFill>
                <a:latin typeface="Tahoma" charset="0"/>
              </a:rPr>
              <a:t>	(a blank line)</a:t>
            </a:r>
          </a:p>
          <a:p>
            <a:pPr lvl="1" eaLnBrk="1" hangingPunct="1">
              <a:lnSpc>
                <a:spcPct val="77000"/>
              </a:lnSpc>
              <a:spcBef>
                <a:spcPts val="200"/>
              </a:spcBef>
              <a:buClrTx/>
              <a:buFontTx/>
              <a:buNone/>
            </a:pPr>
            <a:endParaRPr lang="en-US" sz="800">
              <a:solidFill>
                <a:srgbClr val="000000"/>
              </a:solidFill>
              <a:latin typeface="Tahoma" charset="0"/>
            </a:endParaRPr>
          </a:p>
          <a:p>
            <a:pPr lvl="1" eaLnBrk="1" hangingPunct="1">
              <a:spcBef>
                <a:spcPts val="550"/>
              </a:spcBef>
              <a:buFont typeface="Tahoma" charset="0"/>
              <a:buChar char="–"/>
            </a:pPr>
            <a:r>
              <a:rPr lang="en-US" sz="2200">
                <a:solidFill>
                  <a:srgbClr val="000000"/>
                </a:solidFill>
                <a:latin typeface="Tahoma" charset="0"/>
              </a:rPr>
              <a:t>Escape sequences such as </a:t>
            </a:r>
            <a:r>
              <a:rPr lang="en-US" sz="2200">
                <a:solidFill>
                  <a:srgbClr val="000000"/>
                </a:solidFill>
                <a:latin typeface="Courier New" charset="0"/>
              </a:rPr>
              <a:t>\"</a:t>
            </a:r>
            <a:r>
              <a:rPr lang="en-US" sz="2200">
                <a:solidFill>
                  <a:srgbClr val="000000"/>
                </a:solidFill>
                <a:latin typeface="Tahoma" charset="0"/>
              </a:rPr>
              <a:t> are the same as in Java</a:t>
            </a:r>
          </a:p>
          <a:p>
            <a:pPr lvl="1" eaLnBrk="1" hangingPunct="1">
              <a:spcBef>
                <a:spcPts val="550"/>
              </a:spcBef>
              <a:buFont typeface="Tahoma" charset="0"/>
              <a:buChar char="–"/>
            </a:pPr>
            <a:r>
              <a:rPr lang="en-US" sz="2200">
                <a:solidFill>
                  <a:srgbClr val="000000"/>
                </a:solidFill>
                <a:latin typeface="Tahoma" charset="0"/>
              </a:rPr>
              <a:t>Strings can also start/end with </a:t>
            </a:r>
            <a:r>
              <a:rPr lang="en-US" sz="2200">
                <a:solidFill>
                  <a:srgbClr val="000000"/>
                </a:solidFill>
                <a:latin typeface="Courier New" charset="0"/>
              </a:rPr>
              <a:t>'</a:t>
            </a:r>
          </a:p>
        </p:txBody>
      </p:sp>
      <p:graphicFrame>
        <p:nvGraphicFramePr>
          <p:cNvPr id="13315" name="Group 3"/>
          <p:cNvGraphicFramePr>
            <a:graphicFrameLocks noGrp="1"/>
          </p:cNvGraphicFramePr>
          <p:nvPr/>
        </p:nvGraphicFramePr>
        <p:xfrm>
          <a:off x="609600" y="3254375"/>
          <a:ext cx="7926388" cy="1936360"/>
        </p:xfrm>
        <a:graphic>
          <a:graphicData uri="http://schemas.openxmlformats.org/drawingml/2006/table">
            <a:tbl>
              <a:tblPr/>
              <a:tblGrid>
                <a:gridCol w="45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5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350">
                <a:tc gridSpan="2">
                  <a:txBody>
                    <a:bodyPr/>
                    <a:lstStyle/>
                    <a:p>
                      <a:pPr marL="106363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charset="0"/>
                          <a:ea typeface="SimSun" charset="-122"/>
                        </a:rPr>
                        <a:t>swallows.py</a:t>
                      </a:r>
                    </a:p>
                  </a:txBody>
                  <a:tcPr marL="41400" marR="41400" marT="41400" marB="41400" horzOverflow="overflow">
                    <a:lnL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66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8288">
                <a:tc>
                  <a:txBody>
                    <a:bodyPr/>
                    <a:lstStyle/>
                    <a:p>
                      <a:pPr marL="106363" marR="0" lvl="0" indent="0" algn="r" defTabSz="457200" rtl="0" eaLnBrk="1" fontAlgn="base" latinLnBrk="0" hangingPunct="1">
                        <a:lnSpc>
                          <a:spcPct val="82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1</a:t>
                      </a:r>
                    </a:p>
                    <a:p>
                      <a:pPr marL="106363" marR="0" lvl="0" indent="0" algn="r" defTabSz="457200" rtl="0" eaLnBrk="1" fontAlgn="base" latinLnBrk="0" hangingPunct="1">
                        <a:lnSpc>
                          <a:spcPct val="82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2</a:t>
                      </a:r>
                    </a:p>
                    <a:p>
                      <a:pPr marL="106363" marR="0" lvl="0" indent="0" algn="r" defTabSz="457200" rtl="0" eaLnBrk="1" fontAlgn="base" latinLnBrk="0" hangingPunct="1">
                        <a:lnSpc>
                          <a:spcPct val="82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3</a:t>
                      </a:r>
                    </a:p>
                    <a:p>
                      <a:pPr marL="106363" marR="0" lvl="0" indent="0" algn="r" defTabSz="457200" rtl="0" eaLnBrk="1" fontAlgn="base" latinLnBrk="0" hangingPunct="1">
                        <a:lnSpc>
                          <a:spcPct val="82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4</a:t>
                      </a:r>
                    </a:p>
                  </a:txBody>
                  <a:tcPr marL="41400" marR="82800" marT="248184" marB="207360" horzOverflow="overflow">
                    <a:lnL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0" indent="0" algn="l" defTabSz="457200" rtl="0" eaLnBrk="1" fontAlgn="base" latinLnBrk="0" hangingPunct="1">
                        <a:lnSpc>
                          <a:spcPct val="82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print("Hello, world! ")</a:t>
                      </a:r>
                    </a:p>
                    <a:p>
                      <a:pPr marL="106363" marR="0" lvl="0" indent="0" algn="l" defTabSz="457200" rtl="0" eaLnBrk="1" fontAlgn="base" latinLnBrk="0" hangingPunct="1">
                        <a:lnSpc>
                          <a:spcPct val="82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print()</a:t>
                      </a:r>
                    </a:p>
                    <a:p>
                      <a:pPr marL="106363" marR="0" lvl="0" indent="0" algn="l" defTabSz="457200" rtl="0" eaLnBrk="1" fontAlgn="base" latinLnBrk="0" hangingPunct="1">
                        <a:lnSpc>
                          <a:spcPct val="82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print("Suppose two swallows \"carry\" it together.")</a:t>
                      </a:r>
                    </a:p>
                    <a:p>
                      <a:pPr marL="106363" marR="0" lvl="0" indent="0" algn="l" defTabSz="457200" rtl="0" eaLnBrk="1" fontAlgn="base" latinLnBrk="0" hangingPunct="1">
                        <a:lnSpc>
                          <a:spcPct val="82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print('African or "European" swallows?')</a:t>
                      </a:r>
                    </a:p>
                  </a:txBody>
                  <a:tcPr marL="41400" marR="165960" marT="248184" marB="207360" horzOverflow="overflow">
                    <a:lnL>
                      <a:noFill/>
                    </a:lnL>
                    <a:lnR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45967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1"/>
          <p:cNvSpPr txBox="1">
            <a:spLocks noChangeArrowheads="1"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sz="4400" b="1">
                <a:solidFill>
                  <a:srgbClr val="FFFFFF"/>
                </a:solidFill>
                <a:latin typeface="Tahoma" charset="0"/>
              </a:rPr>
              <a:t>Comments</a:t>
            </a:r>
          </a:p>
        </p:txBody>
      </p:sp>
      <p:sp>
        <p:nvSpPr>
          <p:cNvPr id="57347" name="Text Box 2"/>
          <p:cNvSpPr txBox="1">
            <a:spLocks noChangeArrowheads="1"/>
          </p:cNvSpPr>
          <p:nvPr/>
        </p:nvSpPr>
        <p:spPr bwMode="auto">
          <a:xfrm>
            <a:off x="304800" y="1295400"/>
            <a:ext cx="8686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24161750" indent="-24161750" eaLnBrk="0" hangingPunct="0">
              <a:tabLst>
                <a:tab pos="998538" algn="l"/>
                <a:tab pos="1912938" algn="l"/>
                <a:tab pos="2827338" algn="l"/>
                <a:tab pos="3741738" algn="l"/>
                <a:tab pos="4656138" algn="l"/>
                <a:tab pos="5570538" algn="l"/>
                <a:tab pos="6484938" algn="l"/>
                <a:tab pos="7399338" algn="l"/>
                <a:tab pos="8313738" algn="l"/>
                <a:tab pos="9228138" algn="l"/>
                <a:tab pos="10142538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862013" indent="-284163" eaLnBrk="0" hangingPunct="0">
              <a:tabLst>
                <a:tab pos="998538" algn="l"/>
                <a:tab pos="1912938" algn="l"/>
                <a:tab pos="2827338" algn="l"/>
                <a:tab pos="3741738" algn="l"/>
                <a:tab pos="4656138" algn="l"/>
                <a:tab pos="5570538" algn="l"/>
                <a:tab pos="6484938" algn="l"/>
                <a:tab pos="7399338" algn="l"/>
                <a:tab pos="8313738" algn="l"/>
                <a:tab pos="9228138" algn="l"/>
                <a:tab pos="10142538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998538" algn="l"/>
                <a:tab pos="1912938" algn="l"/>
                <a:tab pos="2827338" algn="l"/>
                <a:tab pos="3741738" algn="l"/>
                <a:tab pos="4656138" algn="l"/>
                <a:tab pos="5570538" algn="l"/>
                <a:tab pos="6484938" algn="l"/>
                <a:tab pos="7399338" algn="l"/>
                <a:tab pos="8313738" algn="l"/>
                <a:tab pos="9228138" algn="l"/>
                <a:tab pos="10142538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998538" algn="l"/>
                <a:tab pos="1912938" algn="l"/>
                <a:tab pos="2827338" algn="l"/>
                <a:tab pos="3741738" algn="l"/>
                <a:tab pos="4656138" algn="l"/>
                <a:tab pos="5570538" algn="l"/>
                <a:tab pos="6484938" algn="l"/>
                <a:tab pos="7399338" algn="l"/>
                <a:tab pos="8313738" algn="l"/>
                <a:tab pos="9228138" algn="l"/>
                <a:tab pos="10142538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998538" algn="l"/>
                <a:tab pos="1912938" algn="l"/>
                <a:tab pos="2827338" algn="l"/>
                <a:tab pos="3741738" algn="l"/>
                <a:tab pos="4656138" algn="l"/>
                <a:tab pos="5570538" algn="l"/>
                <a:tab pos="6484938" algn="l"/>
                <a:tab pos="7399338" algn="l"/>
                <a:tab pos="8313738" algn="l"/>
                <a:tab pos="9228138" algn="l"/>
                <a:tab pos="10142538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98538" algn="l"/>
                <a:tab pos="1912938" algn="l"/>
                <a:tab pos="2827338" algn="l"/>
                <a:tab pos="3741738" algn="l"/>
                <a:tab pos="4656138" algn="l"/>
                <a:tab pos="5570538" algn="l"/>
                <a:tab pos="6484938" algn="l"/>
                <a:tab pos="7399338" algn="l"/>
                <a:tab pos="8313738" algn="l"/>
                <a:tab pos="9228138" algn="l"/>
                <a:tab pos="10142538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998538" algn="l"/>
                <a:tab pos="1912938" algn="l"/>
                <a:tab pos="2827338" algn="l"/>
                <a:tab pos="3741738" algn="l"/>
                <a:tab pos="4656138" algn="l"/>
                <a:tab pos="5570538" algn="l"/>
                <a:tab pos="6484938" algn="l"/>
                <a:tab pos="7399338" algn="l"/>
                <a:tab pos="8313738" algn="l"/>
                <a:tab pos="9228138" algn="l"/>
                <a:tab pos="10142538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998538" algn="l"/>
                <a:tab pos="1912938" algn="l"/>
                <a:tab pos="2827338" algn="l"/>
                <a:tab pos="3741738" algn="l"/>
                <a:tab pos="4656138" algn="l"/>
                <a:tab pos="5570538" algn="l"/>
                <a:tab pos="6484938" algn="l"/>
                <a:tab pos="7399338" algn="l"/>
                <a:tab pos="8313738" algn="l"/>
                <a:tab pos="9228138" algn="l"/>
                <a:tab pos="10142538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998538" algn="l"/>
                <a:tab pos="1912938" algn="l"/>
                <a:tab pos="2827338" algn="l"/>
                <a:tab pos="3741738" algn="l"/>
                <a:tab pos="4656138" algn="l"/>
                <a:tab pos="5570538" algn="l"/>
                <a:tab pos="6484938" algn="l"/>
                <a:tab pos="7399338" algn="l"/>
                <a:tab pos="8313738" algn="l"/>
                <a:tab pos="9228138" algn="l"/>
                <a:tab pos="10142538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lvl="1" eaLnBrk="1" hangingPunct="1">
              <a:lnSpc>
                <a:spcPct val="77000"/>
              </a:lnSpc>
              <a:spcBef>
                <a:spcPts val="550"/>
              </a:spcBef>
              <a:buClrTx/>
              <a:buFontTx/>
              <a:buNone/>
            </a:pPr>
            <a:r>
              <a:rPr lang="en-US" sz="2200" b="1">
                <a:solidFill>
                  <a:srgbClr val="008080"/>
                </a:solidFill>
                <a:latin typeface="Tahoma" charset="0"/>
              </a:rPr>
              <a:t># comment text (one line)</a:t>
            </a:r>
          </a:p>
          <a:p>
            <a:pPr lvl="1" eaLnBrk="1" hangingPunct="1">
              <a:lnSpc>
                <a:spcPct val="77000"/>
              </a:lnSpc>
              <a:spcBef>
                <a:spcPts val="550"/>
              </a:spcBef>
              <a:buClrTx/>
              <a:buFontTx/>
              <a:buNone/>
            </a:pPr>
            <a:r>
              <a:rPr lang="en-US" sz="2200" b="1">
                <a:solidFill>
                  <a:srgbClr val="008080"/>
                </a:solidFill>
                <a:latin typeface="Tahoma" charset="0"/>
              </a:rPr>
              <a:t># must start each line of comments with the pound sign  </a:t>
            </a:r>
          </a:p>
        </p:txBody>
      </p:sp>
      <p:graphicFrame>
        <p:nvGraphicFramePr>
          <p:cNvPr id="14339" name="Group 3"/>
          <p:cNvGraphicFramePr>
            <a:graphicFrameLocks noGrp="1"/>
          </p:cNvGraphicFramePr>
          <p:nvPr/>
        </p:nvGraphicFramePr>
        <p:xfrm>
          <a:off x="609600" y="2667000"/>
          <a:ext cx="8305800" cy="2385778"/>
        </p:xfrm>
        <a:graphic>
          <a:graphicData uri="http://schemas.openxmlformats.org/drawingml/2006/table">
            <a:tbl>
              <a:tblPr/>
              <a:tblGrid>
                <a:gridCol w="473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350">
                <a:tc gridSpan="2">
                  <a:txBody>
                    <a:bodyPr/>
                    <a:lstStyle/>
                    <a:p>
                      <a:pPr marL="106363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charset="0"/>
                          <a:ea typeface="SimSun" charset="-122"/>
                        </a:rPr>
                        <a:t>swallows2.py</a:t>
                      </a:r>
                    </a:p>
                  </a:txBody>
                  <a:tcPr marL="41400" marR="41400" marT="41400" marB="41400" horzOverflow="overflow">
                    <a:lnL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66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5325">
                <a:tc>
                  <a:txBody>
                    <a:bodyPr/>
                    <a:lstStyle/>
                    <a:p>
                      <a:pPr marL="106363" marR="0" lvl="0" indent="0" algn="r" defTabSz="457200" rtl="0" eaLnBrk="1" fontAlgn="base" latinLnBrk="0" hangingPunct="1">
                        <a:lnSpc>
                          <a:spcPct val="7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1</a:t>
                      </a:r>
                    </a:p>
                    <a:p>
                      <a:pPr marL="106363" marR="0" lvl="0" indent="0" algn="r" defTabSz="457200" rtl="0" eaLnBrk="1" fontAlgn="base" latinLnBrk="0" hangingPunct="1">
                        <a:lnSpc>
                          <a:spcPct val="7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2</a:t>
                      </a:r>
                    </a:p>
                    <a:p>
                      <a:pPr marL="106363" marR="0" lvl="0" indent="0" algn="r" defTabSz="457200" rtl="0" eaLnBrk="1" fontAlgn="base" latinLnBrk="0" hangingPunct="1">
                        <a:lnSpc>
                          <a:spcPct val="7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3</a:t>
                      </a:r>
                    </a:p>
                    <a:p>
                      <a:pPr marL="106363" marR="0" lvl="0" indent="0" algn="r" defTabSz="457200" rtl="0" eaLnBrk="1" fontAlgn="base" latinLnBrk="0" hangingPunct="1">
                        <a:lnSpc>
                          <a:spcPct val="7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4</a:t>
                      </a:r>
                    </a:p>
                    <a:p>
                      <a:pPr marL="106363" marR="0" lvl="0" indent="0" algn="r" defTabSz="457200" rtl="0" eaLnBrk="1" fontAlgn="base" latinLnBrk="0" hangingPunct="1">
                        <a:lnSpc>
                          <a:spcPct val="7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5</a:t>
                      </a:r>
                    </a:p>
                    <a:p>
                      <a:pPr marL="106363" marR="0" lvl="0" indent="0" algn="r" defTabSz="457200" rtl="0" eaLnBrk="1" fontAlgn="base" latinLnBrk="0" hangingPunct="1">
                        <a:lnSpc>
                          <a:spcPct val="7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6</a:t>
                      </a:r>
                    </a:p>
                  </a:txBody>
                  <a:tcPr marL="41400" marR="82800" marT="268596" marB="207360" horzOverflow="overflow">
                    <a:lnL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0" indent="0" algn="l" defTabSz="457200" rtl="0" eaLnBrk="1" fontAlgn="base" latinLnBrk="0" hangingPunct="1">
                        <a:lnSpc>
                          <a:spcPct val="7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80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# Suzy Student, CSE 142, Fall 2097</a:t>
                      </a:r>
                    </a:p>
                    <a:p>
                      <a:pPr marL="106363" marR="0" lvl="0" indent="0" algn="l" defTabSz="457200" rtl="0" eaLnBrk="1" fontAlgn="base" latinLnBrk="0" hangingPunct="1">
                        <a:lnSpc>
                          <a:spcPct val="7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80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# This program prints important messages.</a:t>
                      </a:r>
                    </a:p>
                    <a:p>
                      <a:pPr marL="106363" marR="0" lvl="0" indent="0" algn="l" defTabSz="457200" rtl="0" eaLnBrk="1" fontAlgn="base" latinLnBrk="0" hangingPunct="1">
                        <a:lnSpc>
                          <a:spcPct val="7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print("Hello, world!")</a:t>
                      </a:r>
                    </a:p>
                    <a:p>
                      <a:pPr marL="106363" marR="0" lvl="0" indent="0" algn="l" defTabSz="457200" rtl="0" eaLnBrk="1" fontAlgn="base" latinLnBrk="0" hangingPunct="1">
                        <a:lnSpc>
                          <a:spcPct val="7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Print()                  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80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# blank line</a:t>
                      </a:r>
                    </a:p>
                    <a:p>
                      <a:pPr marL="106363" marR="0" lvl="0" indent="0" algn="l" defTabSz="457200" rtl="0" eaLnBrk="1" fontAlgn="base" latinLnBrk="0" hangingPunct="1">
                        <a:lnSpc>
                          <a:spcPct val="7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print("Suppose two swallows \"carry\" it together.")</a:t>
                      </a:r>
                    </a:p>
                    <a:p>
                      <a:pPr marL="106363" marR="0" lvl="0" indent="0" algn="l" defTabSz="457200" rtl="0" eaLnBrk="1" fontAlgn="base" latinLnBrk="0" hangingPunct="1">
                        <a:lnSpc>
                          <a:spcPct val="7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Print('African or "European" swallows?')</a:t>
                      </a:r>
                    </a:p>
                  </a:txBody>
                  <a:tcPr marL="41400" marR="165960" marT="268596" marB="207360" horzOverflow="overflow">
                    <a:lnL>
                      <a:noFill/>
                    </a:lnL>
                    <a:lnR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30182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1"/>
          <p:cNvSpPr txBox="1">
            <a:spLocks noChangeArrowheads="1"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sz="4400" b="1">
                <a:solidFill>
                  <a:srgbClr val="FFFFFF"/>
                </a:solidFill>
                <a:latin typeface="Tahoma" charset="0"/>
              </a:rPr>
              <a:t>Functions</a:t>
            </a:r>
          </a:p>
        </p:txBody>
      </p:sp>
      <p:sp>
        <p:nvSpPr>
          <p:cNvPr id="59395" name="Text Box 2"/>
          <p:cNvSpPr txBox="1">
            <a:spLocks noChangeArrowheads="1"/>
          </p:cNvSpPr>
          <p:nvPr/>
        </p:nvSpPr>
        <p:spPr bwMode="auto">
          <a:xfrm>
            <a:off x="304800" y="1295400"/>
            <a:ext cx="8686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1313" indent="-341313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indent="-284163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eaLnBrk="1" hangingPunct="1">
              <a:spcBef>
                <a:spcPts val="600"/>
              </a:spcBef>
              <a:buFont typeface="Tahoma" charset="0"/>
              <a:buChar char="•"/>
            </a:pPr>
            <a:r>
              <a:rPr lang="en-US" b="1">
                <a:solidFill>
                  <a:srgbClr val="000000"/>
                </a:solidFill>
                <a:latin typeface="Tahoma" charset="0"/>
              </a:rPr>
              <a:t>Function</a:t>
            </a:r>
            <a:r>
              <a:rPr lang="en-US">
                <a:solidFill>
                  <a:srgbClr val="000000"/>
                </a:solidFill>
                <a:latin typeface="Tahoma" charset="0"/>
              </a:rPr>
              <a:t>: Equivalent to a static method in Java.</a:t>
            </a:r>
          </a:p>
          <a:p>
            <a:pPr eaLnBrk="1" hangingPunct="1">
              <a:spcBef>
                <a:spcPts val="600"/>
              </a:spcBef>
              <a:buFont typeface="Tahoma" charset="0"/>
              <a:buChar char="•"/>
            </a:pPr>
            <a:r>
              <a:rPr lang="en-US">
                <a:solidFill>
                  <a:srgbClr val="000000"/>
                </a:solidFill>
                <a:latin typeface="Tahoma" charset="0"/>
              </a:rPr>
              <a:t>Syntax:</a:t>
            </a:r>
          </a:p>
          <a:p>
            <a:pPr lvl="1" eaLnBrk="1" hangingPunct="1">
              <a:lnSpc>
                <a:spcPct val="87000"/>
              </a:lnSpc>
              <a:spcBef>
                <a:spcPts val="550"/>
              </a:spcBef>
              <a:buClrTx/>
              <a:buFontTx/>
              <a:buNone/>
            </a:pPr>
            <a:r>
              <a:rPr lang="en-US" sz="2200">
                <a:solidFill>
                  <a:srgbClr val="000000"/>
                </a:solidFill>
                <a:latin typeface="Courier New" charset="0"/>
              </a:rPr>
              <a:t>def </a:t>
            </a:r>
            <a:r>
              <a:rPr lang="en-US" sz="2200" b="1">
                <a:solidFill>
                  <a:srgbClr val="000000"/>
                </a:solidFill>
                <a:latin typeface="Tahoma" charset="0"/>
              </a:rPr>
              <a:t>name</a:t>
            </a:r>
            <a:r>
              <a:rPr lang="en-US" sz="2200">
                <a:solidFill>
                  <a:srgbClr val="000000"/>
                </a:solidFill>
                <a:latin typeface="Courier New" charset="0"/>
              </a:rPr>
              <a:t>():</a:t>
            </a:r>
          </a:p>
          <a:p>
            <a:pPr lvl="1" eaLnBrk="1" hangingPunct="1">
              <a:lnSpc>
                <a:spcPct val="87000"/>
              </a:lnSpc>
              <a:spcBef>
                <a:spcPts val="550"/>
              </a:spcBef>
              <a:buClrTx/>
              <a:buFontTx/>
              <a:buNone/>
            </a:pPr>
            <a:r>
              <a:rPr lang="en-US" sz="2200">
                <a:solidFill>
                  <a:srgbClr val="000000"/>
                </a:solidFill>
                <a:latin typeface="Courier New" charset="0"/>
              </a:rPr>
              <a:t>    </a:t>
            </a:r>
            <a:r>
              <a:rPr lang="en-US" sz="2200" b="1">
                <a:solidFill>
                  <a:srgbClr val="000000"/>
                </a:solidFill>
                <a:latin typeface="Tahoma" charset="0"/>
              </a:rPr>
              <a:t>statement</a:t>
            </a:r>
          </a:p>
          <a:p>
            <a:pPr lvl="1" eaLnBrk="1" hangingPunct="1">
              <a:lnSpc>
                <a:spcPct val="87000"/>
              </a:lnSpc>
              <a:spcBef>
                <a:spcPts val="550"/>
              </a:spcBef>
              <a:buClrTx/>
              <a:buFontTx/>
              <a:buNone/>
            </a:pPr>
            <a:r>
              <a:rPr lang="en-US" sz="2200">
                <a:solidFill>
                  <a:srgbClr val="000000"/>
                </a:solidFill>
                <a:latin typeface="Courier New" charset="0"/>
              </a:rPr>
              <a:t>    </a:t>
            </a:r>
            <a:r>
              <a:rPr lang="en-US" sz="2200" b="1">
                <a:solidFill>
                  <a:srgbClr val="000000"/>
                </a:solidFill>
                <a:latin typeface="Tahoma" charset="0"/>
              </a:rPr>
              <a:t>statement</a:t>
            </a:r>
          </a:p>
          <a:p>
            <a:pPr lvl="1" eaLnBrk="1" hangingPunct="1">
              <a:lnSpc>
                <a:spcPct val="87000"/>
              </a:lnSpc>
              <a:spcBef>
                <a:spcPts val="550"/>
              </a:spcBef>
              <a:buClrTx/>
              <a:buFontTx/>
              <a:buNone/>
            </a:pPr>
            <a:r>
              <a:rPr lang="en-US" sz="2200">
                <a:solidFill>
                  <a:srgbClr val="000000"/>
                </a:solidFill>
                <a:latin typeface="Courier New" charset="0"/>
              </a:rPr>
              <a:t>    ...</a:t>
            </a:r>
          </a:p>
          <a:p>
            <a:pPr lvl="1" eaLnBrk="1" hangingPunct="1">
              <a:lnSpc>
                <a:spcPct val="87000"/>
              </a:lnSpc>
              <a:spcBef>
                <a:spcPts val="550"/>
              </a:spcBef>
              <a:buClrTx/>
              <a:buFontTx/>
              <a:buNone/>
            </a:pPr>
            <a:r>
              <a:rPr lang="en-US" sz="2200">
                <a:solidFill>
                  <a:srgbClr val="000000"/>
                </a:solidFill>
                <a:latin typeface="Courier New" charset="0"/>
              </a:rPr>
              <a:t>    </a:t>
            </a:r>
            <a:r>
              <a:rPr lang="en-US" sz="2200" b="1">
                <a:solidFill>
                  <a:srgbClr val="000000"/>
                </a:solidFill>
                <a:latin typeface="Tahoma" charset="0"/>
              </a:rPr>
              <a:t>statement</a:t>
            </a:r>
          </a:p>
          <a:p>
            <a:pPr lvl="1" eaLnBrk="1" hangingPunct="1">
              <a:spcBef>
                <a:spcPts val="550"/>
              </a:spcBef>
              <a:buFont typeface="Tahoma" charset="0"/>
              <a:buNone/>
            </a:pPr>
            <a:endParaRPr lang="en-US" sz="2200">
              <a:solidFill>
                <a:srgbClr val="000000"/>
              </a:solidFill>
              <a:latin typeface="Tahoma" charset="0"/>
            </a:endParaRPr>
          </a:p>
          <a:p>
            <a:pPr lvl="1" eaLnBrk="1" hangingPunct="1">
              <a:spcBef>
                <a:spcPts val="550"/>
              </a:spcBef>
              <a:buFont typeface="Tahoma" charset="0"/>
              <a:buNone/>
            </a:pPr>
            <a:endParaRPr lang="en-US" sz="2200">
              <a:solidFill>
                <a:srgbClr val="000000"/>
              </a:solidFill>
              <a:latin typeface="Tahoma" charset="0"/>
            </a:endParaRPr>
          </a:p>
          <a:p>
            <a:pPr lvl="1" eaLnBrk="1" hangingPunct="1">
              <a:spcBef>
                <a:spcPts val="550"/>
              </a:spcBef>
              <a:buFont typeface="Tahoma" charset="0"/>
              <a:buChar char="–"/>
            </a:pPr>
            <a:r>
              <a:rPr lang="en-US" sz="2200">
                <a:solidFill>
                  <a:srgbClr val="000000"/>
                </a:solidFill>
                <a:latin typeface="Tahoma" charset="0"/>
              </a:rPr>
              <a:t>Must be declared above the 'main' code</a:t>
            </a:r>
          </a:p>
          <a:p>
            <a:pPr lvl="1" eaLnBrk="1" hangingPunct="1">
              <a:spcBef>
                <a:spcPts val="550"/>
              </a:spcBef>
              <a:buFont typeface="Tahoma" charset="0"/>
              <a:buChar char="–"/>
            </a:pPr>
            <a:r>
              <a:rPr lang="en-US" sz="2200">
                <a:solidFill>
                  <a:srgbClr val="000000"/>
                </a:solidFill>
                <a:latin typeface="Tahoma" charset="0"/>
              </a:rPr>
              <a:t>Statements inside the function must be indented</a:t>
            </a:r>
          </a:p>
          <a:p>
            <a:pPr lvl="1" eaLnBrk="1" hangingPunct="1">
              <a:lnSpc>
                <a:spcPct val="57000"/>
              </a:lnSpc>
              <a:spcBef>
                <a:spcPts val="550"/>
              </a:spcBef>
              <a:buClrTx/>
              <a:buFontTx/>
              <a:buNone/>
            </a:pPr>
            <a:endParaRPr lang="en-US" sz="2200">
              <a:solidFill>
                <a:srgbClr val="000000"/>
              </a:solidFill>
              <a:latin typeface="Tahoma" charset="0"/>
            </a:endParaRPr>
          </a:p>
        </p:txBody>
      </p:sp>
      <p:graphicFrame>
        <p:nvGraphicFramePr>
          <p:cNvPr id="15363" name="Group 3"/>
          <p:cNvGraphicFramePr>
            <a:graphicFrameLocks noGrp="1"/>
          </p:cNvGraphicFramePr>
          <p:nvPr/>
        </p:nvGraphicFramePr>
        <p:xfrm>
          <a:off x="4094163" y="1981200"/>
          <a:ext cx="4670425" cy="2480213"/>
        </p:xfrm>
        <a:graphic>
          <a:graphicData uri="http://schemas.openxmlformats.org/drawingml/2006/table">
            <a:tbl>
              <a:tblPr/>
              <a:tblGrid>
                <a:gridCol w="461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8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350">
                <a:tc gridSpan="2">
                  <a:txBody>
                    <a:bodyPr/>
                    <a:lstStyle/>
                    <a:p>
                      <a:pPr marL="106363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charset="0"/>
                          <a:ea typeface="SimSun" charset="-122"/>
                        </a:rPr>
                        <a:t>hello2.py</a:t>
                      </a:r>
                    </a:p>
                  </a:txBody>
                  <a:tcPr marL="41400" marR="41400" marT="41400" marB="41400" horzOverflow="overflow">
                    <a:lnL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66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1525">
                <a:tc>
                  <a:txBody>
                    <a:bodyPr/>
                    <a:lstStyle/>
                    <a:p>
                      <a:pPr marL="106363" marR="0" lvl="0" indent="0" algn="r" defTabSz="457200" rtl="0" eaLnBrk="1" fontAlgn="base" latinLnBrk="0" hangingPunct="1">
                        <a:lnSpc>
                          <a:spcPct val="6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1</a:t>
                      </a:r>
                    </a:p>
                    <a:p>
                      <a:pPr marL="106363" marR="0" lvl="0" indent="0" algn="r" defTabSz="457200" rtl="0" eaLnBrk="1" fontAlgn="base" latinLnBrk="0" hangingPunct="1">
                        <a:lnSpc>
                          <a:spcPct val="6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2</a:t>
                      </a:r>
                    </a:p>
                    <a:p>
                      <a:pPr marL="106363" marR="0" lvl="0" indent="0" algn="r" defTabSz="457200" rtl="0" eaLnBrk="1" fontAlgn="base" latinLnBrk="0" hangingPunct="1">
                        <a:lnSpc>
                          <a:spcPct val="6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3</a:t>
                      </a:r>
                    </a:p>
                    <a:p>
                      <a:pPr marL="106363" marR="0" lvl="0" indent="0" algn="r" defTabSz="457200" rtl="0" eaLnBrk="1" fontAlgn="base" latinLnBrk="0" hangingPunct="1">
                        <a:lnSpc>
                          <a:spcPct val="6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4</a:t>
                      </a:r>
                    </a:p>
                    <a:p>
                      <a:pPr marL="106363" marR="0" lvl="0" indent="0" algn="r" defTabSz="457200" rtl="0" eaLnBrk="1" fontAlgn="base" latinLnBrk="0" hangingPunct="1">
                        <a:lnSpc>
                          <a:spcPct val="6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5</a:t>
                      </a:r>
                    </a:p>
                    <a:p>
                      <a:pPr marL="106363" marR="0" lvl="0" indent="0" algn="r" defTabSz="457200" rtl="0" eaLnBrk="1" fontAlgn="base" latinLnBrk="0" hangingPunct="1">
                        <a:lnSpc>
                          <a:spcPct val="6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6</a:t>
                      </a:r>
                    </a:p>
                    <a:p>
                      <a:pPr marL="106363" marR="0" lvl="0" indent="0" algn="r" defTabSz="457200" rtl="0" eaLnBrk="1" fontAlgn="base" latinLnBrk="0" hangingPunct="1">
                        <a:lnSpc>
                          <a:spcPct val="6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7</a:t>
                      </a:r>
                    </a:p>
                  </a:txBody>
                  <a:tcPr marL="41400" marR="82800" marT="291276" marB="207360" horzOverflow="overflow">
                    <a:lnL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0" indent="0" algn="l" defTabSz="457200" rtl="0" eaLnBrk="1" fontAlgn="base" latinLnBrk="0" hangingPunct="1">
                        <a:lnSpc>
                          <a:spcPct val="6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80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# Prints a helpful message.</a:t>
                      </a:r>
                    </a:p>
                    <a:p>
                      <a:pPr marL="106363" marR="0" lvl="0" indent="0" algn="l" defTabSz="457200" rtl="0" eaLnBrk="1" fontAlgn="base" latinLnBrk="0" hangingPunct="1">
                        <a:lnSpc>
                          <a:spcPct val="6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def hello():</a:t>
                      </a:r>
                    </a:p>
                    <a:p>
                      <a:pPr marL="106363" marR="0" lvl="0" indent="0" algn="l" defTabSz="457200" rtl="0" eaLnBrk="1" fontAlgn="base" latinLnBrk="0" hangingPunct="1">
                        <a:lnSpc>
                          <a:spcPct val="6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    print("Hello, world!")</a:t>
                      </a:r>
                    </a:p>
                    <a:p>
                      <a:pPr marL="106363" marR="0" lvl="0" indent="0" algn="l" defTabSz="457200" rtl="0" eaLnBrk="1" fontAlgn="base" latinLnBrk="0" hangingPunct="1">
                        <a:lnSpc>
                          <a:spcPct val="6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charset="0"/>
                        <a:ea typeface="SimSun" charset="-122"/>
                      </a:endParaRPr>
                    </a:p>
                    <a:p>
                      <a:pPr marL="106363" marR="0" lvl="0" indent="0" algn="l" defTabSz="457200" rtl="0" eaLnBrk="1" fontAlgn="base" latinLnBrk="0" hangingPunct="1">
                        <a:lnSpc>
                          <a:spcPct val="6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80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# main (calls hello twice)</a:t>
                      </a:r>
                    </a:p>
                    <a:p>
                      <a:pPr marL="106363" marR="0" lvl="0" indent="0" algn="l" defTabSz="457200" rtl="0" eaLnBrk="1" fontAlgn="base" latinLnBrk="0" hangingPunct="1">
                        <a:lnSpc>
                          <a:spcPct val="6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hello()</a:t>
                      </a:r>
                    </a:p>
                    <a:p>
                      <a:pPr marL="106363" marR="0" lvl="0" indent="0" algn="l" defTabSz="457200" rtl="0" eaLnBrk="1" fontAlgn="base" latinLnBrk="0" hangingPunct="1">
                        <a:lnSpc>
                          <a:spcPct val="6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hello()</a:t>
                      </a:r>
                    </a:p>
                  </a:txBody>
                  <a:tcPr marL="41400" marR="165960" marT="291276" marB="207360" horzOverflow="overflow">
                    <a:lnL>
                      <a:noFill/>
                    </a:lnL>
                    <a:lnR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22166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1"/>
          <p:cNvSpPr txBox="1">
            <a:spLocks noChangeArrowheads="1"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37931725" indent="-37474525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sz="4400" b="1">
                <a:solidFill>
                  <a:srgbClr val="FFFFFF"/>
                </a:solidFill>
                <a:latin typeface="Tahoma" charset="0"/>
              </a:rPr>
              <a:t>Whitespace Significance</a:t>
            </a:r>
          </a:p>
        </p:txBody>
      </p:sp>
      <p:sp>
        <p:nvSpPr>
          <p:cNvPr id="61443" name="Text Box 2"/>
          <p:cNvSpPr txBox="1">
            <a:spLocks noChangeArrowheads="1"/>
          </p:cNvSpPr>
          <p:nvPr/>
        </p:nvSpPr>
        <p:spPr bwMode="auto">
          <a:xfrm>
            <a:off x="304800" y="1295400"/>
            <a:ext cx="8686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1313" indent="-341313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1pPr>
            <a:lvl2pPr marL="741363" indent="-284163"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2pPr>
            <a:lvl3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3pPr>
            <a:lvl4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4pPr>
            <a:lvl5pPr eaLnBrk="0" hangingPunct="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Arial" charset="0"/>
                <a:ea typeface="SimSun" charset="-122"/>
              </a:defRPr>
            </a:lvl9pPr>
          </a:lstStyle>
          <a:p>
            <a:pPr eaLnBrk="1" hangingPunct="1">
              <a:spcBef>
                <a:spcPts val="600"/>
              </a:spcBef>
              <a:buFont typeface="Tahoma" charset="0"/>
              <a:buChar char="•"/>
            </a:pPr>
            <a:r>
              <a:rPr lang="en-US">
                <a:solidFill>
                  <a:srgbClr val="000000"/>
                </a:solidFill>
                <a:latin typeface="Tahoma" charset="0"/>
              </a:rPr>
              <a:t>Python uses indentation to indicate blocks, instead of </a:t>
            </a:r>
            <a:r>
              <a:rPr lang="en-US">
                <a:solidFill>
                  <a:srgbClr val="000000"/>
                </a:solidFill>
                <a:latin typeface="Courier New" charset="0"/>
              </a:rPr>
              <a:t>{}</a:t>
            </a:r>
          </a:p>
          <a:p>
            <a:pPr lvl="1" eaLnBrk="1" hangingPunct="1">
              <a:spcBef>
                <a:spcPts val="550"/>
              </a:spcBef>
              <a:buFont typeface="Tahoma" charset="0"/>
              <a:buChar char="–"/>
            </a:pPr>
            <a:r>
              <a:rPr lang="en-US" sz="2200">
                <a:solidFill>
                  <a:srgbClr val="000000"/>
                </a:solidFill>
                <a:latin typeface="Tahoma" charset="0"/>
              </a:rPr>
              <a:t>Makes the code simpler and more readable</a:t>
            </a:r>
          </a:p>
          <a:p>
            <a:pPr lvl="1" eaLnBrk="1" hangingPunct="1">
              <a:spcBef>
                <a:spcPts val="550"/>
              </a:spcBef>
              <a:buFont typeface="Tahoma" charset="0"/>
              <a:buChar char="–"/>
            </a:pPr>
            <a:r>
              <a:rPr lang="en-US" sz="2200">
                <a:solidFill>
                  <a:srgbClr val="000000"/>
                </a:solidFill>
                <a:latin typeface="Tahoma" charset="0"/>
              </a:rPr>
              <a:t>In Java, indenting is optional.  In Python, you </a:t>
            </a:r>
            <a:r>
              <a:rPr lang="en-US" sz="2200" b="1">
                <a:solidFill>
                  <a:srgbClr val="000000"/>
                </a:solidFill>
                <a:latin typeface="Tahoma" charset="0"/>
              </a:rPr>
              <a:t>must</a:t>
            </a:r>
            <a:r>
              <a:rPr lang="en-US" sz="2200">
                <a:solidFill>
                  <a:srgbClr val="000000"/>
                </a:solidFill>
                <a:latin typeface="Tahoma" charset="0"/>
              </a:rPr>
              <a:t> indent.</a:t>
            </a:r>
          </a:p>
          <a:p>
            <a:pPr lvl="1" eaLnBrk="1" hangingPunct="1">
              <a:spcBef>
                <a:spcPts val="550"/>
              </a:spcBef>
              <a:buFont typeface="Tahoma" charset="0"/>
              <a:buChar char="–"/>
            </a:pPr>
            <a:r>
              <a:rPr lang="en-US" sz="2200">
                <a:solidFill>
                  <a:srgbClr val="000000"/>
                </a:solidFill>
                <a:latin typeface="Tahoma" charset="0"/>
              </a:rPr>
              <a:t>You may use either tabs or spaces, but you </a:t>
            </a:r>
            <a:r>
              <a:rPr lang="en-US" sz="2200" b="1">
                <a:solidFill>
                  <a:srgbClr val="000000"/>
                </a:solidFill>
                <a:latin typeface="Tahoma" charset="0"/>
              </a:rPr>
              <a:t>must </a:t>
            </a:r>
            <a:r>
              <a:rPr lang="en-US" sz="2200">
                <a:solidFill>
                  <a:srgbClr val="000000"/>
                </a:solidFill>
                <a:latin typeface="Tahoma" charset="0"/>
              </a:rPr>
              <a:t>be consistent</a:t>
            </a:r>
          </a:p>
        </p:txBody>
      </p:sp>
      <p:graphicFrame>
        <p:nvGraphicFramePr>
          <p:cNvPr id="16387" name="Group 3"/>
          <p:cNvGraphicFramePr>
            <a:graphicFrameLocks noGrp="1"/>
          </p:cNvGraphicFramePr>
          <p:nvPr/>
        </p:nvGraphicFramePr>
        <p:xfrm>
          <a:off x="2209800" y="3409950"/>
          <a:ext cx="4822825" cy="2716560"/>
        </p:xfrm>
        <a:graphic>
          <a:graphicData uri="http://schemas.openxmlformats.org/drawingml/2006/table">
            <a:tbl>
              <a:tblPr/>
              <a:tblGrid>
                <a:gridCol w="45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350">
                <a:tc gridSpan="2">
                  <a:txBody>
                    <a:bodyPr/>
                    <a:lstStyle/>
                    <a:p>
                      <a:pPr marL="106363" marR="0" lvl="0" indent="0" algn="l" defTabSz="457200" rtl="0" eaLnBrk="1" fontAlgn="base" latinLnBrk="0" hangingPunct="1">
                        <a:lnSpc>
                          <a:spcPct val="101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charset="0"/>
                          <a:ea typeface="SimSun" charset="-122"/>
                        </a:rPr>
                        <a:t>hello3.py</a:t>
                      </a:r>
                    </a:p>
                  </a:txBody>
                  <a:tcPr marL="41400" marR="41400" marT="41400" marB="41400" horzOverflow="overflow">
                    <a:lnL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66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2825">
                <a:tc>
                  <a:txBody>
                    <a:bodyPr/>
                    <a:lstStyle/>
                    <a:p>
                      <a:pPr marL="106363" marR="0" lvl="0" indent="0" algn="r" defTabSz="457200" rtl="0" eaLnBrk="1" fontAlgn="base" latinLnBrk="0" hangingPunct="1">
                        <a:lnSpc>
                          <a:spcPct val="6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1</a:t>
                      </a:r>
                    </a:p>
                    <a:p>
                      <a:pPr marL="106363" marR="0" lvl="0" indent="0" algn="r" defTabSz="457200" rtl="0" eaLnBrk="1" fontAlgn="base" latinLnBrk="0" hangingPunct="1">
                        <a:lnSpc>
                          <a:spcPct val="6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2</a:t>
                      </a:r>
                    </a:p>
                    <a:p>
                      <a:pPr marL="106363" marR="0" lvl="0" indent="0" algn="r" defTabSz="457200" rtl="0" eaLnBrk="1" fontAlgn="base" latinLnBrk="0" hangingPunct="1">
                        <a:lnSpc>
                          <a:spcPct val="6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3</a:t>
                      </a:r>
                    </a:p>
                    <a:p>
                      <a:pPr marL="106363" marR="0" lvl="0" indent="0" algn="r" defTabSz="457200" rtl="0" eaLnBrk="1" fontAlgn="base" latinLnBrk="0" hangingPunct="1">
                        <a:lnSpc>
                          <a:spcPct val="6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4</a:t>
                      </a:r>
                    </a:p>
                    <a:p>
                      <a:pPr marL="106363" marR="0" lvl="0" indent="0" algn="r" defTabSz="457200" rtl="0" eaLnBrk="1" fontAlgn="base" latinLnBrk="0" hangingPunct="1">
                        <a:lnSpc>
                          <a:spcPct val="6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5</a:t>
                      </a:r>
                    </a:p>
                    <a:p>
                      <a:pPr marL="106363" marR="0" lvl="0" indent="0" algn="r" defTabSz="457200" rtl="0" eaLnBrk="1" fontAlgn="base" latinLnBrk="0" hangingPunct="1">
                        <a:lnSpc>
                          <a:spcPct val="6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6</a:t>
                      </a:r>
                    </a:p>
                    <a:p>
                      <a:pPr marL="106363" marR="0" lvl="0" indent="0" algn="r" defTabSz="457200" rtl="0" eaLnBrk="1" fontAlgn="base" latinLnBrk="0" hangingPunct="1">
                        <a:lnSpc>
                          <a:spcPct val="6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7</a:t>
                      </a:r>
                    </a:p>
                    <a:p>
                      <a:pPr marL="106363" marR="0" lvl="0" indent="0" algn="r" defTabSz="457200" rtl="0" eaLnBrk="1" fontAlgn="base" latinLnBrk="0" hangingPunct="1">
                        <a:lnSpc>
                          <a:spcPct val="6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8</a:t>
                      </a:r>
                    </a:p>
                  </a:txBody>
                  <a:tcPr marL="41400" marR="82800" marT="291276" marB="207360" horzOverflow="overflow">
                    <a:lnL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784A3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0" indent="0" algn="l" defTabSz="457200" rtl="0" eaLnBrk="1" fontAlgn="base" latinLnBrk="0" hangingPunct="1">
                        <a:lnSpc>
                          <a:spcPct val="6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80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# Prints a welcoming message.</a:t>
                      </a:r>
                    </a:p>
                    <a:p>
                      <a:pPr marL="106363" marR="0" lvl="0" indent="0" algn="l" defTabSz="457200" rtl="0" eaLnBrk="1" fontAlgn="base" latinLnBrk="0" hangingPunct="1">
                        <a:lnSpc>
                          <a:spcPct val="6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def hello():</a:t>
                      </a:r>
                    </a:p>
                    <a:p>
                      <a:pPr marL="106363" marR="0" lvl="0" indent="0" algn="l" defTabSz="457200" rtl="0" eaLnBrk="1" fontAlgn="base" latinLnBrk="0" hangingPunct="1">
                        <a:lnSpc>
                          <a:spcPct val="6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    print("Hello, world!")</a:t>
                      </a:r>
                    </a:p>
                    <a:p>
                      <a:pPr marL="106363" marR="0" lvl="0" indent="0" algn="l" defTabSz="457200" rtl="0" eaLnBrk="1" fontAlgn="base" latinLnBrk="0" hangingPunct="1">
                        <a:lnSpc>
                          <a:spcPct val="6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    print("How are you?")</a:t>
                      </a:r>
                    </a:p>
                    <a:p>
                      <a:pPr marL="106363" marR="0" lvl="0" indent="0" algn="l" defTabSz="457200" rtl="0" eaLnBrk="1" fontAlgn="base" latinLnBrk="0" hangingPunct="1">
                        <a:lnSpc>
                          <a:spcPct val="6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charset="0"/>
                        <a:ea typeface="SimSun" charset="-122"/>
                      </a:endParaRPr>
                    </a:p>
                    <a:p>
                      <a:pPr marL="106363" marR="0" lvl="0" indent="0" algn="l" defTabSz="457200" rtl="0" eaLnBrk="1" fontAlgn="base" latinLnBrk="0" hangingPunct="1">
                        <a:lnSpc>
                          <a:spcPct val="6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80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# main (calls hello twice)</a:t>
                      </a:r>
                    </a:p>
                    <a:p>
                      <a:pPr marL="106363" marR="0" lvl="0" indent="0" algn="l" defTabSz="457200" rtl="0" eaLnBrk="1" fontAlgn="base" latinLnBrk="0" hangingPunct="1">
                        <a:lnSpc>
                          <a:spcPct val="6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hello()</a:t>
                      </a:r>
                    </a:p>
                    <a:p>
                      <a:pPr marL="106363" marR="0" lvl="0" indent="0" algn="l" defTabSz="457200" rtl="0" eaLnBrk="1" fontAlgn="base" latinLnBrk="0" hangingPunct="1">
                        <a:lnSpc>
                          <a:spcPct val="6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06363" algn="l"/>
                          <a:tab pos="1020763" algn="l"/>
                          <a:tab pos="1935163" algn="l"/>
                          <a:tab pos="2849563" algn="l"/>
                          <a:tab pos="3763963" algn="l"/>
                          <a:tab pos="4678363" algn="l"/>
                          <a:tab pos="5592763" algn="l"/>
                          <a:tab pos="6507163" algn="l"/>
                          <a:tab pos="7421563" algn="l"/>
                          <a:tab pos="8335963" algn="l"/>
                          <a:tab pos="9250363" algn="l"/>
                          <a:tab pos="10164763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SimSun" charset="-122"/>
                        </a:rPr>
                        <a:t>hello()</a:t>
                      </a:r>
                    </a:p>
                  </a:txBody>
                  <a:tcPr marL="41400" marR="165960" marT="291276" marB="207360" horzOverflow="overflow">
                    <a:lnL>
                      <a:noFill/>
                    </a:lnL>
                    <a:lnR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60" cap="flat" cmpd="sng" algn="ctr">
                      <a:solidFill>
                        <a:srgbClr val="CC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1453" name="Group 15"/>
          <p:cNvGrpSpPr>
            <a:grpSpLocks/>
          </p:cNvGrpSpPr>
          <p:nvPr/>
        </p:nvGrpSpPr>
        <p:grpSpPr bwMode="auto">
          <a:xfrm>
            <a:off x="2843213" y="4676775"/>
            <a:ext cx="482600" cy="276225"/>
            <a:chOff x="1791" y="2496"/>
            <a:chExt cx="304" cy="174"/>
          </a:xfrm>
        </p:grpSpPr>
        <p:sp>
          <p:nvSpPr>
            <p:cNvPr id="61454" name="Line 16"/>
            <p:cNvSpPr>
              <a:spLocks noChangeShapeType="1"/>
            </p:cNvSpPr>
            <p:nvPr/>
          </p:nvSpPr>
          <p:spPr bwMode="auto">
            <a:xfrm>
              <a:off x="1791" y="2496"/>
              <a:ext cx="305" cy="1"/>
            </a:xfrm>
            <a:prstGeom prst="line">
              <a:avLst/>
            </a:prstGeom>
            <a:noFill/>
            <a:ln w="101520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61455" name="Line 17"/>
            <p:cNvSpPr>
              <a:spLocks noChangeShapeType="1"/>
            </p:cNvSpPr>
            <p:nvPr/>
          </p:nvSpPr>
          <p:spPr bwMode="auto">
            <a:xfrm>
              <a:off x="1791" y="2671"/>
              <a:ext cx="305" cy="1"/>
            </a:xfrm>
            <a:prstGeom prst="line">
              <a:avLst/>
            </a:prstGeom>
            <a:noFill/>
            <a:ln w="101520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MY"/>
            </a:p>
          </p:txBody>
        </p:sp>
      </p:grpSp>
    </p:spTree>
    <p:extLst>
      <p:ext uri="{BB962C8B-B14F-4D97-AF65-F5344CB8AC3E}">
        <p14:creationId xmlns:p14="http://schemas.microsoft.com/office/powerpoint/2010/main" val="22911070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51b296eb4fa539b8c42bd881cb7173c05e58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96</TotalTime>
  <Words>986</Words>
  <Application>Microsoft Office PowerPoint</Application>
  <PresentationFormat>On-screen Show (4:3)</PresentationFormat>
  <Paragraphs>216</Paragraphs>
  <Slides>21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SimSun</vt:lpstr>
      <vt:lpstr>Andale Mono</vt:lpstr>
      <vt:lpstr>Arial</vt:lpstr>
      <vt:lpstr>Calibri</vt:lpstr>
      <vt:lpstr>Courier</vt:lpstr>
      <vt:lpstr>Courier New</vt:lpstr>
      <vt:lpstr>Impact</vt:lpstr>
      <vt:lpstr>Tahoma</vt:lpstr>
      <vt:lpstr>Times New Roman</vt:lpstr>
      <vt:lpstr>NewsPrint</vt:lpstr>
      <vt:lpstr>Introduction to Python Programming </vt:lpstr>
      <vt:lpstr>What is Python?</vt:lpstr>
      <vt:lpstr>What can Python do?</vt:lpstr>
      <vt:lpstr>Basic Principles of Python</vt:lpstr>
      <vt:lpstr>PowerPoint Presentation</vt:lpstr>
      <vt:lpstr>PowerPoint Presentation</vt:lpstr>
      <vt:lpstr>PowerPoint Presentation</vt:lpstr>
      <vt:lpstr>PowerPoint Presentation</vt:lpstr>
      <vt:lpstr>Installing and Python Environment Setup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Python Programming</dc:title>
  <dc:creator>ROHANI</dc:creator>
  <cp:lastModifiedBy>Rohani binti. Abu Bakar</cp:lastModifiedBy>
  <cp:revision>10</cp:revision>
  <dcterms:created xsi:type="dcterms:W3CDTF">2021-03-08T16:04:41Z</dcterms:created>
  <dcterms:modified xsi:type="dcterms:W3CDTF">2021-03-09T04:18:04Z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TC100690501033</vt:lpwstr>
  </property>
</Properties>
</file>