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7"/>
  </p:notesMasterIdLst>
  <p:handoutMasterIdLst>
    <p:handoutMasterId r:id="rId28"/>
  </p:handoutMasterIdLst>
  <p:sldIdLst>
    <p:sldId id="339" r:id="rId2"/>
    <p:sldId id="340" r:id="rId3"/>
    <p:sldId id="417" r:id="rId4"/>
    <p:sldId id="418" r:id="rId5"/>
    <p:sldId id="419" r:id="rId6"/>
    <p:sldId id="421" r:id="rId7"/>
    <p:sldId id="422" r:id="rId8"/>
    <p:sldId id="431" r:id="rId9"/>
    <p:sldId id="423" r:id="rId10"/>
    <p:sldId id="424" r:id="rId11"/>
    <p:sldId id="425" r:id="rId12"/>
    <p:sldId id="426" r:id="rId13"/>
    <p:sldId id="432" r:id="rId14"/>
    <p:sldId id="427" r:id="rId15"/>
    <p:sldId id="428" r:id="rId16"/>
    <p:sldId id="434" r:id="rId17"/>
    <p:sldId id="435" r:id="rId18"/>
    <p:sldId id="429" r:id="rId19"/>
    <p:sldId id="430" r:id="rId20"/>
    <p:sldId id="438" r:id="rId21"/>
    <p:sldId id="439" r:id="rId22"/>
    <p:sldId id="436" r:id="rId23"/>
    <p:sldId id="440" r:id="rId24"/>
    <p:sldId id="437" r:id="rId25"/>
    <p:sldId id="416" r:id="rId26"/>
  </p:sldIdLst>
  <p:sldSz cx="9144000" cy="6858000" type="screen4x3"/>
  <p:notesSz cx="7124700" cy="9410700"/>
  <p:custDataLst>
    <p:tags r:id="rId29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son Nufryk" initials="JN" lastIdx="1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85BF"/>
    <a:srgbClr val="0000FF"/>
    <a:srgbClr val="000080"/>
    <a:srgbClr val="008000"/>
    <a:srgbClr val="808080"/>
    <a:srgbClr val="009200"/>
    <a:srgbClr val="003296"/>
    <a:srgbClr val="006600"/>
    <a:srgbClr val="262CBE"/>
    <a:srgbClr val="C65F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3" autoAdjust="0"/>
    <p:restoredTop sz="95349" autoAdjust="0"/>
  </p:normalViewPr>
  <p:slideViewPr>
    <p:cSldViewPr>
      <p:cViewPr varScale="1">
        <p:scale>
          <a:sx n="62" d="100"/>
          <a:sy n="62" d="100"/>
        </p:scale>
        <p:origin x="81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712"/>
    </p:cViewPr>
    <p:sldLst>
      <p:sld r:id="rId1" collapse="1"/>
      <p:sld r:id="rId2" collapse="1"/>
    </p:sldLst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commentAuthors" Target="commentAuthors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2.xml"/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87688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945" tIns="46973" rIns="93945" bIns="46973" numCol="1" anchor="t" anchorCtr="0" compatLnSpc="1">
            <a:prstTxWarp prst="textNoShape">
              <a:avLst/>
            </a:prstTxWarp>
          </a:bodyPr>
          <a:lstStyle>
            <a:lvl1pPr defTabSz="939800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37013" y="0"/>
            <a:ext cx="3087687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945" tIns="46973" rIns="93945" bIns="46973" numCol="1" anchor="t" anchorCtr="0" compatLnSpc="1">
            <a:prstTxWarp prst="textNoShape">
              <a:avLst/>
            </a:prstTxWarp>
          </a:bodyPr>
          <a:lstStyle>
            <a:lvl1pPr algn="r" defTabSz="939800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46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39213"/>
            <a:ext cx="3087688" cy="47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945" tIns="46973" rIns="93945" bIns="46973" numCol="1" anchor="b" anchorCtr="0" compatLnSpc="1">
            <a:prstTxWarp prst="textNoShape">
              <a:avLst/>
            </a:prstTxWarp>
          </a:bodyPr>
          <a:lstStyle>
            <a:lvl1pPr defTabSz="939800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46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37013" y="8939213"/>
            <a:ext cx="3087687" cy="47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945" tIns="46973" rIns="93945" bIns="46973" numCol="1" anchor="b" anchorCtr="0" compatLnSpc="1">
            <a:prstTxWarp prst="textNoShape">
              <a:avLst/>
            </a:prstTxWarp>
          </a:bodyPr>
          <a:lstStyle>
            <a:lvl1pPr algn="r" defTabSz="939800" eaLnBrk="1" hangingPunct="1">
              <a:defRPr sz="1200"/>
            </a:lvl1pPr>
          </a:lstStyle>
          <a:p>
            <a:fld id="{54468ECD-3F9F-4607-9126-8A2A84C676E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46507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87688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945" tIns="46973" rIns="93945" bIns="46973" numCol="1" anchor="t" anchorCtr="0" compatLnSpc="1">
            <a:prstTxWarp prst="textNoShape">
              <a:avLst/>
            </a:prstTxWarp>
          </a:bodyPr>
          <a:lstStyle>
            <a:lvl1pPr defTabSz="939800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35425" y="0"/>
            <a:ext cx="3087688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945" tIns="46973" rIns="93945" bIns="46973" numCol="1" anchor="t" anchorCtr="0" compatLnSpc="1">
            <a:prstTxWarp prst="textNoShape">
              <a:avLst/>
            </a:prstTxWarp>
          </a:bodyPr>
          <a:lstStyle>
            <a:lvl1pPr algn="r" defTabSz="939800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09675" y="704850"/>
            <a:ext cx="4705350" cy="35290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2788" y="4470400"/>
            <a:ext cx="5699125" cy="423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945" tIns="46973" rIns="93945" bIns="4697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37625"/>
            <a:ext cx="3087688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945" tIns="46973" rIns="93945" bIns="46973" numCol="1" anchor="b" anchorCtr="0" compatLnSpc="1">
            <a:prstTxWarp prst="textNoShape">
              <a:avLst/>
            </a:prstTxWarp>
          </a:bodyPr>
          <a:lstStyle>
            <a:lvl1pPr defTabSz="939800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35425" y="8937625"/>
            <a:ext cx="3087688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945" tIns="46973" rIns="93945" bIns="46973" numCol="1" anchor="b" anchorCtr="0" compatLnSpc="1">
            <a:prstTxWarp prst="textNoShape">
              <a:avLst/>
            </a:prstTxWarp>
          </a:bodyPr>
          <a:lstStyle>
            <a:lvl1pPr algn="r" defTabSz="939800" eaLnBrk="1" hangingPunct="1">
              <a:defRPr sz="1200"/>
            </a:lvl1pPr>
          </a:lstStyle>
          <a:p>
            <a:fld id="{10C158CD-F9BA-4A66-AAB6-9223F657A8A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766867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3980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3980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3980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3980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398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398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398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398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E8017563-211D-4CBE-ACCD-B8C798F09A58}" type="slidenum">
              <a:rPr lang="en-US" altLang="en-US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7000924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3980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3980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3980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3980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398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398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398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398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B1FC477B-C84B-4B92-BE7E-84B2E73A852D}" type="slidenum">
              <a:rPr lang="en-US" altLang="en-US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8623171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3980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3980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3980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3980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398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398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398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398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D0B3DE5D-AA2F-43F4-B4FA-C5228DC431AB}" type="slidenum">
              <a:rPr lang="en-US" altLang="en-US"/>
              <a:pPr>
                <a:spcBef>
                  <a:spcPct val="0"/>
                </a:spcBef>
              </a:pPr>
              <a:t>25</a:t>
            </a:fld>
            <a:endParaRPr lang="en-US" altLang="en-US"/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7928904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396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 b="1" i="0"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Clr>
                <a:srgbClr val="009DDC"/>
              </a:buClr>
              <a:buFont typeface="Wingdings" pitchFamily="2" charset="2"/>
              <a:buChar char="§"/>
              <a:defRPr sz="1600" b="1"/>
            </a:lvl1pPr>
            <a:lvl2pPr marL="742950" indent="-285750">
              <a:buClr>
                <a:srgbClr val="009DDC"/>
              </a:buClr>
              <a:buFont typeface="Wingdings" pitchFamily="2" charset="2"/>
              <a:buChar char="§"/>
              <a:defRPr sz="1400"/>
            </a:lvl2pPr>
            <a:lvl3pPr marL="1143000" indent="-228600">
              <a:buClr>
                <a:srgbClr val="009DDC"/>
              </a:buClr>
              <a:buFont typeface="Wingdings" pitchFamily="2" charset="2"/>
              <a:buChar char="§"/>
              <a:defRPr sz="1100"/>
            </a:lvl3pPr>
            <a:lvl4pPr marL="1600200" indent="-228600">
              <a:buClr>
                <a:srgbClr val="009DDC"/>
              </a:buClr>
              <a:buFont typeface="Wingdings" pitchFamily="2" charset="2"/>
              <a:buChar char="§"/>
              <a:defRPr sz="1100"/>
            </a:lvl4pPr>
            <a:lvl5pPr marL="2057400" indent="-228600">
              <a:buClr>
                <a:srgbClr val="009DDC"/>
              </a:buClr>
              <a:buFont typeface="Wingdings" pitchFamily="2" charset="2"/>
              <a:buChar char="§"/>
              <a:defRPr sz="11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111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36325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 b="1" i="0"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60450"/>
            <a:ext cx="4038600" cy="5340350"/>
          </a:xfrm>
        </p:spPr>
        <p:txBody>
          <a:bodyPr/>
          <a:lstStyle>
            <a:lvl1pPr marL="342900" indent="-342900">
              <a:buClr>
                <a:srgbClr val="009DDC"/>
              </a:buClr>
              <a:buFont typeface="Wingdings" pitchFamily="2" charset="2"/>
              <a:buChar char="§"/>
              <a:defRPr sz="1600" b="1"/>
            </a:lvl1pPr>
            <a:lvl2pPr marL="742950" indent="-285750">
              <a:buClr>
                <a:srgbClr val="009DDC"/>
              </a:buClr>
              <a:buFont typeface="Wingdings" pitchFamily="2" charset="2"/>
              <a:buChar char="§"/>
              <a:defRPr sz="1400"/>
            </a:lvl2pPr>
            <a:lvl3pPr marL="1143000" indent="-228600">
              <a:buClr>
                <a:srgbClr val="009DDC"/>
              </a:buClr>
              <a:buFont typeface="Wingdings" pitchFamily="2" charset="2"/>
              <a:buChar char="§"/>
              <a:defRPr sz="1100"/>
            </a:lvl3pPr>
            <a:lvl4pPr marL="1600200" indent="-228600">
              <a:buClr>
                <a:srgbClr val="009DDC"/>
              </a:buClr>
              <a:buFont typeface="Wingdings" pitchFamily="2" charset="2"/>
              <a:buChar char="§"/>
              <a:defRPr sz="1100"/>
            </a:lvl4pPr>
            <a:lvl5pPr marL="2057400" indent="-228600">
              <a:buClr>
                <a:srgbClr val="009DDC"/>
              </a:buClr>
              <a:buFont typeface="Wingdings" pitchFamily="2" charset="2"/>
              <a:buChar char="§"/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60450"/>
            <a:ext cx="4038600" cy="5340350"/>
          </a:xfrm>
        </p:spPr>
        <p:txBody>
          <a:bodyPr/>
          <a:lstStyle>
            <a:lvl1pPr marL="342900" indent="-342900">
              <a:buClr>
                <a:srgbClr val="009DDC"/>
              </a:buClr>
              <a:buFont typeface="Wingdings" pitchFamily="2" charset="2"/>
              <a:buChar char="§"/>
              <a:defRPr sz="1600" b="1"/>
            </a:lvl1pPr>
            <a:lvl2pPr marL="742950" indent="-285750">
              <a:buClr>
                <a:srgbClr val="009DDC"/>
              </a:buClr>
              <a:buFont typeface="Wingdings" pitchFamily="2" charset="2"/>
              <a:buChar char="§"/>
              <a:defRPr sz="1400"/>
            </a:lvl2pPr>
            <a:lvl3pPr marL="1143000" indent="-228600">
              <a:buClr>
                <a:srgbClr val="009DDC"/>
              </a:buClr>
              <a:buFont typeface="Wingdings" pitchFamily="2" charset="2"/>
              <a:buChar char="§"/>
              <a:defRPr sz="1100"/>
            </a:lvl3pPr>
            <a:lvl4pPr marL="1600200" indent="-228600">
              <a:buClr>
                <a:srgbClr val="009DDC"/>
              </a:buClr>
              <a:buFont typeface="Wingdings" pitchFamily="2" charset="2"/>
              <a:buChar char="§"/>
              <a:defRPr sz="1100"/>
            </a:lvl4pPr>
            <a:lvl5pPr marL="2057400" indent="-228600">
              <a:buClr>
                <a:srgbClr val="009DDC"/>
              </a:buClr>
              <a:buFont typeface="Wingdings" pitchFamily="2" charset="2"/>
              <a:buChar char="§"/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399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62000"/>
          </a:xfrm>
        </p:spPr>
        <p:txBody>
          <a:bodyPr/>
          <a:lstStyle>
            <a:lvl1pPr>
              <a:defRPr sz="2400" b="1" i="0"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 marL="342900" indent="-342900">
              <a:buClr>
                <a:srgbClr val="009DDC"/>
              </a:buClr>
              <a:buFont typeface="Wingdings" pitchFamily="2" charset="2"/>
              <a:buChar char="§"/>
              <a:defRPr sz="1600" b="1"/>
            </a:lvl1pPr>
            <a:lvl2pPr marL="742950" indent="-285750">
              <a:buClr>
                <a:srgbClr val="009DDC"/>
              </a:buClr>
              <a:buFont typeface="Wingdings" pitchFamily="2" charset="2"/>
              <a:buChar char="§"/>
              <a:defRPr sz="1400"/>
            </a:lvl2pPr>
            <a:lvl3pPr marL="1143000" indent="-228600">
              <a:buClr>
                <a:srgbClr val="009DDC"/>
              </a:buClr>
              <a:buFont typeface="Wingdings" pitchFamily="2" charset="2"/>
              <a:buChar char="§"/>
              <a:defRPr sz="1100"/>
            </a:lvl3pPr>
            <a:lvl4pPr marL="1600200" indent="-228600">
              <a:buClr>
                <a:srgbClr val="009DDC"/>
              </a:buClr>
              <a:buFont typeface="Wingdings" pitchFamily="2" charset="2"/>
              <a:buChar char="§"/>
              <a:defRPr sz="1100"/>
            </a:lvl4pPr>
            <a:lvl5pPr marL="2057400" indent="-228600">
              <a:buClr>
                <a:srgbClr val="009DDC"/>
              </a:buClr>
              <a:buFont typeface="Wingdings" pitchFamily="2" charset="2"/>
              <a:buChar char="§"/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 marL="342900" indent="-342900">
              <a:buClr>
                <a:srgbClr val="009DDC"/>
              </a:buClr>
              <a:buFont typeface="Wingdings" pitchFamily="2" charset="2"/>
              <a:buChar char="§"/>
              <a:defRPr sz="1600" b="1"/>
            </a:lvl1pPr>
            <a:lvl2pPr marL="742950" indent="-285750">
              <a:buClr>
                <a:srgbClr val="009DDC"/>
              </a:buClr>
              <a:buFont typeface="Wingdings" pitchFamily="2" charset="2"/>
              <a:buChar char="§"/>
              <a:defRPr sz="1400"/>
            </a:lvl2pPr>
            <a:lvl3pPr marL="1143000" indent="-228600">
              <a:buClr>
                <a:srgbClr val="009DDC"/>
              </a:buClr>
              <a:buFont typeface="Wingdings" pitchFamily="2" charset="2"/>
              <a:buChar char="§"/>
              <a:defRPr sz="1100"/>
            </a:lvl3pPr>
            <a:lvl4pPr marL="1600200" indent="-228600">
              <a:buClr>
                <a:srgbClr val="009DDC"/>
              </a:buClr>
              <a:buFont typeface="Wingdings" pitchFamily="2" charset="2"/>
              <a:buChar char="§"/>
              <a:defRPr sz="1100"/>
            </a:lvl4pPr>
            <a:lvl5pPr marL="2057400" indent="-228600">
              <a:buClr>
                <a:srgbClr val="009DDC"/>
              </a:buClr>
              <a:buFont typeface="Wingdings" pitchFamily="2" charset="2"/>
              <a:buChar char="§"/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929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 b="1" i="0"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785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46882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098550"/>
          </a:xfrm>
        </p:spPr>
        <p:txBody>
          <a:bodyPr anchor="b"/>
          <a:lstStyle>
            <a:lvl1pPr algn="l">
              <a:defRPr sz="2400" b="1" i="0"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 marL="342900" indent="-342900">
              <a:buClr>
                <a:srgbClr val="009DDC"/>
              </a:buClr>
              <a:buFont typeface="Wingdings" pitchFamily="2" charset="2"/>
              <a:buChar char="§"/>
              <a:defRPr sz="1600" b="1"/>
            </a:lvl1pPr>
            <a:lvl2pPr marL="742950" indent="-285750">
              <a:buClr>
                <a:srgbClr val="009DDC"/>
              </a:buClr>
              <a:buFont typeface="Wingdings" pitchFamily="2" charset="2"/>
              <a:buChar char="§"/>
              <a:defRPr sz="1400"/>
            </a:lvl2pPr>
            <a:lvl3pPr marL="1143000" indent="-228600">
              <a:buClr>
                <a:srgbClr val="009DDC"/>
              </a:buClr>
              <a:buFont typeface="Wingdings" pitchFamily="2" charset="2"/>
              <a:buChar char="§"/>
              <a:defRPr sz="1100"/>
            </a:lvl3pPr>
            <a:lvl4pPr marL="1600200" indent="-228600">
              <a:buClr>
                <a:srgbClr val="009DDC"/>
              </a:buClr>
              <a:buFont typeface="Wingdings" pitchFamily="2" charset="2"/>
              <a:buChar char="§"/>
              <a:defRPr sz="1100"/>
            </a:lvl4pPr>
            <a:lvl5pPr marL="2057400" indent="-228600">
              <a:buClr>
                <a:srgbClr val="009DDC"/>
              </a:buClr>
              <a:buFont typeface="Wingdings" pitchFamily="2" charset="2"/>
              <a:buChar char="§"/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5346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16340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 b="1" i="0"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 marL="342900" indent="-342900">
              <a:buClr>
                <a:srgbClr val="009DDC"/>
              </a:buClr>
              <a:buFont typeface="Wingdings" pitchFamily="2" charset="2"/>
              <a:buChar char="§"/>
              <a:defRPr sz="1600" b="1"/>
            </a:lvl1pPr>
            <a:lvl2pPr marL="742950" indent="-285750">
              <a:buClr>
                <a:srgbClr val="009DDC"/>
              </a:buClr>
              <a:buFont typeface="Wingdings" pitchFamily="2" charset="2"/>
              <a:buChar char="§"/>
              <a:defRPr sz="1400"/>
            </a:lvl2pPr>
            <a:lvl3pPr marL="1143000" indent="-228600">
              <a:buClr>
                <a:srgbClr val="009DDC"/>
              </a:buClr>
              <a:buFont typeface="Wingdings" pitchFamily="2" charset="2"/>
              <a:buChar char="§"/>
              <a:defRPr sz="1100"/>
            </a:lvl3pPr>
            <a:lvl4pPr marL="1600200" indent="-228600">
              <a:buClr>
                <a:srgbClr val="009DDC"/>
              </a:buClr>
              <a:buFont typeface="Wingdings" pitchFamily="2" charset="2"/>
              <a:buChar char="§"/>
              <a:defRPr sz="1100"/>
            </a:lvl4pPr>
            <a:lvl5pPr marL="2057400" indent="-228600">
              <a:buClr>
                <a:srgbClr val="009DDC"/>
              </a:buClr>
              <a:buFont typeface="Wingdings" pitchFamily="2" charset="2"/>
              <a:buChar char="§"/>
              <a:defRPr sz="11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7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1613"/>
            <a:ext cx="2057400" cy="6199187"/>
          </a:xfrm>
        </p:spPr>
        <p:txBody>
          <a:bodyPr vert="eaVert"/>
          <a:lstStyle>
            <a:lvl1pPr>
              <a:defRPr sz="2400" b="1" i="0"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1613"/>
            <a:ext cx="6019800" cy="6199187"/>
          </a:xfrm>
        </p:spPr>
        <p:txBody>
          <a:bodyPr vert="eaVert"/>
          <a:lstStyle>
            <a:lvl1pPr marL="342900" indent="-342900">
              <a:buClr>
                <a:srgbClr val="009DDC"/>
              </a:buClr>
              <a:buFont typeface="Wingdings" pitchFamily="2" charset="2"/>
              <a:buChar char="§"/>
              <a:defRPr sz="1600" b="1"/>
            </a:lvl1pPr>
            <a:lvl2pPr marL="742950" indent="-285750">
              <a:buClr>
                <a:srgbClr val="009DDC"/>
              </a:buClr>
              <a:buFont typeface="Wingdings" pitchFamily="2" charset="2"/>
              <a:buChar char="§"/>
              <a:defRPr sz="1400"/>
            </a:lvl2pPr>
            <a:lvl3pPr marL="1143000" indent="-228600">
              <a:buClr>
                <a:srgbClr val="009DDC"/>
              </a:buClr>
              <a:buFont typeface="Wingdings" pitchFamily="2" charset="2"/>
              <a:buChar char="§"/>
              <a:defRPr sz="1100"/>
            </a:lvl3pPr>
            <a:lvl4pPr marL="1600200" indent="-228600">
              <a:buClr>
                <a:srgbClr val="009DDC"/>
              </a:buClr>
              <a:buFont typeface="Wingdings" pitchFamily="2" charset="2"/>
              <a:buChar char="§"/>
              <a:defRPr sz="1100"/>
            </a:lvl4pPr>
            <a:lvl5pPr marL="2057400" indent="-228600">
              <a:buClr>
                <a:srgbClr val="009DDC"/>
              </a:buClr>
              <a:buFont typeface="Wingdings" pitchFamily="2" charset="2"/>
              <a:buChar char="§"/>
              <a:defRPr sz="11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8486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60450"/>
            <a:ext cx="8229600" cy="534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1613"/>
            <a:ext cx="685323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8" name="Rectangle 13"/>
          <p:cNvSpPr>
            <a:spLocks noChangeArrowheads="1"/>
          </p:cNvSpPr>
          <p:nvPr/>
        </p:nvSpPr>
        <p:spPr bwMode="white">
          <a:xfrm>
            <a:off x="8178800" y="6551613"/>
            <a:ext cx="965200" cy="204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895" tIns="41272" rIns="88895" bIns="41272">
            <a:spAutoFit/>
          </a:bodyPr>
          <a:lstStyle>
            <a:lvl1pPr>
              <a:tabLst>
                <a:tab pos="857250" algn="r"/>
              </a:tabLst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tabLst>
                <a:tab pos="857250" algn="r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tabLst>
                <a:tab pos="857250" algn="r"/>
              </a:tabLst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tabLst>
                <a:tab pos="857250" algn="r"/>
              </a:tabLst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tabLst>
                <a:tab pos="857250" algn="r"/>
              </a:tabLst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</a:tabLs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</a:tabLs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</a:tabLs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57250" algn="r"/>
              </a:tabLs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800">
                <a:solidFill>
                  <a:srgbClr val="C4C4C4"/>
                </a:solidFill>
              </a:rPr>
              <a:t>OV 1 - </a:t>
            </a:r>
            <a:fld id="{89B972FF-553C-4523-8F17-196DF812F335}" type="slidenum">
              <a:rPr lang="en-US" altLang="en-US" sz="800">
                <a:solidFill>
                  <a:srgbClr val="C4C4C4"/>
                </a:solidFill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en-US" sz="800">
              <a:solidFill>
                <a:srgbClr val="C4C4C4"/>
              </a:solidFill>
            </a:endParaRPr>
          </a:p>
        </p:txBody>
      </p:sp>
      <p:sp>
        <p:nvSpPr>
          <p:cNvPr id="1029" name="Rectangle 14"/>
          <p:cNvSpPr>
            <a:spLocks noChangeArrowheads="1"/>
          </p:cNvSpPr>
          <p:nvPr/>
        </p:nvSpPr>
        <p:spPr bwMode="auto">
          <a:xfrm>
            <a:off x="-19050" y="6551613"/>
            <a:ext cx="3752850" cy="24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2" tIns="44447" rIns="90482" bIns="44447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defRPr/>
            </a:pPr>
            <a:r>
              <a:rPr lang="en-US" altLang="en-US" sz="1000" dirty="0" smtClean="0">
                <a:solidFill>
                  <a:srgbClr val="D9D9D9"/>
                </a:solidFill>
              </a:rPr>
              <a:t>Copyright © 2015 </a:t>
            </a:r>
            <a:r>
              <a:rPr lang="en-US" altLang="en-US" sz="1000" b="1" dirty="0" smtClean="0">
                <a:solidFill>
                  <a:srgbClr val="D9D9D9"/>
                </a:solidFill>
              </a:rPr>
              <a:t>Logical Operations, Inc</a:t>
            </a:r>
            <a:r>
              <a:rPr lang="en-US" altLang="en-US" sz="1000" dirty="0" smtClean="0">
                <a:solidFill>
                  <a:srgbClr val="D9D9D9"/>
                </a:solidFill>
              </a:rPr>
              <a:t>. All rights reserved.</a:t>
            </a:r>
          </a:p>
        </p:txBody>
      </p:sp>
      <p:pic>
        <p:nvPicPr>
          <p:cNvPr id="1030" name="Picture 23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2667000"/>
            <a:ext cx="1676400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2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7938"/>
            <a:ext cx="9144000" cy="930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i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i="1">
          <a:solidFill>
            <a:schemeClr val="bg1"/>
          </a:solidFill>
          <a:latin typeface="Arial Black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i="1">
          <a:solidFill>
            <a:schemeClr val="bg1"/>
          </a:solidFill>
          <a:latin typeface="Arial Black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i="1">
          <a:solidFill>
            <a:schemeClr val="bg1"/>
          </a:solidFill>
          <a:latin typeface="Arial Black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i="1">
          <a:solidFill>
            <a:schemeClr val="bg1"/>
          </a:solidFill>
          <a:latin typeface="Arial Black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200" i="1">
          <a:solidFill>
            <a:schemeClr val="bg1"/>
          </a:solidFill>
          <a:latin typeface="Arial Black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200" i="1">
          <a:solidFill>
            <a:schemeClr val="bg1"/>
          </a:solidFill>
          <a:latin typeface="Arial Black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200" i="1">
          <a:solidFill>
            <a:schemeClr val="bg1"/>
          </a:solidFill>
          <a:latin typeface="Arial Black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200" i="1">
          <a:solidFill>
            <a:schemeClr val="bg1"/>
          </a:solidFill>
          <a:latin typeface="Arial Black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9DDC"/>
        </a:buClr>
        <a:buFont typeface="Wingdings" pitchFamily="2" charset="2"/>
        <a:buChar char="§"/>
        <a:defRPr sz="16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9DDC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9DDC"/>
        </a:buClr>
        <a:buFont typeface="Wingdings" pitchFamily="2" charset="2"/>
        <a:buChar char="§"/>
        <a:defRPr sz="11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9DDC"/>
        </a:buClr>
        <a:buFont typeface="Wingdings" pitchFamily="2" charset="2"/>
        <a:buChar char="§"/>
        <a:defRPr sz="11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9DDC"/>
        </a:buClr>
        <a:buFont typeface="Wingdings" pitchFamily="2" charset="2"/>
        <a:buChar char="§"/>
        <a:defRPr sz="11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FF9900"/>
        </a:buClr>
        <a:buChar char="»"/>
        <a:defRPr sz="14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FF9900"/>
        </a:buClr>
        <a:buChar char="»"/>
        <a:defRPr sz="14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FF9900"/>
        </a:buClr>
        <a:buChar char="»"/>
        <a:defRPr sz="14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FF9900"/>
        </a:buClr>
        <a:buChar char="»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6700838" cy="609600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ea typeface="Calibri" pitchFamily="34" charset="0"/>
              </a:rPr>
              <a:t>Setting Up Python and Developing a Simple Application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Set Up the Development Environment</a:t>
            </a:r>
          </a:p>
          <a:p>
            <a:pPr eaLnBrk="1" hangingPunct="1"/>
            <a:r>
              <a:rPr lang="en-US" altLang="en-US" dirty="0" smtClean="0"/>
              <a:t>Write Python Statements	</a:t>
            </a:r>
          </a:p>
          <a:p>
            <a:pPr eaLnBrk="1" hangingPunct="1"/>
            <a:r>
              <a:rPr lang="en-US" altLang="en-US" dirty="0" smtClean="0"/>
              <a:t>Create a Python Application</a:t>
            </a:r>
          </a:p>
          <a:p>
            <a:pPr eaLnBrk="1" hangingPunct="1"/>
            <a:r>
              <a:rPr lang="en-US" altLang="en-US" dirty="0" smtClean="0"/>
              <a:t>Prevent Errors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ea typeface="Calibri" pitchFamily="34" charset="0"/>
              </a:rPr>
              <a:t>Programs Developed in Python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Types:</a:t>
            </a:r>
          </a:p>
          <a:p>
            <a:pPr lvl="1"/>
            <a:r>
              <a:rPr lang="en-US" dirty="0" smtClean="0"/>
              <a:t>Web apps</a:t>
            </a:r>
          </a:p>
          <a:p>
            <a:pPr lvl="1"/>
            <a:r>
              <a:rPr lang="en-US" dirty="0" smtClean="0"/>
              <a:t>Video games</a:t>
            </a:r>
          </a:p>
          <a:p>
            <a:pPr lvl="1"/>
            <a:r>
              <a:rPr lang="en-US" dirty="0" smtClean="0"/>
              <a:t>Audio/video apps</a:t>
            </a:r>
          </a:p>
          <a:p>
            <a:pPr lvl="1"/>
            <a:r>
              <a:rPr lang="en-US" dirty="0" smtClean="0"/>
              <a:t>Mobile apps</a:t>
            </a:r>
          </a:p>
          <a:p>
            <a:pPr lvl="1"/>
            <a:r>
              <a:rPr lang="en-US" dirty="0" smtClean="0"/>
              <a:t>Networking apps</a:t>
            </a:r>
          </a:p>
          <a:p>
            <a:pPr lvl="1"/>
            <a:r>
              <a:rPr lang="en-US" dirty="0" smtClean="0"/>
              <a:t>Scientific/mathematical apps</a:t>
            </a:r>
          </a:p>
          <a:p>
            <a:pPr lvl="1"/>
            <a:r>
              <a:rPr lang="en-US" dirty="0" smtClean="0"/>
              <a:t>Security utilities</a:t>
            </a:r>
          </a:p>
          <a:p>
            <a:pPr lvl="1"/>
            <a:r>
              <a:rPr lang="en-US" dirty="0" smtClean="0"/>
              <a:t>Education apps</a:t>
            </a:r>
          </a:p>
          <a:p>
            <a:r>
              <a:rPr lang="en-US" dirty="0" smtClean="0"/>
              <a:t>Examples:</a:t>
            </a:r>
          </a:p>
          <a:p>
            <a:pPr lvl="1"/>
            <a:r>
              <a:rPr lang="en-US" dirty="0" err="1" smtClean="0"/>
              <a:t>BitTorrent</a:t>
            </a:r>
            <a:endParaRPr lang="en-US" dirty="0" smtClean="0"/>
          </a:p>
          <a:p>
            <a:pPr lvl="1"/>
            <a:r>
              <a:rPr lang="en-US" dirty="0" smtClean="0"/>
              <a:t>Blender</a:t>
            </a:r>
          </a:p>
          <a:p>
            <a:pPr lvl="1"/>
            <a:r>
              <a:rPr lang="en-US" dirty="0" err="1" smtClean="0"/>
              <a:t>Django</a:t>
            </a:r>
            <a:endParaRPr lang="en-US" dirty="0" smtClean="0"/>
          </a:p>
          <a:p>
            <a:pPr lvl="1"/>
            <a:r>
              <a:rPr lang="en-US" dirty="0" smtClean="0"/>
              <a:t>Dropbox</a:t>
            </a:r>
          </a:p>
          <a:p>
            <a:pPr lvl="1"/>
            <a:r>
              <a:rPr lang="en-US" dirty="0" err="1" smtClean="0"/>
              <a:t>Odoo</a:t>
            </a:r>
            <a:endParaRPr lang="en-US" dirty="0" smtClean="0"/>
          </a:p>
          <a:p>
            <a:pPr lvl="1"/>
            <a:r>
              <a:rPr lang="en-US" dirty="0" err="1" smtClean="0"/>
              <a:t>Reddit</a:t>
            </a:r>
            <a:endParaRPr lang="en-US" dirty="0" smtClean="0"/>
          </a:p>
          <a:p>
            <a:pPr lvl="1"/>
            <a:r>
              <a:rPr lang="en-US" dirty="0" smtClean="0"/>
              <a:t>YouTube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CPython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2998843"/>
            <a:ext cx="620730" cy="13811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9165" y="3641085"/>
            <a:ext cx="757238" cy="75283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51502" y="3451796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>
                <a:solidFill>
                  <a:srgbClr val="1185BF"/>
                </a:solidFill>
              </a:rPr>
              <a:t>Hello, world!</a:t>
            </a:r>
            <a:endParaRPr lang="en-US" sz="1800" dirty="0">
              <a:solidFill>
                <a:srgbClr val="1185BF"/>
              </a:solidFill>
            </a:endParaRPr>
          </a:p>
        </p:txBody>
      </p:sp>
      <p:cxnSp>
        <p:nvCxnSpPr>
          <p:cNvPr id="12" name="Straight Arrow Connector 11"/>
          <p:cNvCxnSpPr/>
          <p:nvPr/>
        </p:nvCxnSpPr>
        <p:spPr bwMode="auto">
          <a:xfrm flipV="1">
            <a:off x="2046515" y="3678955"/>
            <a:ext cx="776555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4" name="Straight Arrow Connector 13"/>
          <p:cNvCxnSpPr>
            <a:endCxn id="7" idx="1"/>
          </p:cNvCxnSpPr>
          <p:nvPr/>
        </p:nvCxnSpPr>
        <p:spPr bwMode="auto">
          <a:xfrm>
            <a:off x="4721976" y="3660292"/>
            <a:ext cx="916824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Straight Arrow Connector 15"/>
          <p:cNvCxnSpPr/>
          <p:nvPr/>
        </p:nvCxnSpPr>
        <p:spPr bwMode="auto">
          <a:xfrm flipV="1">
            <a:off x="6706403" y="3636462"/>
            <a:ext cx="837397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443934" y="2902153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/>
              <a:t>Python code</a:t>
            </a:r>
            <a:endParaRPr lang="en-US" sz="1800" dirty="0"/>
          </a:p>
        </p:txBody>
      </p:sp>
      <p:sp>
        <p:nvSpPr>
          <p:cNvPr id="22" name="TextBox 21"/>
          <p:cNvSpPr txBox="1"/>
          <p:nvPr/>
        </p:nvSpPr>
        <p:spPr>
          <a:xfrm>
            <a:off x="3159565" y="2532821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 smtClean="0"/>
              <a:t>Bytecode</a:t>
            </a:r>
            <a:endParaRPr lang="en-US" sz="1800" dirty="0"/>
          </a:p>
        </p:txBody>
      </p:sp>
      <p:sp>
        <p:nvSpPr>
          <p:cNvPr id="23" name="TextBox 22"/>
          <p:cNvSpPr txBox="1"/>
          <p:nvPr/>
        </p:nvSpPr>
        <p:spPr>
          <a:xfrm>
            <a:off x="5180388" y="2532821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/>
              <a:t>Virtual machine</a:t>
            </a:r>
            <a:endParaRPr lang="en-US" sz="1800" dirty="0"/>
          </a:p>
        </p:txBody>
      </p:sp>
      <p:sp>
        <p:nvSpPr>
          <p:cNvPr id="24" name="TextBox 23"/>
          <p:cNvSpPr txBox="1"/>
          <p:nvPr/>
        </p:nvSpPr>
        <p:spPr>
          <a:xfrm>
            <a:off x="7310438" y="2800843"/>
            <a:ext cx="1714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smtClean="0"/>
              <a:t>Program output</a:t>
            </a:r>
            <a:endParaRPr lang="en-US" sz="1800" dirty="0"/>
          </a:p>
        </p:txBody>
      </p:sp>
      <p:grpSp>
        <p:nvGrpSpPr>
          <p:cNvPr id="29" name="Group 28"/>
          <p:cNvGrpSpPr/>
          <p:nvPr/>
        </p:nvGrpSpPr>
        <p:grpSpPr>
          <a:xfrm>
            <a:off x="457200" y="3352800"/>
            <a:ext cx="1600200" cy="609600"/>
            <a:chOff x="457200" y="3352800"/>
            <a:chExt cx="1600200" cy="609600"/>
          </a:xfrm>
        </p:grpSpPr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200" y="3352800"/>
              <a:ext cx="1600200" cy="609600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457200" y="3505200"/>
              <a:ext cx="16002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>
                  <a:solidFill>
                    <a:schemeClr val="bg1"/>
                  </a:solidFill>
                </a:rPr>
                <a:t>print</a:t>
              </a:r>
              <a:r>
                <a:rPr lang="en-US" sz="1100" b="1" dirty="0" smtClean="0">
                  <a:solidFill>
                    <a:schemeClr val="bg1"/>
                  </a:solidFill>
                </a:rPr>
                <a:t>("Hello</a:t>
              </a:r>
              <a:r>
                <a:rPr lang="en-US" sz="1100" b="1" dirty="0">
                  <a:solidFill>
                    <a:schemeClr val="bg1"/>
                  </a:solidFill>
                </a:rPr>
                <a:t>, world</a:t>
              </a:r>
              <a:r>
                <a:rPr lang="en-US" sz="1100" b="1" dirty="0" smtClean="0">
                  <a:solidFill>
                    <a:schemeClr val="bg1"/>
                  </a:solidFill>
                </a:rPr>
                <a:t>!")</a:t>
              </a:r>
              <a:endParaRPr lang="en-US" sz="11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2819400" y="3048000"/>
            <a:ext cx="1905000" cy="1553528"/>
            <a:chOff x="2819400" y="3048000"/>
            <a:chExt cx="1905000" cy="1553528"/>
          </a:xfrm>
        </p:grpSpPr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19400" y="3048000"/>
              <a:ext cx="1905000" cy="1295400"/>
            </a:xfrm>
            <a:prstGeom prst="rect">
              <a:avLst/>
            </a:prstGeom>
          </p:spPr>
        </p:pic>
        <p:sp>
          <p:nvSpPr>
            <p:cNvPr id="19" name="TextBox 18"/>
            <p:cNvSpPr txBox="1"/>
            <p:nvPr/>
          </p:nvSpPr>
          <p:spPr>
            <a:xfrm>
              <a:off x="2971800" y="3124200"/>
              <a:ext cx="1752600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>
                  <a:solidFill>
                    <a:srgbClr val="FFFFFF"/>
                  </a:solidFill>
                </a:rPr>
                <a:t>0   LOAD_NAME</a:t>
              </a:r>
            </a:p>
            <a:p>
              <a:r>
                <a:rPr lang="en-US" sz="1100" b="1" dirty="0">
                  <a:solidFill>
                    <a:srgbClr val="FFFFFF"/>
                  </a:solidFill>
                </a:rPr>
                <a:t>3   LOAD_CONST</a:t>
              </a:r>
            </a:p>
            <a:p>
              <a:r>
                <a:rPr lang="en-US" sz="1100" b="1" dirty="0">
                  <a:solidFill>
                    <a:srgbClr val="FFFFFF"/>
                  </a:solidFill>
                </a:rPr>
                <a:t>6   CALL_FUNCTION</a:t>
              </a:r>
            </a:p>
            <a:p>
              <a:r>
                <a:rPr lang="en-US" sz="1100" b="1" dirty="0">
                  <a:solidFill>
                    <a:srgbClr val="FFFFFF"/>
                  </a:solidFill>
                </a:rPr>
                <a:t>9   PRINT_EXPR</a:t>
              </a:r>
            </a:p>
            <a:p>
              <a:r>
                <a:rPr lang="en-US" sz="1100" b="1" dirty="0">
                  <a:solidFill>
                    <a:srgbClr val="FFFFFF"/>
                  </a:solidFill>
                </a:rPr>
                <a:t>12 LOAD_CONST</a:t>
              </a:r>
            </a:p>
            <a:p>
              <a:r>
                <a:rPr lang="en-US" sz="1100" b="1" dirty="0">
                  <a:solidFill>
                    <a:srgbClr val="FFFFFF"/>
                  </a:solidFill>
                </a:rPr>
                <a:t>15 RETURN_VALUE+</a:t>
              </a:r>
            </a:p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780280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IDLE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066800"/>
            <a:ext cx="5808462" cy="422904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2133600"/>
            <a:ext cx="5791200" cy="425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623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Python IDEs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PyCharm</a:t>
            </a:r>
            <a:endParaRPr lang="en-US" dirty="0" smtClean="0"/>
          </a:p>
          <a:p>
            <a:r>
              <a:rPr lang="en-US" dirty="0" smtClean="0"/>
              <a:t>Wing IDE</a:t>
            </a:r>
          </a:p>
          <a:p>
            <a:r>
              <a:rPr lang="en-US" dirty="0" smtClean="0"/>
              <a:t>Komodo IDE</a:t>
            </a:r>
          </a:p>
          <a:p>
            <a:r>
              <a:rPr lang="en-US" dirty="0" smtClean="0"/>
              <a:t>Python Tools for Visual Studio</a:t>
            </a:r>
          </a:p>
          <a:p>
            <a:r>
              <a:rPr lang="en-US" dirty="0" err="1" smtClean="0"/>
              <a:t>PyDev</a:t>
            </a:r>
            <a:endParaRPr lang="en-US" dirty="0" smtClean="0"/>
          </a:p>
          <a:p>
            <a:r>
              <a:rPr lang="en-US" dirty="0" err="1" smtClean="0"/>
              <a:t>Spyder</a:t>
            </a:r>
            <a:endParaRPr lang="en-US" dirty="0" smtClean="0"/>
          </a:p>
          <a:p>
            <a:r>
              <a:rPr lang="en-US" dirty="0" smtClean="0"/>
              <a:t>NINJA-IDE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2399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Interactive Mode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179" y="2590683"/>
            <a:ext cx="6563641" cy="1676634"/>
          </a:xfrm>
          <a:prstGeom prst="rect">
            <a:avLst/>
          </a:prstGeom>
        </p:spPr>
      </p:pic>
      <p:sp>
        <p:nvSpPr>
          <p:cNvPr id="5" name="Line 69"/>
          <p:cNvSpPr>
            <a:spLocks noChangeShapeType="1"/>
          </p:cNvSpPr>
          <p:nvPr/>
        </p:nvSpPr>
        <p:spPr bwMode="auto">
          <a:xfrm rot="16200000" flipV="1">
            <a:off x="2209800" y="2971800"/>
            <a:ext cx="228600" cy="838200"/>
          </a:xfrm>
          <a:prstGeom prst="line">
            <a:avLst/>
          </a:prstGeom>
          <a:noFill/>
          <a:ln w="19050" cmpd="sng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2743200" y="3314699"/>
            <a:ext cx="1057274" cy="381001"/>
          </a:xfrm>
          <a:prstGeom prst="roundRect">
            <a:avLst/>
          </a:prstGeom>
          <a:gradFill flip="none" rotWithShape="0">
            <a:gsLst>
              <a:gs pos="0">
                <a:schemeClr val="bg1">
                  <a:lumMod val="92000"/>
                </a:schemeClr>
              </a:gs>
              <a:gs pos="100000">
                <a:schemeClr val="bg1"/>
              </a:gs>
            </a:gsLst>
            <a:lin ang="2700000" scaled="1"/>
            <a:tileRect/>
          </a:gradFill>
          <a:ln>
            <a:noFill/>
          </a:ln>
          <a:effectLst>
            <a:outerShdw blurRad="38100" dist="25400" dir="2700000" sx="99000" sy="99000" algn="tl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100" b="1" dirty="0" smtClean="0">
                <a:solidFill>
                  <a:schemeClr val="tx1"/>
                </a:solidFill>
              </a:rPr>
              <a:t>Statement entered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743200" y="3818077"/>
            <a:ext cx="1057274" cy="381001"/>
          </a:xfrm>
          <a:prstGeom prst="roundRect">
            <a:avLst/>
          </a:prstGeom>
          <a:gradFill flip="none" rotWithShape="0">
            <a:gsLst>
              <a:gs pos="0">
                <a:schemeClr val="bg1">
                  <a:lumMod val="92000"/>
                </a:schemeClr>
              </a:gs>
              <a:gs pos="100000">
                <a:schemeClr val="bg1"/>
              </a:gs>
            </a:gsLst>
            <a:lin ang="2700000" scaled="1"/>
            <a:tileRect/>
          </a:gradFill>
          <a:ln>
            <a:noFill/>
          </a:ln>
          <a:effectLst>
            <a:outerShdw blurRad="38100" dist="25400" dir="2700000" sx="99000" sy="99000" algn="tl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100" b="1" dirty="0" smtClean="0">
                <a:solidFill>
                  <a:schemeClr val="tx1"/>
                </a:solidFill>
              </a:rPr>
              <a:t>Result returned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8" name="Line 69"/>
          <p:cNvSpPr>
            <a:spLocks noChangeShapeType="1"/>
          </p:cNvSpPr>
          <p:nvPr/>
        </p:nvSpPr>
        <p:spPr bwMode="auto">
          <a:xfrm rot="16200000" flipV="1">
            <a:off x="1836305" y="3040494"/>
            <a:ext cx="442189" cy="1371600"/>
          </a:xfrm>
          <a:prstGeom prst="line">
            <a:avLst/>
          </a:prstGeom>
          <a:noFill/>
          <a:ln w="19050" cmpd="sng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743200" y="4302511"/>
            <a:ext cx="1057274" cy="381001"/>
          </a:xfrm>
          <a:prstGeom prst="roundRect">
            <a:avLst/>
          </a:prstGeom>
          <a:gradFill flip="none" rotWithShape="0">
            <a:gsLst>
              <a:gs pos="0">
                <a:schemeClr val="bg1">
                  <a:lumMod val="92000"/>
                </a:schemeClr>
              </a:gs>
              <a:gs pos="100000">
                <a:schemeClr val="bg1"/>
              </a:gs>
            </a:gsLst>
            <a:lin ang="2700000" scaled="1"/>
            <a:tileRect/>
          </a:gradFill>
          <a:ln>
            <a:noFill/>
          </a:ln>
          <a:effectLst>
            <a:outerShdw blurRad="38100" dist="25400" dir="2700000" sx="99000" sy="99000" algn="tl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100" b="1" dirty="0" smtClean="0">
                <a:solidFill>
                  <a:schemeClr val="tx1"/>
                </a:solidFill>
              </a:rPr>
              <a:t>Next prompt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10" name="Line 69"/>
          <p:cNvSpPr>
            <a:spLocks noChangeShapeType="1"/>
          </p:cNvSpPr>
          <p:nvPr/>
        </p:nvSpPr>
        <p:spPr bwMode="auto">
          <a:xfrm rot="16200000" flipV="1">
            <a:off x="1876976" y="3541300"/>
            <a:ext cx="589446" cy="1142999"/>
          </a:xfrm>
          <a:prstGeom prst="line">
            <a:avLst/>
          </a:prstGeom>
          <a:noFill/>
          <a:ln w="19050" cmpd="sng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673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Help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1295400"/>
            <a:ext cx="5087060" cy="303889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4495800"/>
            <a:ext cx="3334215" cy="12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715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Variable Assignment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i="1" dirty="0" smtClean="0"/>
          </a:p>
          <a:p>
            <a:pPr marL="0" indent="0" algn="ctr">
              <a:buNone/>
            </a:pPr>
            <a:endParaRPr lang="en-US" i="1" dirty="0"/>
          </a:p>
          <a:p>
            <a:pPr marL="0" indent="0" algn="ctr">
              <a:buNone/>
            </a:pPr>
            <a:endParaRPr lang="en-US" i="1" dirty="0" smtClean="0"/>
          </a:p>
          <a:p>
            <a:pPr marL="0" indent="0" algn="ctr">
              <a:buNone/>
            </a:pPr>
            <a:endParaRPr lang="en-US" i="1" dirty="0"/>
          </a:p>
          <a:p>
            <a:pPr marL="0" indent="0" algn="ctr">
              <a:buNone/>
            </a:pPr>
            <a:endParaRPr lang="en-US" i="1" dirty="0" smtClean="0"/>
          </a:p>
          <a:p>
            <a:pPr marL="0" indent="0" algn="ctr">
              <a:buNone/>
            </a:pPr>
            <a:endParaRPr lang="en-US" i="1" dirty="0"/>
          </a:p>
          <a:p>
            <a:pPr marL="0" indent="0" algn="ctr">
              <a:buNone/>
            </a:pPr>
            <a:endParaRPr lang="en-US" i="1" dirty="0" smtClean="0"/>
          </a:p>
          <a:p>
            <a:pPr marL="0" indent="0">
              <a:buNone/>
            </a:pPr>
            <a:r>
              <a:rPr lang="en-US" sz="2000" b="0" dirty="0" err="1" smtClean="0">
                <a:latin typeface="Lucida Console" panose="020B0609040504020204" pitchFamily="49" charset="0"/>
              </a:rPr>
              <a:t>my_variable</a:t>
            </a:r>
            <a:r>
              <a:rPr lang="en-US" sz="2000" b="0" dirty="0" smtClean="0">
                <a:latin typeface="Lucida Console" panose="020B0609040504020204" pitchFamily="49" charset="0"/>
              </a:rPr>
              <a:t> = </a:t>
            </a:r>
            <a:r>
              <a:rPr lang="en-US" sz="2000" b="0" dirty="0" smtClean="0">
                <a:solidFill>
                  <a:srgbClr val="0000FF"/>
                </a:solidFill>
                <a:latin typeface="Lucida Console" panose="020B0609040504020204" pitchFamily="49" charset="0"/>
              </a:rPr>
              <a:t>1</a:t>
            </a:r>
            <a:endParaRPr lang="en-US" sz="2000" b="0" dirty="0">
              <a:solidFill>
                <a:srgbClr val="0000FF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11" name="Straight Connector 10"/>
          <p:cNvCxnSpPr/>
          <p:nvPr/>
        </p:nvCxnSpPr>
        <p:spPr bwMode="auto">
          <a:xfrm>
            <a:off x="8915400" y="1143000"/>
            <a:ext cx="0" cy="534035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Straight Connector 11"/>
          <p:cNvCxnSpPr/>
          <p:nvPr/>
        </p:nvCxnSpPr>
        <p:spPr bwMode="auto">
          <a:xfrm>
            <a:off x="457200" y="1060450"/>
            <a:ext cx="0" cy="534035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Rectangle 12"/>
          <p:cNvSpPr/>
          <p:nvPr/>
        </p:nvSpPr>
        <p:spPr bwMode="auto">
          <a:xfrm>
            <a:off x="-1" y="1060450"/>
            <a:ext cx="457199" cy="5340350"/>
          </a:xfrm>
          <a:prstGeom prst="rect">
            <a:avLst/>
          </a:prstGeom>
          <a:solidFill>
            <a:schemeClr val="accent3">
              <a:lumMod val="85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7471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Reserved Words</a:t>
            </a:r>
            <a:endParaRPr lang="en-US" dirty="0"/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9369272"/>
              </p:ext>
            </p:extLst>
          </p:nvPr>
        </p:nvGraphicFramePr>
        <p:xfrm>
          <a:off x="457200" y="1524000"/>
          <a:ext cx="8229600" cy="40792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False</a:t>
                      </a:r>
                      <a:endParaRPr lang="en-US" sz="16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elif</a:t>
                      </a:r>
                      <a:endParaRPr lang="en-US" sz="16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lambda</a:t>
                      </a:r>
                      <a:endParaRPr lang="en-US" sz="16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None</a:t>
                      </a:r>
                      <a:endParaRPr lang="en-US" sz="16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else</a:t>
                      </a:r>
                      <a:endParaRPr lang="en-US" sz="16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nonlocal</a:t>
                      </a:r>
                      <a:endParaRPr lang="en-US" sz="16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True</a:t>
                      </a:r>
                      <a:endParaRPr lang="en-US" sz="16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except</a:t>
                      </a:r>
                      <a:endParaRPr lang="en-US" sz="16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not</a:t>
                      </a:r>
                      <a:endParaRPr lang="en-US" sz="16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and</a:t>
                      </a:r>
                      <a:endParaRPr lang="en-US" sz="16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finally</a:t>
                      </a:r>
                      <a:endParaRPr lang="en-US" sz="16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or</a:t>
                      </a:r>
                      <a:endParaRPr lang="en-US" sz="16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as</a:t>
                      </a:r>
                      <a:endParaRPr lang="en-US" sz="16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for</a:t>
                      </a:r>
                      <a:endParaRPr lang="en-US" sz="16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pass</a:t>
                      </a:r>
                      <a:endParaRPr lang="en-US" sz="16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assert</a:t>
                      </a:r>
                      <a:endParaRPr lang="en-US" sz="16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from</a:t>
                      </a:r>
                      <a:endParaRPr lang="en-US" sz="16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raise</a:t>
                      </a:r>
                      <a:endParaRPr lang="en-US" sz="16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break</a:t>
                      </a:r>
                      <a:endParaRPr lang="en-US" sz="16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global</a:t>
                      </a:r>
                      <a:endParaRPr lang="en-US" sz="16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return</a:t>
                      </a:r>
                      <a:endParaRPr lang="en-US" sz="16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class</a:t>
                      </a:r>
                      <a:endParaRPr lang="en-US" sz="16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if</a:t>
                      </a:r>
                      <a:endParaRPr lang="en-US" sz="16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try</a:t>
                      </a:r>
                      <a:endParaRPr lang="en-US" sz="16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continue</a:t>
                      </a:r>
                      <a:endParaRPr lang="en-US" sz="16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import</a:t>
                      </a:r>
                      <a:endParaRPr lang="en-US" sz="16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while</a:t>
                      </a:r>
                      <a:endParaRPr lang="en-US" sz="16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def</a:t>
                      </a:r>
                      <a:endParaRPr lang="en-US" sz="16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in</a:t>
                      </a:r>
                      <a:endParaRPr lang="en-US" sz="16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with</a:t>
                      </a:r>
                      <a:endParaRPr lang="en-US" sz="16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del</a:t>
                      </a:r>
                      <a:endParaRPr lang="en-US" sz="16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is</a:t>
                      </a:r>
                      <a:endParaRPr lang="en-US" sz="16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yield</a:t>
                      </a:r>
                      <a:endParaRPr lang="en-US" sz="160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6741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Arithmetic Operators</a:t>
            </a:r>
            <a:endParaRPr lang="en-US" dirty="0"/>
          </a:p>
        </p:txBody>
      </p:sp>
      <p:graphicFrame>
        <p:nvGraphicFramePr>
          <p:cNvPr id="4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4887523"/>
              </p:ext>
            </p:extLst>
          </p:nvPr>
        </p:nvGraphicFramePr>
        <p:xfrm>
          <a:off x="1219200" y="2286000"/>
          <a:ext cx="6705600" cy="268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/>
                <a:gridCol w="3733800"/>
                <a:gridCol w="1905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chemeClr val="bg1"/>
                          </a:solidFill>
                        </a:rPr>
                        <a:t>Operator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bg1"/>
                          </a:solidFill>
                        </a:rPr>
                        <a:t>Definition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chemeClr val="bg1"/>
                          </a:solidFill>
                        </a:rPr>
                        <a:t>Example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dirty="0" smtClean="0"/>
                        <a:t>+</a:t>
                      </a:r>
                      <a:endParaRPr lang="en-US" sz="1600" b="1" i="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0" dirty="0" smtClean="0"/>
                        <a:t>Adds operands together.</a:t>
                      </a:r>
                      <a:endParaRPr lang="en-US" sz="1200" i="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i="1" dirty="0" smtClean="0"/>
                        <a:t>2 + 4 </a:t>
                      </a:r>
                      <a:r>
                        <a:rPr lang="en-US" sz="1200" i="0" dirty="0" smtClean="0"/>
                        <a:t>will return</a:t>
                      </a:r>
                      <a:r>
                        <a:rPr lang="en-US" sz="1200" i="0" baseline="0" dirty="0" smtClean="0"/>
                        <a:t> </a:t>
                      </a:r>
                      <a:r>
                        <a:rPr lang="en-US" sz="1200" i="1" baseline="0" dirty="0" smtClean="0"/>
                        <a:t>6</a:t>
                      </a:r>
                      <a:endParaRPr lang="en-US" sz="1200" i="1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dirty="0" smtClean="0"/>
                        <a:t>-</a:t>
                      </a:r>
                      <a:endParaRPr lang="en-US" sz="1600" b="1" i="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0" dirty="0" smtClean="0"/>
                        <a:t>Subtracts</a:t>
                      </a:r>
                      <a:r>
                        <a:rPr lang="en-US" sz="1200" i="0" baseline="0" dirty="0" smtClean="0"/>
                        <a:t> right operand from left operand.</a:t>
                      </a:r>
                      <a:endParaRPr lang="en-US" sz="1200" i="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i="1" dirty="0" smtClean="0"/>
                        <a:t>4 – 2 </a:t>
                      </a:r>
                      <a:r>
                        <a:rPr lang="en-US" sz="1200" i="0" dirty="0" smtClean="0"/>
                        <a:t>will return</a:t>
                      </a:r>
                      <a:r>
                        <a:rPr lang="en-US" sz="1200" i="0" baseline="0" dirty="0" smtClean="0"/>
                        <a:t> </a:t>
                      </a:r>
                      <a:r>
                        <a:rPr lang="en-US" sz="1200" i="1" baseline="0" dirty="0" smtClean="0"/>
                        <a:t>2</a:t>
                      </a:r>
                      <a:endParaRPr lang="en-US" sz="1200" i="1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dirty="0" smtClean="0"/>
                        <a:t>*</a:t>
                      </a:r>
                      <a:endParaRPr lang="en-US" sz="1600" b="1" i="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0" dirty="0" smtClean="0"/>
                        <a:t>Multiplies</a:t>
                      </a:r>
                      <a:r>
                        <a:rPr lang="en-US" sz="1200" i="0" baseline="0" dirty="0" smtClean="0"/>
                        <a:t> operands together.</a:t>
                      </a:r>
                      <a:endParaRPr lang="en-US" sz="1200" i="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i="1" dirty="0" smtClean="0"/>
                        <a:t>2 * 4 </a:t>
                      </a:r>
                      <a:r>
                        <a:rPr lang="en-US" sz="1200" i="0" dirty="0" smtClean="0"/>
                        <a:t>will return </a:t>
                      </a:r>
                      <a:r>
                        <a:rPr lang="en-US" sz="1200" i="1" dirty="0" smtClean="0"/>
                        <a:t>8</a:t>
                      </a:r>
                      <a:endParaRPr lang="en-US" sz="1200" i="1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dirty="0" smtClean="0"/>
                        <a:t>/</a:t>
                      </a:r>
                      <a:endParaRPr lang="en-US" sz="1600" b="1" i="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0" dirty="0" smtClean="0"/>
                        <a:t>Divides</a:t>
                      </a:r>
                      <a:r>
                        <a:rPr lang="en-US" sz="1200" i="0" baseline="0" dirty="0" smtClean="0"/>
                        <a:t> left operand by right operand.</a:t>
                      </a:r>
                      <a:endParaRPr lang="en-US" sz="1200" i="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i="1" dirty="0" smtClean="0"/>
                        <a:t>10 / 2 </a:t>
                      </a:r>
                      <a:r>
                        <a:rPr lang="en-US" sz="1200" i="0" dirty="0" smtClean="0"/>
                        <a:t>will return </a:t>
                      </a:r>
                      <a:r>
                        <a:rPr lang="en-US" sz="1200" i="1" dirty="0" smtClean="0"/>
                        <a:t>5</a:t>
                      </a:r>
                      <a:endParaRPr lang="en-US" sz="1200" i="1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dirty="0" smtClean="0"/>
                        <a:t>%</a:t>
                      </a:r>
                      <a:endParaRPr lang="en-US" sz="1600" b="1" i="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0" dirty="0" smtClean="0"/>
                        <a:t>Divides</a:t>
                      </a:r>
                      <a:r>
                        <a:rPr lang="en-US" sz="1200" i="0" baseline="0" dirty="0" smtClean="0"/>
                        <a:t> left operand by right and returns remainder.</a:t>
                      </a:r>
                      <a:endParaRPr lang="en-US" sz="1200" i="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i="1" dirty="0" smtClean="0"/>
                        <a:t>13 % 4 </a:t>
                      </a:r>
                      <a:r>
                        <a:rPr lang="en-US" sz="1200" i="0" dirty="0" smtClean="0"/>
                        <a:t>will return </a:t>
                      </a:r>
                      <a:r>
                        <a:rPr lang="en-US" sz="1200" i="1" dirty="0" smtClean="0"/>
                        <a:t>1</a:t>
                      </a:r>
                      <a:endParaRPr lang="en-US" sz="1200" i="1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dirty="0" smtClean="0"/>
                        <a:t>**</a:t>
                      </a:r>
                      <a:endParaRPr lang="en-US" sz="1600" b="1" i="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0" dirty="0" smtClean="0"/>
                        <a:t>Performs</a:t>
                      </a:r>
                      <a:r>
                        <a:rPr lang="en-US" sz="1200" i="0" baseline="0" dirty="0" smtClean="0"/>
                        <a:t> exponential calculation with left operand as the base and right operand as the exponent.</a:t>
                      </a:r>
                      <a:endParaRPr lang="en-US" sz="1200" i="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i="1" dirty="0" smtClean="0"/>
                        <a:t>2 ** 4 </a:t>
                      </a:r>
                      <a:r>
                        <a:rPr lang="en-US" sz="1200" i="0" dirty="0" smtClean="0"/>
                        <a:t>will return</a:t>
                      </a:r>
                      <a:r>
                        <a:rPr lang="en-US" sz="1200" i="0" baseline="0" dirty="0" smtClean="0"/>
                        <a:t> </a:t>
                      </a:r>
                      <a:r>
                        <a:rPr lang="en-US" sz="1200" i="1" baseline="0" dirty="0" smtClean="0"/>
                        <a:t>16</a:t>
                      </a:r>
                      <a:endParaRPr lang="en-US" sz="1200" i="1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461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Order of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**</a:t>
            </a:r>
          </a:p>
          <a:p>
            <a:r>
              <a:rPr lang="en-US" dirty="0" smtClean="0"/>
              <a:t>* </a:t>
            </a:r>
            <a:r>
              <a:rPr lang="en-US" smtClean="0"/>
              <a:t>/ %</a:t>
            </a:r>
            <a:endParaRPr lang="en-US" dirty="0" smtClean="0"/>
          </a:p>
          <a:p>
            <a:r>
              <a:rPr lang="en-US" dirty="0" smtClean="0"/>
              <a:t>+ -</a:t>
            </a:r>
          </a:p>
        </p:txBody>
      </p:sp>
    </p:spTree>
    <p:extLst>
      <p:ext uri="{BB962C8B-B14F-4D97-AF65-F5344CB8AC3E}">
        <p14:creationId xmlns:p14="http://schemas.microsoft.com/office/powerpoint/2010/main" val="3858257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print() Function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2971800"/>
            <a:ext cx="3724795" cy="91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985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String Literals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sz="2800" b="0" dirty="0" smtClean="0">
              <a:latin typeface="Lucida Console" panose="020B0609040504020204" pitchFamily="49" charset="0"/>
            </a:endParaRPr>
          </a:p>
          <a:p>
            <a:pPr marL="0" indent="0" algn="ctr">
              <a:buNone/>
            </a:pPr>
            <a:endParaRPr lang="en-US" sz="2800" b="0" dirty="0">
              <a:latin typeface="Lucida Console" panose="020B0609040504020204" pitchFamily="49" charset="0"/>
            </a:endParaRPr>
          </a:p>
          <a:p>
            <a:pPr marL="0" indent="0" algn="ctr">
              <a:buNone/>
            </a:pPr>
            <a:endParaRPr lang="en-US" sz="2800" b="0" dirty="0" smtClean="0">
              <a:latin typeface="Lucida Console" panose="020B0609040504020204" pitchFamily="49" charset="0"/>
            </a:endParaRPr>
          </a:p>
          <a:p>
            <a:pPr marL="0" indent="0" algn="ctr">
              <a:buNone/>
            </a:pPr>
            <a:endParaRPr lang="en-US" sz="2000" b="0" dirty="0" smtClean="0"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sz="2000" b="0" dirty="0" smtClean="0">
                <a:latin typeface="Lucida Console" panose="020B0609040504020204" pitchFamily="49" charset="0"/>
              </a:rPr>
              <a:t>a = </a:t>
            </a:r>
            <a:r>
              <a:rPr lang="en-US" sz="2000" b="0" dirty="0" smtClean="0">
                <a:solidFill>
                  <a:srgbClr val="008000"/>
                </a:solidFill>
                <a:latin typeface="Lucida Console" panose="020B0609040504020204" pitchFamily="49" charset="0"/>
              </a:rPr>
              <a:t>"Hello, world!"</a:t>
            </a:r>
          </a:p>
          <a:p>
            <a:pPr marL="0" indent="0">
              <a:buNone/>
            </a:pPr>
            <a:r>
              <a:rPr lang="en-US" sz="2000" b="0" dirty="0" smtClean="0">
                <a:latin typeface="Lucida Console" panose="020B0609040504020204" pitchFamily="49" charset="0"/>
              </a:rPr>
              <a:t>b = </a:t>
            </a:r>
            <a:r>
              <a:rPr lang="en-US" sz="2000" b="0" dirty="0" smtClean="0">
                <a:solidFill>
                  <a:srgbClr val="008000"/>
                </a:solidFill>
                <a:latin typeface="Lucida Console" panose="020B0609040504020204" pitchFamily="49" charset="0"/>
              </a:rPr>
              <a:t>'Hello, world!'</a:t>
            </a:r>
            <a:endParaRPr lang="en-US" sz="2000" b="0" dirty="0">
              <a:solidFill>
                <a:srgbClr val="008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8915400" y="1143000"/>
            <a:ext cx="0" cy="534035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Straight Connector 6"/>
          <p:cNvCxnSpPr/>
          <p:nvPr/>
        </p:nvCxnSpPr>
        <p:spPr bwMode="auto">
          <a:xfrm>
            <a:off x="457200" y="1060450"/>
            <a:ext cx="0" cy="534035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7"/>
          <p:cNvSpPr/>
          <p:nvPr/>
        </p:nvSpPr>
        <p:spPr bwMode="auto">
          <a:xfrm>
            <a:off x="-1" y="1060450"/>
            <a:ext cx="457199" cy="5340350"/>
          </a:xfrm>
          <a:prstGeom prst="rect">
            <a:avLst/>
          </a:prstGeom>
          <a:solidFill>
            <a:schemeClr val="accent3">
              <a:lumMod val="85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0823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Escape Codes</a:t>
            </a:r>
            <a:endParaRPr lang="en-US" dirty="0"/>
          </a:p>
        </p:txBody>
      </p:sp>
      <p:graphicFrame>
        <p:nvGraphicFramePr>
          <p:cNvPr id="4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6391456"/>
              </p:ext>
            </p:extLst>
          </p:nvPr>
        </p:nvGraphicFramePr>
        <p:xfrm>
          <a:off x="2667000" y="1752600"/>
          <a:ext cx="37338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22098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chemeClr val="bg1"/>
                          </a:solidFill>
                        </a:rPr>
                        <a:t>Escape Code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bg1"/>
                          </a:solidFill>
                        </a:rPr>
                        <a:t>Adds A…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dirty="0" smtClean="0"/>
                        <a:t>\\</a:t>
                      </a:r>
                      <a:endParaRPr lang="en-US" sz="1800" b="1" i="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0" dirty="0" smtClean="0"/>
                        <a:t>Backslash character.</a:t>
                      </a:r>
                      <a:endParaRPr lang="en-US" sz="1200" i="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dirty="0" smtClean="0"/>
                        <a:t>\'</a:t>
                      </a:r>
                      <a:endParaRPr lang="en-US" sz="1800" b="1" i="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0" dirty="0" smtClean="0"/>
                        <a:t>Single quote character.</a:t>
                      </a:r>
                      <a:endParaRPr lang="en-US" sz="1200" i="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dirty="0" smtClean="0"/>
                        <a:t>\"</a:t>
                      </a:r>
                      <a:endParaRPr lang="en-US" sz="1800" b="1" i="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0" dirty="0" smtClean="0"/>
                        <a:t>Double quote character.</a:t>
                      </a:r>
                      <a:endParaRPr lang="en-US" sz="1200" i="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dirty="0" smtClean="0"/>
                        <a:t>\b</a:t>
                      </a:r>
                      <a:endParaRPr lang="en-US" sz="1800" b="1" i="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0" dirty="0" smtClean="0"/>
                        <a:t>Backspace character.</a:t>
                      </a:r>
                      <a:endParaRPr lang="en-US" sz="1200" i="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dirty="0" smtClean="0"/>
                        <a:t>\f</a:t>
                      </a:r>
                      <a:endParaRPr lang="en-US" sz="1800" b="1" i="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0" dirty="0" smtClean="0"/>
                        <a:t>Page break</a:t>
                      </a:r>
                      <a:r>
                        <a:rPr lang="en-US" sz="1200" i="0" baseline="0" dirty="0" smtClean="0"/>
                        <a:t> </a:t>
                      </a:r>
                      <a:r>
                        <a:rPr lang="en-US" sz="1200" i="0" dirty="0" smtClean="0"/>
                        <a:t>character.</a:t>
                      </a:r>
                      <a:endParaRPr lang="en-US" sz="1200" i="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dirty="0" smtClean="0"/>
                        <a:t>\n</a:t>
                      </a:r>
                      <a:endParaRPr lang="en-US" sz="1800" b="1" i="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0" dirty="0" smtClean="0"/>
                        <a:t>Line break character.</a:t>
                      </a:r>
                      <a:endParaRPr lang="en-US" sz="1200" i="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dirty="0" smtClean="0"/>
                        <a:t>\r</a:t>
                      </a:r>
                      <a:endParaRPr lang="en-US" sz="1800" b="1" i="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0" dirty="0" smtClean="0"/>
                        <a:t>Carriage return character.</a:t>
                      </a:r>
                      <a:endParaRPr lang="en-US" sz="1200" i="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dirty="0" smtClean="0"/>
                        <a:t>\t</a:t>
                      </a:r>
                      <a:endParaRPr lang="en-US" sz="1800" b="1" i="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0" dirty="0" smtClean="0"/>
                        <a:t>Horizontal tab character.</a:t>
                      </a:r>
                      <a:endParaRPr lang="en-US" sz="1200" i="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dirty="0" smtClean="0"/>
                        <a:t>\v</a:t>
                      </a:r>
                      <a:endParaRPr lang="en-US" sz="1800" b="1" i="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0" dirty="0" smtClean="0"/>
                        <a:t>Vertical tab character.</a:t>
                      </a:r>
                      <a:endParaRPr lang="en-US" sz="1200" i="0" dirty="0"/>
                    </a:p>
                  </a:txBody>
                  <a:tcPr>
                    <a:solidFill>
                      <a:schemeClr val="accent3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0003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Python Scripts and Files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1295400"/>
            <a:ext cx="3457143" cy="48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47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sz="2800" b="0" dirty="0" smtClean="0">
              <a:latin typeface="Lucida Console" panose="020B0609040504020204" pitchFamily="49" charset="0"/>
            </a:endParaRPr>
          </a:p>
          <a:p>
            <a:pPr marL="0" indent="0" algn="ctr">
              <a:buNone/>
            </a:pPr>
            <a:endParaRPr lang="en-US" sz="2800" b="0" dirty="0">
              <a:latin typeface="Lucida Console" panose="020B0609040504020204" pitchFamily="49" charset="0"/>
            </a:endParaRPr>
          </a:p>
          <a:p>
            <a:pPr marL="0" indent="0" algn="ctr">
              <a:buNone/>
            </a:pPr>
            <a:endParaRPr lang="en-US" sz="2800" b="0" dirty="0" smtClean="0">
              <a:latin typeface="Lucida Console" panose="020B0609040504020204" pitchFamily="49" charset="0"/>
            </a:endParaRPr>
          </a:p>
          <a:p>
            <a:pPr marL="0" indent="0" algn="ctr">
              <a:buNone/>
            </a:pPr>
            <a:endParaRPr lang="en-US" sz="2800" b="0" dirty="0" smtClean="0"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sz="2000" b="0" dirty="0" smtClean="0">
                <a:solidFill>
                  <a:srgbClr val="808080"/>
                </a:solidFill>
                <a:latin typeface="Lucida Console" panose="020B0609040504020204" pitchFamily="49" charset="0"/>
              </a:rPr>
              <a:t># User hasn't yet exited the window.</a:t>
            </a:r>
          </a:p>
          <a:p>
            <a:pPr marL="0" indent="0">
              <a:buNone/>
            </a:pPr>
            <a:r>
              <a:rPr lang="en-US" sz="2000" b="0" dirty="0" smtClean="0">
                <a:latin typeface="Lucida Console" panose="020B0609040504020204" pitchFamily="49" charset="0"/>
              </a:rPr>
              <a:t>done = </a:t>
            </a:r>
            <a:r>
              <a:rPr lang="en-US" sz="2000" b="0" dirty="0" smtClean="0">
                <a:solidFill>
                  <a:srgbClr val="000080"/>
                </a:solidFill>
                <a:latin typeface="Lucida Console" panose="020B0609040504020204" pitchFamily="49" charset="0"/>
              </a:rPr>
              <a:t>False</a:t>
            </a:r>
            <a:endParaRPr lang="en-US" sz="2000" b="0" dirty="0">
              <a:solidFill>
                <a:srgbClr val="00008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8915400" y="1143000"/>
            <a:ext cx="0" cy="534035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Straight Connector 8"/>
          <p:cNvCxnSpPr/>
          <p:nvPr/>
        </p:nvCxnSpPr>
        <p:spPr bwMode="auto">
          <a:xfrm>
            <a:off x="457200" y="1060450"/>
            <a:ext cx="0" cy="534035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Rectangle 9"/>
          <p:cNvSpPr/>
          <p:nvPr/>
        </p:nvSpPr>
        <p:spPr bwMode="auto">
          <a:xfrm>
            <a:off x="-1" y="1060450"/>
            <a:ext cx="457199" cy="5340350"/>
          </a:xfrm>
          <a:prstGeom prst="rect">
            <a:avLst/>
          </a:prstGeom>
          <a:solidFill>
            <a:schemeClr val="accent3">
              <a:lumMod val="85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1369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Program </a:t>
            </a:r>
            <a:r>
              <a:rPr lang="en-US" dirty="0" err="1" smtClean="0"/>
              <a:t>Docstring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sz="2800" b="0" dirty="0" smtClean="0">
              <a:latin typeface="Lucida Console" panose="020B0609040504020204" pitchFamily="49" charset="0"/>
            </a:endParaRPr>
          </a:p>
          <a:p>
            <a:pPr marL="0" indent="0" algn="ctr">
              <a:buNone/>
            </a:pPr>
            <a:endParaRPr lang="en-US" sz="2800" b="0" dirty="0">
              <a:latin typeface="Lucida Console" panose="020B0609040504020204" pitchFamily="49" charset="0"/>
            </a:endParaRPr>
          </a:p>
          <a:p>
            <a:pPr marL="0" indent="0" algn="ctr">
              <a:buNone/>
            </a:pPr>
            <a:endParaRPr lang="en-US" sz="2800" b="0" dirty="0" smtClean="0">
              <a:latin typeface="Lucida Console" panose="020B0609040504020204" pitchFamily="49" charset="0"/>
            </a:endParaRPr>
          </a:p>
          <a:p>
            <a:pPr marL="0" indent="0">
              <a:buNone/>
            </a:pPr>
            <a:endParaRPr lang="en-US" sz="2800" b="0" dirty="0" smtClean="0"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008000"/>
                </a:solidFill>
                <a:latin typeface="Lucida Console" panose="020B0609040504020204" pitchFamily="49" charset="0"/>
              </a:rPr>
              <a:t>"""This program gets a user's input and returns a game board back to them."""</a:t>
            </a:r>
          </a:p>
        </p:txBody>
      </p:sp>
      <p:cxnSp>
        <p:nvCxnSpPr>
          <p:cNvPr id="4" name="Straight Connector 3"/>
          <p:cNvCxnSpPr/>
          <p:nvPr/>
        </p:nvCxnSpPr>
        <p:spPr bwMode="auto">
          <a:xfrm>
            <a:off x="457200" y="1060450"/>
            <a:ext cx="0" cy="534035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5" name="Rectangle 4"/>
          <p:cNvSpPr/>
          <p:nvPr/>
        </p:nvSpPr>
        <p:spPr bwMode="auto">
          <a:xfrm>
            <a:off x="-1" y="1060450"/>
            <a:ext cx="457199" cy="5340350"/>
          </a:xfrm>
          <a:prstGeom prst="rect">
            <a:avLst/>
          </a:prstGeom>
          <a:solidFill>
            <a:schemeClr val="accent3">
              <a:lumMod val="85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8915400" y="1143000"/>
            <a:ext cx="0" cy="534035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473439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input() Function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1752600"/>
            <a:ext cx="2896004" cy="7144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9922" y="3657600"/>
            <a:ext cx="5048955" cy="1467055"/>
          </a:xfrm>
          <a:prstGeom prst="rect">
            <a:avLst/>
          </a:prstGeom>
        </p:spPr>
      </p:pic>
      <p:sp>
        <p:nvSpPr>
          <p:cNvPr id="6" name="Down Arrow 5"/>
          <p:cNvSpPr/>
          <p:nvPr/>
        </p:nvSpPr>
        <p:spPr bwMode="auto">
          <a:xfrm>
            <a:off x="4495800" y="2514600"/>
            <a:ext cx="380798" cy="990600"/>
          </a:xfrm>
          <a:prstGeom prst="downArrow">
            <a:avLst/>
          </a:prstGeom>
          <a:solidFill>
            <a:srgbClr val="009DDC"/>
          </a:solidFill>
          <a:ln>
            <a:noFill/>
          </a:ln>
          <a:effectLst>
            <a:outerShdw blurRad="38100" dist="25401" dir="2700000" sx="99001" sy="99001" algn="ctr" rotWithShape="0">
              <a:schemeClr val="tx1">
                <a:alpha val="75000"/>
              </a:schemeClr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685800" y="3117476"/>
            <a:ext cx="1057274" cy="381001"/>
          </a:xfrm>
          <a:prstGeom prst="roundRect">
            <a:avLst/>
          </a:prstGeom>
          <a:gradFill flip="none" rotWithShape="0">
            <a:gsLst>
              <a:gs pos="0">
                <a:schemeClr val="bg1">
                  <a:lumMod val="92000"/>
                </a:schemeClr>
              </a:gs>
              <a:gs pos="100000">
                <a:schemeClr val="bg1"/>
              </a:gs>
            </a:gsLst>
            <a:lin ang="2700000" scaled="1"/>
            <a:tileRect/>
          </a:gradFill>
          <a:ln>
            <a:noFill/>
          </a:ln>
          <a:effectLst>
            <a:outerShdw blurRad="38100" dist="25400" dir="2700000" sx="99000" sy="99000" algn="tl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100" b="1" dirty="0" smtClean="0">
                <a:solidFill>
                  <a:schemeClr val="tx1"/>
                </a:solidFill>
              </a:rPr>
              <a:t>Prompt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8" name="Line 69"/>
          <p:cNvSpPr>
            <a:spLocks noChangeShapeType="1"/>
          </p:cNvSpPr>
          <p:nvPr/>
        </p:nvSpPr>
        <p:spPr bwMode="auto">
          <a:xfrm rot="16200000" flipH="1">
            <a:off x="1934974" y="3306575"/>
            <a:ext cx="387723" cy="771527"/>
          </a:xfrm>
          <a:prstGeom prst="line">
            <a:avLst/>
          </a:prstGeom>
          <a:noFill/>
          <a:ln w="19050" cmpd="sng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685800" y="3696820"/>
            <a:ext cx="1057274" cy="381001"/>
          </a:xfrm>
          <a:prstGeom prst="roundRect">
            <a:avLst/>
          </a:prstGeom>
          <a:gradFill flip="none" rotWithShape="0">
            <a:gsLst>
              <a:gs pos="0">
                <a:schemeClr val="bg1">
                  <a:lumMod val="92000"/>
                </a:schemeClr>
              </a:gs>
              <a:gs pos="100000">
                <a:schemeClr val="bg1"/>
              </a:gs>
            </a:gsLst>
            <a:lin ang="2700000" scaled="1"/>
            <a:tileRect/>
          </a:gradFill>
          <a:ln>
            <a:noFill/>
          </a:ln>
          <a:effectLst>
            <a:outerShdw blurRad="38100" dist="25400" dir="2700000" sx="99000" sy="99000" algn="tl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100" b="1" dirty="0" smtClean="0">
                <a:solidFill>
                  <a:schemeClr val="tx1"/>
                </a:solidFill>
              </a:rPr>
              <a:t>User input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10" name="Line 69"/>
          <p:cNvSpPr>
            <a:spLocks noChangeShapeType="1"/>
          </p:cNvSpPr>
          <p:nvPr/>
        </p:nvSpPr>
        <p:spPr bwMode="auto">
          <a:xfrm rot="16200000" flipH="1">
            <a:off x="2066134" y="3596859"/>
            <a:ext cx="125403" cy="771527"/>
          </a:xfrm>
          <a:prstGeom prst="line">
            <a:avLst/>
          </a:prstGeom>
          <a:noFill/>
          <a:ln w="19050" cmpd="sng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685800" y="4259459"/>
            <a:ext cx="1057274" cy="381001"/>
          </a:xfrm>
          <a:prstGeom prst="roundRect">
            <a:avLst/>
          </a:prstGeom>
          <a:gradFill flip="none" rotWithShape="0">
            <a:gsLst>
              <a:gs pos="0">
                <a:schemeClr val="bg1">
                  <a:lumMod val="92000"/>
                </a:schemeClr>
              </a:gs>
              <a:gs pos="100000">
                <a:schemeClr val="bg1"/>
              </a:gs>
            </a:gsLst>
            <a:lin ang="2700000" scaled="1"/>
            <a:tileRect/>
          </a:gradFill>
          <a:ln>
            <a:noFill/>
          </a:ln>
          <a:effectLst>
            <a:outerShdw blurRad="38100" dist="25400" dir="2700000" sx="99000" sy="99000" algn="tl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100" b="1" dirty="0" smtClean="0">
                <a:solidFill>
                  <a:schemeClr val="tx1"/>
                </a:solidFill>
              </a:rPr>
              <a:t>Print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12" name="Line 69"/>
          <p:cNvSpPr>
            <a:spLocks noChangeShapeType="1"/>
          </p:cNvSpPr>
          <p:nvPr/>
        </p:nvSpPr>
        <p:spPr bwMode="auto">
          <a:xfrm rot="16200000">
            <a:off x="2037510" y="3942508"/>
            <a:ext cx="182655" cy="771528"/>
          </a:xfrm>
          <a:prstGeom prst="line">
            <a:avLst/>
          </a:prstGeom>
          <a:noFill/>
          <a:ln w="19050" cmpd="sng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710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1905000"/>
            <a:ext cx="6419048" cy="326666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Command Line Arguments</a:t>
            </a:r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2131219" y="3312409"/>
            <a:ext cx="1295400" cy="457201"/>
          </a:xfrm>
          <a:prstGeom prst="roundRect">
            <a:avLst/>
          </a:prstGeom>
          <a:solidFill>
            <a:srgbClr val="009DDC"/>
          </a:solidFill>
          <a:ln>
            <a:noFill/>
          </a:ln>
          <a:effectLst>
            <a:outerShdw blurRad="38100" dist="25401" dir="2700000" sx="99001" sy="99001" algn="tl" rotWithShape="0">
              <a:srgbClr val="000000">
                <a:alpha val="75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Arial" charset="0"/>
              </a:rPr>
              <a:t>Name of Python script</a:t>
            </a:r>
          </a:p>
        </p:txBody>
      </p:sp>
      <p:sp>
        <p:nvSpPr>
          <p:cNvPr id="6" name="Line 69"/>
          <p:cNvSpPr>
            <a:spLocks noChangeShapeType="1"/>
          </p:cNvSpPr>
          <p:nvPr/>
        </p:nvSpPr>
        <p:spPr bwMode="auto">
          <a:xfrm rot="16200000">
            <a:off x="2819606" y="2980883"/>
            <a:ext cx="381001" cy="282051"/>
          </a:xfrm>
          <a:prstGeom prst="line">
            <a:avLst/>
          </a:prstGeom>
          <a:noFill/>
          <a:ln w="19050" cmpd="sng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Right Brace 8"/>
          <p:cNvSpPr/>
          <p:nvPr/>
        </p:nvSpPr>
        <p:spPr bwMode="auto">
          <a:xfrm rot="5400000">
            <a:off x="3027456" y="2320130"/>
            <a:ext cx="206187" cy="971550"/>
          </a:xfrm>
          <a:prstGeom prst="rightBrace">
            <a:avLst>
              <a:gd name="adj1" fmla="val 8333"/>
              <a:gd name="adj2" fmla="val 48205"/>
            </a:avLst>
          </a:prstGeom>
          <a:solidFill>
            <a:schemeClr val="tx1"/>
          </a:solidFill>
          <a:ln w="285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Right Brace 9"/>
          <p:cNvSpPr/>
          <p:nvPr/>
        </p:nvSpPr>
        <p:spPr bwMode="auto">
          <a:xfrm rot="5400000">
            <a:off x="4297457" y="2158207"/>
            <a:ext cx="206185" cy="1295400"/>
          </a:xfrm>
          <a:prstGeom prst="rightBrace">
            <a:avLst>
              <a:gd name="adj1" fmla="val 8333"/>
              <a:gd name="adj2" fmla="val 48205"/>
            </a:avLst>
          </a:prstGeom>
          <a:solidFill>
            <a:schemeClr val="tx1"/>
          </a:solidFill>
          <a:ln w="285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Right Brace 10"/>
          <p:cNvSpPr/>
          <p:nvPr/>
        </p:nvSpPr>
        <p:spPr bwMode="auto">
          <a:xfrm rot="5400000">
            <a:off x="5703981" y="2158207"/>
            <a:ext cx="206185" cy="1295400"/>
          </a:xfrm>
          <a:prstGeom prst="rightBrace">
            <a:avLst>
              <a:gd name="adj1" fmla="val 8333"/>
              <a:gd name="adj2" fmla="val 48205"/>
            </a:avLst>
          </a:prstGeom>
          <a:solidFill>
            <a:schemeClr val="tx1"/>
          </a:solidFill>
          <a:ln w="285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746499" y="3312409"/>
            <a:ext cx="1295400" cy="457201"/>
          </a:xfrm>
          <a:prstGeom prst="roundRect">
            <a:avLst/>
          </a:prstGeom>
          <a:solidFill>
            <a:srgbClr val="009DDC"/>
          </a:solidFill>
          <a:ln>
            <a:noFill/>
          </a:ln>
          <a:effectLst>
            <a:outerShdw blurRad="38100" dist="25401" dir="2700000" sx="99001" sy="99001" algn="tl" rotWithShape="0">
              <a:srgbClr val="000000">
                <a:alpha val="75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Arial" charset="0"/>
              </a:rPr>
              <a:t>Input file argument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66802" y="3312409"/>
            <a:ext cx="1295400" cy="457201"/>
          </a:xfrm>
          <a:prstGeom prst="roundRect">
            <a:avLst/>
          </a:prstGeom>
          <a:solidFill>
            <a:srgbClr val="009DDC"/>
          </a:solidFill>
          <a:ln>
            <a:noFill/>
          </a:ln>
          <a:effectLst>
            <a:outerShdw blurRad="38100" dist="25401" dir="2700000" sx="99001" sy="99001" algn="tl" rotWithShape="0">
              <a:srgbClr val="000000">
                <a:alpha val="75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Arial" charset="0"/>
              </a:rPr>
              <a:t>Output file argument</a:t>
            </a:r>
          </a:p>
        </p:txBody>
      </p:sp>
      <p:sp>
        <p:nvSpPr>
          <p:cNvPr id="14" name="Line 69"/>
          <p:cNvSpPr>
            <a:spLocks noChangeShapeType="1"/>
          </p:cNvSpPr>
          <p:nvPr/>
        </p:nvSpPr>
        <p:spPr bwMode="auto">
          <a:xfrm rot="16200000" flipV="1">
            <a:off x="4236982" y="3121908"/>
            <a:ext cx="380999" cy="0"/>
          </a:xfrm>
          <a:prstGeom prst="line">
            <a:avLst/>
          </a:prstGeom>
          <a:noFill/>
          <a:ln w="19050" cmpd="sng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69"/>
          <p:cNvSpPr>
            <a:spLocks noChangeShapeType="1"/>
          </p:cNvSpPr>
          <p:nvPr/>
        </p:nvSpPr>
        <p:spPr bwMode="auto">
          <a:xfrm rot="16200000" flipV="1">
            <a:off x="5821729" y="2932627"/>
            <a:ext cx="381001" cy="378560"/>
          </a:xfrm>
          <a:prstGeom prst="line">
            <a:avLst/>
          </a:prstGeom>
          <a:noFill/>
          <a:ln w="19050" cmpd="sng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592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Activity: Creating a Python Application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219200"/>
            <a:ext cx="7390476" cy="5190476"/>
          </a:xfrm>
        </p:spPr>
      </p:pic>
    </p:spTree>
    <p:extLst>
      <p:ext uri="{BB962C8B-B14F-4D97-AF65-F5344CB8AC3E}">
        <p14:creationId xmlns:p14="http://schemas.microsoft.com/office/powerpoint/2010/main" val="25810415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Errors in 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Syntax errors</a:t>
            </a:r>
          </a:p>
          <a:p>
            <a:r>
              <a:rPr lang="en-US" dirty="0" smtClean="0"/>
              <a:t>Logic errors</a:t>
            </a:r>
          </a:p>
          <a:p>
            <a:r>
              <a:rPr lang="en-US" dirty="0" smtClean="0"/>
              <a:t>Exceptions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689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Syntax Error</a:t>
            </a:r>
            <a:endParaRPr lang="en-US" dirty="0"/>
          </a:p>
        </p:txBody>
      </p:sp>
      <p:pic>
        <p:nvPicPr>
          <p:cNvPr id="9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2895600"/>
            <a:ext cx="6840664" cy="1451050"/>
          </a:xfrm>
        </p:spPr>
      </p:pic>
    </p:spTree>
    <p:extLst>
      <p:ext uri="{BB962C8B-B14F-4D97-AF65-F5344CB8AC3E}">
        <p14:creationId xmlns:p14="http://schemas.microsoft.com/office/powerpoint/2010/main" val="751634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Logic Error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sz="2800" b="0" dirty="0" smtClean="0">
              <a:latin typeface="Lucida Console" panose="020B0609040504020204" pitchFamily="49" charset="0"/>
            </a:endParaRPr>
          </a:p>
          <a:p>
            <a:pPr marL="0" indent="0" algn="ctr">
              <a:buNone/>
            </a:pPr>
            <a:endParaRPr lang="en-US" sz="2800" b="0" dirty="0">
              <a:latin typeface="Lucida Console" panose="020B0609040504020204" pitchFamily="49" charset="0"/>
            </a:endParaRPr>
          </a:p>
          <a:p>
            <a:pPr marL="0" indent="0" algn="ctr">
              <a:buNone/>
            </a:pPr>
            <a:endParaRPr lang="en-US" sz="2800" b="0" dirty="0" smtClean="0">
              <a:latin typeface="Lucida Console" panose="020B0609040504020204" pitchFamily="49" charset="0"/>
            </a:endParaRPr>
          </a:p>
          <a:p>
            <a:pPr marL="0" indent="0">
              <a:buNone/>
            </a:pPr>
            <a:endParaRPr lang="en-US" sz="2800" b="0" dirty="0" smtClean="0"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sz="2000" b="0" dirty="0" err="1">
                <a:latin typeface="Lucida Console" panose="020B0609040504020204" pitchFamily="49" charset="0"/>
              </a:rPr>
              <a:t>fav_number</a:t>
            </a:r>
            <a:r>
              <a:rPr lang="en-US" sz="2000" b="0" dirty="0" smtClean="0">
                <a:solidFill>
                  <a:srgbClr val="808080"/>
                </a:solidFill>
                <a:latin typeface="Lucida Console" panose="020B0609040504020204" pitchFamily="49" charset="0"/>
              </a:rPr>
              <a:t> </a:t>
            </a:r>
            <a:r>
              <a:rPr lang="en-US" sz="2000" b="0" dirty="0">
                <a:latin typeface="Lucida Console" panose="020B0609040504020204" pitchFamily="49" charset="0"/>
              </a:rPr>
              <a:t>=</a:t>
            </a:r>
            <a:r>
              <a:rPr lang="en-US" sz="2000" b="0" dirty="0" smtClean="0">
                <a:solidFill>
                  <a:srgbClr val="808080"/>
                </a:solidFill>
                <a:latin typeface="Lucida Console" panose="020B0609040504020204" pitchFamily="49" charset="0"/>
              </a:rPr>
              <a:t> </a:t>
            </a:r>
            <a:r>
              <a:rPr lang="en-US" sz="2000" b="0" dirty="0">
                <a:solidFill>
                  <a:srgbClr val="000080"/>
                </a:solidFill>
                <a:latin typeface="Lucida Console" panose="020B0609040504020204" pitchFamily="49" charset="0"/>
              </a:rPr>
              <a:t>input</a:t>
            </a:r>
            <a:r>
              <a:rPr lang="en-US" sz="2000" b="0" dirty="0">
                <a:latin typeface="Lucida Console" panose="020B0609040504020204" pitchFamily="49" charset="0"/>
              </a:rPr>
              <a:t>(</a:t>
            </a:r>
            <a:r>
              <a:rPr lang="en-US" sz="2000" b="0" dirty="0">
                <a:solidFill>
                  <a:srgbClr val="008000"/>
                </a:solidFill>
                <a:latin typeface="Lucida Console" panose="020B0609040504020204" pitchFamily="49" charset="0"/>
              </a:rPr>
              <a:t>“What is your favorite number?”</a:t>
            </a:r>
            <a:r>
              <a:rPr lang="en-US" sz="2000" b="0" dirty="0">
                <a:latin typeface="Lucida Console" panose="020B060904050402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000" b="0" dirty="0" err="1">
                <a:latin typeface="Lucida Console" panose="020B0609040504020204" pitchFamily="49" charset="0"/>
              </a:rPr>
              <a:t>fav_color</a:t>
            </a:r>
            <a:r>
              <a:rPr lang="en-US" sz="2000" b="0" dirty="0" smtClean="0">
                <a:solidFill>
                  <a:srgbClr val="808080"/>
                </a:solidFill>
                <a:latin typeface="Lucida Console" panose="020B0609040504020204" pitchFamily="49" charset="0"/>
              </a:rPr>
              <a:t> </a:t>
            </a:r>
            <a:r>
              <a:rPr lang="en-US" sz="2000" b="0" dirty="0">
                <a:latin typeface="Lucida Console" panose="020B0609040504020204" pitchFamily="49" charset="0"/>
              </a:rPr>
              <a:t>=</a:t>
            </a:r>
            <a:r>
              <a:rPr lang="en-US" sz="2000" b="0" dirty="0" smtClean="0">
                <a:solidFill>
                  <a:srgbClr val="808080"/>
                </a:solidFill>
                <a:latin typeface="Lucida Console" panose="020B0609040504020204" pitchFamily="49" charset="0"/>
              </a:rPr>
              <a:t> </a:t>
            </a:r>
            <a:r>
              <a:rPr lang="en-US" sz="2000" b="0" dirty="0">
                <a:solidFill>
                  <a:srgbClr val="000080"/>
                </a:solidFill>
                <a:latin typeface="Lucida Console" panose="020B0609040504020204" pitchFamily="49" charset="0"/>
              </a:rPr>
              <a:t>input</a:t>
            </a:r>
            <a:r>
              <a:rPr lang="en-US" sz="2000" b="0" dirty="0">
                <a:latin typeface="Lucida Console" panose="020B0609040504020204" pitchFamily="49" charset="0"/>
              </a:rPr>
              <a:t>(</a:t>
            </a:r>
            <a:r>
              <a:rPr lang="en-US" sz="2000" b="0" dirty="0">
                <a:solidFill>
                  <a:srgbClr val="008000"/>
                </a:solidFill>
                <a:latin typeface="Lucida Console" panose="020B0609040504020204" pitchFamily="49" charset="0"/>
              </a:rPr>
              <a:t>“What is your favorite </a:t>
            </a:r>
            <a:r>
              <a:rPr lang="en-US" sz="2000" b="0" dirty="0" smtClean="0">
                <a:solidFill>
                  <a:srgbClr val="008000"/>
                </a:solidFill>
                <a:latin typeface="Lucida Console" panose="020B0609040504020204" pitchFamily="49" charset="0"/>
              </a:rPr>
              <a:t>number?”</a:t>
            </a:r>
            <a:r>
              <a:rPr lang="en-US" sz="2000" b="0" dirty="0" smtClean="0">
                <a:latin typeface="Lucida Console" panose="020B0609040504020204" pitchFamily="49" charset="0"/>
              </a:rPr>
              <a:t>)</a:t>
            </a:r>
            <a:endParaRPr lang="en-US" sz="2000" b="0" dirty="0">
              <a:latin typeface="Lucida Console" panose="020B0609040504020204" pitchFamily="49" charset="0"/>
            </a:endParaRPr>
          </a:p>
          <a:p>
            <a:pPr marL="0" indent="0">
              <a:buNone/>
            </a:pPr>
            <a:endParaRPr lang="en-US" sz="2000" b="0" dirty="0">
              <a:solidFill>
                <a:srgbClr val="808080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000080"/>
                </a:solidFill>
                <a:latin typeface="Lucida Console" panose="020B0609040504020204" pitchFamily="49" charset="0"/>
              </a:rPr>
              <a:t>print</a:t>
            </a:r>
            <a:r>
              <a:rPr lang="en-US" sz="2000" b="0" dirty="0" smtClean="0">
                <a:latin typeface="Lucida Console" panose="020B0609040504020204" pitchFamily="49" charset="0"/>
              </a:rPr>
              <a:t>(</a:t>
            </a:r>
            <a:r>
              <a:rPr lang="en-US" sz="2000" b="0" dirty="0" err="1">
                <a:latin typeface="Lucida Console" panose="020B0609040504020204" pitchFamily="49" charset="0"/>
              </a:rPr>
              <a:t>fav_number</a:t>
            </a:r>
            <a:r>
              <a:rPr lang="en-US" sz="2000" b="0" dirty="0">
                <a:latin typeface="Lucida Console" panose="020B060904050402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80"/>
                </a:solidFill>
                <a:latin typeface="Lucida Console" panose="020B0609040504020204" pitchFamily="49" charset="0"/>
              </a:rPr>
              <a:t>print</a:t>
            </a:r>
            <a:r>
              <a:rPr lang="en-US" sz="2000" b="0" dirty="0" smtClean="0">
                <a:latin typeface="Lucida Console" panose="020B0609040504020204" pitchFamily="49" charset="0"/>
              </a:rPr>
              <a:t>(</a:t>
            </a:r>
            <a:r>
              <a:rPr lang="en-US" sz="2000" b="0" dirty="0" err="1">
                <a:latin typeface="Lucida Console" panose="020B0609040504020204" pitchFamily="49" charset="0"/>
              </a:rPr>
              <a:t>fav_color</a:t>
            </a:r>
            <a:r>
              <a:rPr lang="en-US" sz="2000" b="0" dirty="0">
                <a:latin typeface="Lucida Console" panose="020B0609040504020204" pitchFamily="49" charset="0"/>
              </a:rPr>
              <a:t>)</a:t>
            </a:r>
          </a:p>
        </p:txBody>
      </p:sp>
      <p:cxnSp>
        <p:nvCxnSpPr>
          <p:cNvPr id="4" name="Straight Connector 3"/>
          <p:cNvCxnSpPr/>
          <p:nvPr/>
        </p:nvCxnSpPr>
        <p:spPr bwMode="auto">
          <a:xfrm>
            <a:off x="457200" y="1060450"/>
            <a:ext cx="0" cy="534035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5" name="Rectangle 4"/>
          <p:cNvSpPr/>
          <p:nvPr/>
        </p:nvSpPr>
        <p:spPr bwMode="auto">
          <a:xfrm>
            <a:off x="-1" y="1060450"/>
            <a:ext cx="457199" cy="5340350"/>
          </a:xfrm>
          <a:prstGeom prst="rect">
            <a:avLst/>
          </a:prstGeom>
          <a:solidFill>
            <a:schemeClr val="accent3">
              <a:lumMod val="85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8915400" y="1143000"/>
            <a:ext cx="0" cy="534035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608494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Guidelines for Preventing Errors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an IDE with error indicators to detect syntax errors before execution</a:t>
            </a:r>
            <a:r>
              <a:rPr lang="en-US" dirty="0" smtClean="0"/>
              <a:t>.</a:t>
            </a:r>
          </a:p>
          <a:p>
            <a:r>
              <a:rPr lang="en-US" dirty="0"/>
              <a:t>Use an IDE with code suggestion or completion to help you resolve syntax errors</a:t>
            </a:r>
            <a:r>
              <a:rPr lang="en-US" dirty="0" smtClean="0"/>
              <a:t>.</a:t>
            </a:r>
          </a:p>
          <a:p>
            <a:r>
              <a:rPr lang="en-US" dirty="0"/>
              <a:t>Type </a:t>
            </a:r>
            <a:r>
              <a:rPr lang="en-US" dirty="0" smtClean="0"/>
              <a:t>carefully, </a:t>
            </a:r>
            <a:r>
              <a:rPr lang="en-US" dirty="0"/>
              <a:t>and always remember to indent loops, conditional statements, function definitions, and other objects</a:t>
            </a:r>
            <a:r>
              <a:rPr lang="en-US" dirty="0" smtClean="0"/>
              <a:t>.</a:t>
            </a:r>
          </a:p>
          <a:p>
            <a:r>
              <a:rPr lang="en-US" dirty="0"/>
              <a:t>Remember to add a colon at the end of the first line of most of these objects</a:t>
            </a:r>
            <a:r>
              <a:rPr lang="en-US" dirty="0" smtClean="0"/>
              <a:t>.</a:t>
            </a:r>
          </a:p>
          <a:p>
            <a:r>
              <a:rPr lang="en-US" dirty="0"/>
              <a:t>Know Python's reserved words list so you don't accidentally try to use one as a variable</a:t>
            </a:r>
            <a:r>
              <a:rPr lang="en-US" dirty="0" smtClean="0"/>
              <a:t>.</a:t>
            </a:r>
          </a:p>
          <a:p>
            <a:r>
              <a:rPr lang="en-US" dirty="0" smtClean="0"/>
              <a:t>Use </a:t>
            </a:r>
            <a:r>
              <a:rPr lang="en-US" dirty="0" err="1"/>
              <a:t>docstrings</a:t>
            </a:r>
            <a:r>
              <a:rPr lang="en-US" dirty="0"/>
              <a:t> and comments to adequately explain what every block of code should do</a:t>
            </a:r>
            <a:r>
              <a:rPr lang="en-US" dirty="0" smtClean="0"/>
              <a:t>.</a:t>
            </a:r>
          </a:p>
          <a:p>
            <a:r>
              <a:rPr lang="en-US" dirty="0"/>
              <a:t>Try to envision how a block of code could affect the whole program if it fails to execute as intended</a:t>
            </a:r>
            <a:r>
              <a:rPr lang="en-US" dirty="0" smtClean="0"/>
              <a:t>.</a:t>
            </a:r>
          </a:p>
          <a:p>
            <a:r>
              <a:rPr lang="en-US" dirty="0"/>
              <a:t>Watch </a:t>
            </a:r>
            <a:r>
              <a:rPr lang="en-US" dirty="0" smtClean="0"/>
              <a:t>for loops </a:t>
            </a:r>
            <a:r>
              <a:rPr lang="en-US" dirty="0"/>
              <a:t>that never initiate or terminate</a:t>
            </a:r>
            <a:r>
              <a:rPr lang="en-US" dirty="0" smtClean="0"/>
              <a:t>.</a:t>
            </a:r>
          </a:p>
          <a:p>
            <a:r>
              <a:rPr lang="en-US" dirty="0"/>
              <a:t>Thoroughly test larger, more complex programs before releasing them </a:t>
            </a:r>
            <a:r>
              <a:rPr lang="en-US" dirty="0" smtClean="0"/>
              <a:t>to a </a:t>
            </a:r>
            <a:r>
              <a:rPr lang="en-US" dirty="0"/>
              <a:t>wider audience</a:t>
            </a:r>
            <a:r>
              <a:rPr lang="en-US" dirty="0" smtClean="0"/>
              <a:t>.</a:t>
            </a:r>
          </a:p>
          <a:p>
            <a:r>
              <a:rPr lang="en-US" dirty="0"/>
              <a:t>During testing, attempt to "break" your code, i.e., test how the code handles unconventional or uncommon input.</a:t>
            </a:r>
          </a:p>
        </p:txBody>
      </p:sp>
    </p:spTree>
    <p:extLst>
      <p:ext uri="{BB962C8B-B14F-4D97-AF65-F5344CB8AC3E}">
        <p14:creationId xmlns:p14="http://schemas.microsoft.com/office/powerpoint/2010/main" val="1974317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z="2400" b="1" i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Reflective Questions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457200" y="1060450"/>
            <a:ext cx="8229600" cy="53403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DDC"/>
              </a:buClr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DDC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DDC"/>
              </a:buClr>
              <a:buFont typeface="Wingdings" pitchFamily="2" charset="2"/>
              <a:buChar char="§"/>
              <a:defRPr sz="11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DDC"/>
              </a:buClr>
              <a:buFont typeface="Wingdings" pitchFamily="2" charset="2"/>
              <a:buChar char="§"/>
              <a:defRPr sz="11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DDC"/>
              </a:buClr>
              <a:buFont typeface="Wingdings" pitchFamily="2" charset="2"/>
              <a:buChar char="§"/>
              <a:defRPr sz="11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14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14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14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228600" indent="-228600" eaLnBrk="1" hangingPunct="1">
              <a:buFontTx/>
              <a:buNone/>
              <a:tabLst>
                <a:tab pos="228600" algn="l"/>
              </a:tabLst>
            </a:pPr>
            <a:r>
              <a:rPr lang="en-US" altLang="en-US" kern="0" dirty="0" smtClean="0">
                <a:solidFill>
                  <a:srgbClr val="009DDC"/>
                </a:solidFill>
              </a:rPr>
              <a:t>1. </a:t>
            </a:r>
            <a:r>
              <a:rPr lang="en-US" altLang="en-US" kern="0" dirty="0" smtClean="0"/>
              <a:t>What </a:t>
            </a:r>
            <a:r>
              <a:rPr lang="en-US" altLang="en-US" kern="0" dirty="0"/>
              <a:t>about Python is different than the other programming languages you've used or have heard of?</a:t>
            </a:r>
            <a:r>
              <a:rPr lang="en-US" altLang="en-US" kern="0" dirty="0" smtClean="0">
                <a:solidFill>
                  <a:srgbClr val="009DDC"/>
                </a:solidFill>
              </a:rPr>
              <a:t>	</a:t>
            </a:r>
          </a:p>
          <a:p>
            <a:pPr marL="228600" indent="-228600" eaLnBrk="1" hangingPunct="1">
              <a:buFontTx/>
              <a:buNone/>
              <a:tabLst>
                <a:tab pos="228600" algn="l"/>
              </a:tabLst>
            </a:pPr>
            <a:endParaRPr lang="en-US" altLang="en-US" kern="0" dirty="0" smtClean="0"/>
          </a:p>
          <a:p>
            <a:pPr marL="228600" indent="-228600" eaLnBrk="1" hangingPunct="1">
              <a:buFontTx/>
              <a:buNone/>
              <a:tabLst>
                <a:tab pos="228600" algn="l"/>
              </a:tabLst>
            </a:pPr>
            <a:r>
              <a:rPr lang="en-US" altLang="en-US" kern="0" dirty="0" smtClean="0">
                <a:solidFill>
                  <a:srgbClr val="009DDC"/>
                </a:solidFill>
              </a:rPr>
              <a:t>2.	</a:t>
            </a:r>
            <a:r>
              <a:rPr lang="en-US" altLang="en-US" kern="0" dirty="0"/>
              <a:t>When do you think you'll use interactive mode versus running a Python script normally?</a:t>
            </a:r>
            <a:endParaRPr lang="en-US" altLang="en-US" kern="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Security Fundamentals&amp;quot;&quot;/&gt;&lt;property id=&quot;20307&quot; value=&quot;339&quot;/&gt;&lt;/object&gt;&lt;object type=&quot;3&quot; unique_id=&quot;10005&quot;&gt;&lt;property id=&quot;20148&quot; value=&quot;5&quot;/&gt;&lt;property id=&quot;20300&quot; value=&quot;Slide 2 - &amp;quot;What Is Information Security?&amp;quot;&quot;/&gt;&lt;property id=&quot;20307&quot; value=&quot;340&quot;/&gt;&lt;/object&gt;&lt;object type=&quot;3&quot; unique_id=&quot;10006&quot;&gt;&lt;property id=&quot;20148&quot; value=&quot;5&quot;/&gt;&lt;property id=&quot;20300&quot; value=&quot;Slide 3 - &amp;quot;What to Protect?&amp;quot;&quot;/&gt;&lt;property id=&quot;20307&quot; value=&quot;341&quot;/&gt;&lt;/object&gt;&lt;object type=&quot;3&quot; unique_id=&quot;10007&quot;&gt;&lt;property id=&quot;20148&quot; value=&quot;5&quot;/&gt;&lt;property id=&quot;20300&quot; value=&quot;Slide 4 - &amp;quot;Goals of Security&amp;quot;&quot;/&gt;&lt;property id=&quot;20307&quot; value=&quot;342&quot;/&gt;&lt;/object&gt;&lt;object type=&quot;3&quot; unique_id=&quot;10008&quot;&gt;&lt;property id=&quot;20148&quot; value=&quot;5&quot;/&gt;&lt;property id=&quot;20300&quot; value=&quot;Slide 5 - &amp;quot;Vulnerabilities&amp;quot;&quot;/&gt;&lt;property id=&quot;20307&quot; value=&quot;335&quot;/&gt;&lt;/object&gt;&lt;object type=&quot;3&quot; unique_id=&quot;10009&quot;&gt;&lt;property id=&quot;20148&quot; value=&quot;5&quot;/&gt;&lt;property id=&quot;20300&quot; value=&quot;Slide 6 - &amp;quot;Threats&amp;quot;&quot;/&gt;&lt;property id=&quot;20307&quot; value=&quot;343&quot;/&gt;&lt;/object&gt;&lt;object type=&quot;3&quot; unique_id=&quot;10010&quot;&gt;&lt;property id=&quot;20148&quot; value=&quot;5&quot;/&gt;&lt;property id=&quot;20300&quot; value=&quot;Slide 7 - &amp;quot;Attacks&amp;quot;&quot;/&gt;&lt;property id=&quot;20307&quot; value=&quot;344&quot;/&gt;&lt;/object&gt;&lt;object type=&quot;3&quot; unique_id=&quot;10011&quot;&gt;&lt;property id=&quot;20148&quot; value=&quot;5&quot;/&gt;&lt;property id=&quot;20300&quot; value=&quot;Slide 8 - &amp;quot;Intrusions&amp;quot;&quot;/&gt;&lt;property id=&quot;20307&quot; value=&quot;345&quot;/&gt;&lt;/object&gt;&lt;object type=&quot;3&quot; unique_id=&quot;10012&quot;&gt;&lt;property id=&quot;20148&quot; value=&quot;5&quot;/&gt;&lt;property id=&quot;20300&quot; value=&quot;Slide 9 - &amp;quot;Risk&amp;quot;&quot;/&gt;&lt;property id=&quot;20307&quot; value=&quot;346&quot;/&gt;&lt;/object&gt;&lt;object type=&quot;3&quot; unique_id=&quot;10013&quot;&gt;&lt;property id=&quot;20148&quot; value=&quot;5&quot;/&gt;&lt;property id=&quot;20300&quot; value=&quot;Slide 10 - &amp;quot;Controls&amp;quot;&quot;/&gt;&lt;property id=&quot;20307&quot; value=&quot;347&quot;/&gt;&lt;/object&gt;&lt;object type=&quot;3&quot; unique_id=&quot;10014&quot;&gt;&lt;property id=&quot;20148&quot; value=&quot;5&quot;/&gt;&lt;property id=&quot;20300&quot; value=&quot;Slide 11 - &amp;quot;Types of controls&amp;quot;&quot;/&gt;&lt;property id=&quot;20307&quot; value=&quot;348&quot;/&gt;&lt;/object&gt;&lt;object type=&quot;3&quot; unique_id=&quot;10015&quot;&gt;&lt;property id=&quot;20148&quot; value=&quot;5&quot;/&gt;&lt;property id=&quot;20300&quot; value=&quot;Slide 12 - &amp;quot;Security Management Objectives&amp;quot;&quot;/&gt;&lt;property id=&quot;20307&quot; value=&quot;349&quot;/&gt;&lt;/object&gt;&lt;object type=&quot;3&quot; unique_id=&quot;10016&quot;&gt;&lt;property id=&quot;20148&quot; value=&quot;5&quot;/&gt;&lt;property id=&quot;20300&quot; value=&quot;Slide 13 - &amp;quot;The CIA Triad&amp;quot;&quot;/&gt;&lt;property id=&quot;20307&quot; value=&quot;350&quot;/&gt;&lt;/object&gt;&lt;object type=&quot;3&quot; unique_id=&quot;10017&quot;&gt;&lt;property id=&quot;20148&quot; value=&quot;5&quot;/&gt;&lt;property id=&quot;20300&quot; value=&quot;Slide 14 - &amp;quot;Non-repudiation&amp;quot;&quot;/&gt;&lt;property id=&quot;20307&quot; value=&quot;351&quot;/&gt;&lt;/object&gt;&lt;object type=&quot;3&quot; unique_id=&quot;10018&quot;&gt;&lt;property id=&quot;20148&quot; value=&quot;5&quot;/&gt;&lt;property id=&quot;20300&quot; value=&quot;Slide 15 - &amp;quot;Authentication&amp;quot;&quot;/&gt;&lt;property id=&quot;20307&quot; value=&quot;352&quot;/&gt;&lt;/object&gt;&lt;object type=&quot;3&quot; unique_id=&quot;10019&quot;&gt;&lt;property id=&quot;20148&quot; value=&quot;5&quot;/&gt;&lt;property id=&quot;20300&quot; value=&quot;Slide 16 - &amp;quot;Identification&amp;quot;&quot;/&gt;&lt;property id=&quot;20307&quot; value=&quot;353&quot;/&gt;&lt;/object&gt;&lt;object type=&quot;3&quot; unique_id=&quot;10020&quot;&gt;&lt;property id=&quot;20148&quot; value=&quot;5&quot;/&gt;&lt;property id=&quot;20300&quot; value=&quot;Slide 17 - &amp;quot;The Five A’s&amp;quot;&quot;/&gt;&lt;property id=&quot;20307&quot; value=&quot;397&quot;/&gt;&lt;/object&gt;&lt;object type=&quot;3&quot; unique_id=&quot;10021&quot;&gt;&lt;property id=&quot;20148&quot; value=&quot;5&quot;/&gt;&lt;property id=&quot;20300&quot; value=&quot;Slide 18 - &amp;quot;Access Control Methods&amp;quot;&quot;/&gt;&lt;property id=&quot;20307&quot; value=&quot;355&quot;/&gt;&lt;/object&gt;&lt;object type=&quot;3&quot; unique_id=&quot;10022&quot;&gt;&lt;property id=&quot;20148&quot; value=&quot;5&quot;/&gt;&lt;property id=&quot;20300&quot; value=&quot;Slide 19 - &amp;quot;Implicit Deny&amp;quot;&quot;/&gt;&lt;property id=&quot;20307&quot; value=&quot;356&quot;/&gt;&lt;/object&gt;&lt;object type=&quot;3&quot; unique_id=&quot;10023&quot;&gt;&lt;property id=&quot;20148&quot; value=&quot;5&quot;/&gt;&lt;property id=&quot;20300&quot; value=&quot;Slide 20 - &amp;quot;Least Privilege&amp;quot;&quot;/&gt;&lt;property id=&quot;20307&quot; value=&quot;357&quot;/&gt;&lt;/object&gt;&lt;object type=&quot;3&quot; unique_id=&quot;10024&quot;&gt;&lt;property id=&quot;20148&quot; value=&quot;5&quot;/&gt;&lt;property id=&quot;20300&quot; value=&quot;Slide 21 - &amp;quot;Separation of Duties&amp;quot;&quot;/&gt;&lt;property id=&quot;20307&quot; value=&quot;398&quot;/&gt;&lt;/object&gt;&lt;object type=&quot;3&quot; unique_id=&quot;10025&quot;&gt;&lt;property id=&quot;20148&quot; value=&quot;5&quot;/&gt;&lt;property id=&quot;20300&quot; value=&quot;Slide 22 - &amp;quot;Job Rotation&amp;quot;&quot;/&gt;&lt;property id=&quot;20307&quot; value=&quot;359&quot;/&gt;&lt;/object&gt;&lt;object type=&quot;3&quot; unique_id=&quot;10026&quot;&gt;&lt;property id=&quot;20148&quot; value=&quot;5&quot;/&gt;&lt;property id=&quot;20300&quot; value=&quot;Slide 23 - &amp;quot;Mandatory Vacation&amp;quot;&quot;/&gt;&lt;property id=&quot;20307&quot; value=&quot;360&quot;/&gt;&lt;/object&gt;&lt;object type=&quot;3&quot; unique_id=&quot;10027&quot;&gt;&lt;property id=&quot;20148&quot; value=&quot;5&quot;/&gt;&lt;property id=&quot;20300&quot; value=&quot;Slide 24 - &amp;quot;Time of Day Restrictions&amp;quot;&quot;/&gt;&lt;property id=&quot;20307&quot; value=&quot;361&quot;/&gt;&lt;/object&gt;&lt;object type=&quot;3&quot; unique_id=&quot;10028&quot;&gt;&lt;property id=&quot;20148&quot; value=&quot;5&quot;/&gt;&lt;property id=&quot;20300&quot; value=&quot;Slide 25 - &amp;quot;Privilege Management&amp;quot;&quot;/&gt;&lt;property id=&quot;20307&quot; value=&quot;362&quot;/&gt;&lt;/object&gt;&lt;object type=&quot;3&quot; unique_id=&quot;10029&quot;&gt;&lt;property id=&quot;20148&quot; value=&quot;5&quot;/&gt;&lt;property id=&quot;20300&quot; value=&quot;Slide 26 - &amp;quot;Authentication Factors&amp;quot;&quot;/&gt;&lt;property id=&quot;20307&quot; value=&quot;400&quot;/&gt;&lt;/object&gt;&lt;object type=&quot;3&quot; unique_id=&quot;10030&quot;&gt;&lt;property id=&quot;20148&quot; value=&quot;5&quot;/&gt;&lt;property id=&quot;20300&quot; value=&quot;Slide 27 - &amp;quot;User Name/Password Authentication&amp;quot;&quot;/&gt;&lt;property id=&quot;20307&quot; value=&quot;364&quot;/&gt;&lt;/object&gt;&lt;object type=&quot;3&quot; unique_id=&quot;10031&quot;&gt;&lt;property id=&quot;20148&quot; value=&quot;5&quot;/&gt;&lt;property id=&quot;20300&quot; value=&quot;Slide 28 - &amp;quot;Tokens&amp;quot;&quot;/&gt;&lt;property id=&quot;20307&quot; value=&quot;366&quot;/&gt;&lt;/object&gt;&lt;object type=&quot;3&quot; unique_id=&quot;10032&quot;&gt;&lt;property id=&quot;20148&quot; value=&quot;5&quot;/&gt;&lt;property id=&quot;20300&quot; value=&quot;Slide 29 - &amp;quot;Trusted OS&amp;quot;&quot;/&gt;&lt;property id=&quot;20307&quot; value=&quot;367&quot;/&gt;&lt;/object&gt;&lt;object type=&quot;3&quot; unique_id=&quot;10033&quot;&gt;&lt;property id=&quot;20148&quot; value=&quot;5&quot;/&gt;&lt;property id=&quot;20300&quot; value=&quot;Slide 30 - &amp;quot;Biometrics&amp;quot;&quot;/&gt;&lt;property id=&quot;20307&quot; value=&quot;368&quot;/&gt;&lt;/object&gt;&lt;object type=&quot;3&quot; unique_id=&quot;10034&quot;&gt;&lt;property id=&quot;20148&quot; value=&quot;5&quot;/&gt;&lt;property id=&quot;20300&quot; value=&quot;Slide 31 - &amp;quot;Multi-Factor Authentication&amp;quot;&quot;/&gt;&lt;property id=&quot;20307&quot; value=&quot;369&quot;/&gt;&lt;/object&gt;&lt;object type=&quot;3&quot; unique_id=&quot;10035&quot;&gt;&lt;property id=&quot;20148&quot; value=&quot;5&quot;/&gt;&lt;property id=&quot;20300&quot; value=&quot;Slide 32 - &amp;quot;Mutual Authentication&amp;quot;&quot;/&gt;&lt;property id=&quot;20307&quot; value=&quot;370&quot;/&gt;&lt;/object&gt;&lt;object type=&quot;3&quot; unique_id=&quot;10036&quot;&gt;&lt;property id=&quot;20148&quot; value=&quot;5&quot;/&gt;&lt;property id=&quot;20300&quot; value=&quot;Slide 33 - &amp;quot;Cryptography&amp;quot;&quot;/&gt;&lt;property id=&quot;20307&quot; value=&quot;371&quot;/&gt;&lt;/object&gt;&lt;object type=&quot;3&quot; unique_id=&quot;10037&quot;&gt;&lt;property id=&quot;20148&quot; value=&quot;5&quot;/&gt;&lt;property id=&quot;20300&quot; value=&quot;Slide 34 - &amp;quot;Quantum Cryptography&amp;quot;&quot;/&gt;&lt;property id=&quot;20307&quot; value=&quot;372&quot;/&gt;&lt;/object&gt;&lt;object type=&quot;3&quot; unique_id=&quot;10038&quot;&gt;&lt;property id=&quot;20148&quot; value=&quot;5&quot;/&gt;&lt;property id=&quot;20300&quot; value=&quot;Slide 35 - &amp;quot;Encryption&amp;quot;&quot;/&gt;&lt;property id=&quot;20307&quot; value=&quot;373&quot;/&gt;&lt;/object&gt;&lt;object type=&quot;3&quot; unique_id=&quot;10039&quot;&gt;&lt;property id=&quot;20148&quot; value=&quot;5&quot;/&gt;&lt;property id=&quot;20300&quot; value=&quot;Slide 36 - &amp;quot;Ciphers&amp;quot;&quot;/&gt;&lt;property id=&quot;20307&quot; value=&quot;374&quot;/&gt;&lt;/object&gt;&lt;object type=&quot;3&quot; unique_id=&quot;10040&quot;&gt;&lt;property id=&quot;20148&quot; value=&quot;5&quot;/&gt;&lt;property id=&quot;20300&quot; value=&quot;Slide 37 - &amp;quot;Cipher Types&amp;quot;&quot;/&gt;&lt;property id=&quot;20307&quot; value=&quot;375&quot;/&gt;&lt;/object&gt;&lt;object type=&quot;3&quot; unique_id=&quot;10041&quot;&gt;&lt;property id=&quot;20148&quot; value=&quot;5&quot;/&gt;&lt;property id=&quot;20300&quot; value=&quot;Slide 38 - &amp;quot;Encryption and Security Goals&amp;quot;&quot;/&gt;&lt;property id=&quot;20307&quot; value=&quot;376&quot;/&gt;&lt;/object&gt;&lt;object type=&quot;3&quot; unique_id=&quot;10042&quot;&gt;&lt;property id=&quot;20148&quot; value=&quot;5&quot;/&gt;&lt;property id=&quot;20300&quot; value=&quot;Slide 39 - &amp;quot;Encryption Algorithms&amp;quot;&quot;/&gt;&lt;property id=&quot;20307&quot; value=&quot;377&quot;/&gt;&lt;/object&gt;&lt;object type=&quot;3&quot; unique_id=&quot;10043&quot;&gt;&lt;property id=&quot;20148&quot; value=&quot;5&quot;/&gt;&lt;property id=&quot;20300&quot; value=&quot;Slide 40 - &amp;quot;Steganography&amp;quot;&quot;/&gt;&lt;property id=&quot;20307&quot; value=&quot;378&quot;/&gt;&lt;/object&gt;&lt;object type=&quot;3&quot; unique_id=&quot;10044&quot;&gt;&lt;property id=&quot;20148&quot; value=&quot;5&quot;/&gt;&lt;property id=&quot;20300&quot; value=&quot;Slide 41 - &amp;quot;Keys&amp;quot;&quot;/&gt;&lt;property id=&quot;20307&quot; value=&quot;379&quot;/&gt;&lt;/object&gt;&lt;object type=&quot;3&quot; unique_id=&quot;10045&quot;&gt;&lt;property id=&quot;20148&quot; value=&quot;5&quot;/&gt;&lt;property id=&quot;20300&quot; value=&quot;Slide 42 - &amp;quot;Hashing Encryption&amp;quot;&quot;/&gt;&lt;property id=&quot;20307&quot; value=&quot;380&quot;/&gt;&lt;/object&gt;&lt;object type=&quot;3&quot; unique_id=&quot;10046&quot;&gt;&lt;property id=&quot;20148&quot; value=&quot;5&quot;/&gt;&lt;property id=&quot;20300&quot; value=&quot;Slide 43 - &amp;quot;Hashing Encryption Algorithms&amp;quot;&quot;/&gt;&lt;property id=&quot;20307&quot; value=&quot;381&quot;/&gt;&lt;/object&gt;&lt;object type=&quot;3&quot; unique_id=&quot;10047&quot;&gt;&lt;property id=&quot;20148&quot; value=&quot;5&quot;/&gt;&lt;property id=&quot;20300&quot; value=&quot;Slide 44 - &amp;quot;RIPEMD&amp;quot;&quot;/&gt;&lt;property id=&quot;20307&quot; value=&quot;382&quot;/&gt;&lt;/object&gt;&lt;object type=&quot;3&quot; unique_id=&quot;10048&quot;&gt;&lt;property id=&quot;20148&quot; value=&quot;5&quot;/&gt;&lt;property id=&quot;20300&quot; value=&quot;Slide 45 - &amp;quot;Symmetric Encryption&amp;quot;&quot;/&gt;&lt;property id=&quot;20307&quot; value=&quot;383&quot;/&gt;&lt;/object&gt;&lt;object type=&quot;3&quot; unique_id=&quot;10049&quot;&gt;&lt;property id=&quot;20148&quot; value=&quot;5&quot;/&gt;&lt;property id=&quot;20300&quot; value=&quot;Slide 46 - &amp;quot;Symmetric Encryption Algorithms&amp;quot;&quot;/&gt;&lt;property id=&quot;20307&quot; value=&quot;384&quot;/&gt;&lt;/object&gt;&lt;object type=&quot;3&quot; unique_id=&quot;10050&quot;&gt;&lt;property id=&quot;20148&quot; value=&quot;5&quot;/&gt;&lt;property id=&quot;20300&quot; value=&quot;Slide 47 - &amp;quot;TwoFish&amp;quot;&quot;/&gt;&lt;property id=&quot;20307&quot; value=&quot;385&quot;/&gt;&lt;/object&gt;&lt;object type=&quot;3&quot; unique_id=&quot;10051&quot;&gt;&lt;property id=&quot;20148&quot; value=&quot;5&quot;/&gt;&lt;property id=&quot;20300&quot; value=&quot;Slide 48 - &amp;quot;Asymmetric Encryption&amp;quot;&quot;/&gt;&lt;property id=&quot;20307&quot; value=&quot;386&quot;/&gt;&lt;/object&gt;&lt;object type=&quot;3&quot; unique_id=&quot;10052&quot;&gt;&lt;property id=&quot;20148&quot; value=&quot;5&quot;/&gt;&lt;property id=&quot;20300&quot; value=&quot;Slide 49 - &amp;quot;Asymmetric Encryption Algorithms&amp;quot;&quot;/&gt;&lt;property id=&quot;20307&quot; value=&quot;387&quot;/&gt;&lt;/object&gt;&lt;object type=&quot;3&quot; unique_id=&quot;10053&quot;&gt;&lt;property id=&quot;20148&quot; value=&quot;5&quot;/&gt;&lt;property id=&quot;20300&quot; value=&quot;Slide 50 - &amp;quot;Digital Signatures&amp;quot;&quot;/&gt;&lt;property id=&quot;20307&quot; value=&quot;388&quot;/&gt;&lt;/object&gt;&lt;object type=&quot;3&quot; unique_id=&quot;10054&quot;&gt;&lt;property id=&quot;20148&quot; value=&quot;5&quot;/&gt;&lt;property id=&quot;20300&quot; value=&quot;Slide 51 - &amp;quot;Hardware Based Encryption Devices&amp;quot;&quot;/&gt;&lt;property id=&quot;20307&quot; value=&quot;389&quot;/&gt;&lt;/object&gt;&lt;object type=&quot;3&quot; unique_id=&quot;10055&quot;&gt;&lt;property id=&quot;20148&quot; value=&quot;5&quot;/&gt;&lt;property id=&quot;20300&quot; value=&quot;Slide 52 - &amp;quot;Security Policies&amp;quot;&quot;/&gt;&lt;property id=&quot;20307&quot; value=&quot;390&quot;/&gt;&lt;/object&gt;&lt;object type=&quot;3&quot; unique_id=&quot;10056&quot;&gt;&lt;property id=&quot;20148&quot; value=&quot;5&quot;/&gt;&lt;property id=&quot;20300&quot; value=&quot;Slide 53 - &amp;quot;Security Policy Components&amp;quot;&quot;/&gt;&lt;property id=&quot;20307&quot; value=&quot;391&quot;/&gt;&lt;/object&gt;&lt;object type=&quot;3&quot; unique_id=&quot;10057&quot;&gt;&lt;property id=&quot;20148&quot; value=&quot;5&quot;/&gt;&lt;property id=&quot;20300&quot; value=&quot;Slide 54 - &amp;quot;Security Policy Issues&amp;quot;&quot;/&gt;&lt;property id=&quot;20307&quot; value=&quot;392&quot;/&gt;&lt;/object&gt;&lt;object type=&quot;3&quot; unique_id=&quot;10058&quot;&gt;&lt;property id=&quot;20148&quot; value=&quot;5&quot;/&gt;&lt;property id=&quot;20300&quot; value=&quot;Slide 55 - &amp;quot;Common Security Policy Types&amp;quot;&quot;/&gt;&lt;property id=&quot;20307&quot; value=&quot;393&quot;/&gt;&lt;/object&gt;&lt;object type=&quot;3&quot; unique_id=&quot;10059&quot;&gt;&lt;property id=&quot;20148&quot; value=&quot;5&quot;/&gt;&lt;property id=&quot;20300&quot; value=&quot;Slide 56 - &amp;quot;Security Document Categories&amp;quot;&quot;/&gt;&lt;property id=&quot;20307&quot; value=&quot;394&quot;/&gt;&lt;/object&gt;&lt;object type=&quot;3&quot; unique_id=&quot;10060&quot;&gt;&lt;property id=&quot;20148&quot; value=&quot;5&quot;/&gt;&lt;property id=&quot;20300&quot; value=&quot;Slide 57 - &amp;quot;Change Management&amp;quot;&quot;/&gt;&lt;property id=&quot;20307&quot; value=&quot;395&quot;/&gt;&lt;/object&gt;&lt;object type=&quot;3&quot; unique_id=&quot;10061&quot;&gt;&lt;property id=&quot;20148&quot; value=&quot;5&quot;/&gt;&lt;property id=&quot;20300&quot; value=&quot;Slide 58 - &amp;quot;Documentation Handling Measures&amp;quot;&quot;/&gt;&lt;property id=&quot;20307&quot; value=&quot;396&quot;/&gt;&lt;/object&gt;&lt;object type=&quot;3&quot; unique_id=&quot;10062&quot;&gt;&lt;property id=&quot;20148&quot; value=&quot;5&quot;/&gt;&lt;property id=&quot;20300&quot; value=&quot;Slide 59 - &amp;quot;Reflective Questions&amp;quot;&quot;/&gt;&lt;property id=&quot;20307&quot; value=&quot;311&quot;/&gt;&lt;/object&gt;&lt;/object&gt;&lt;/object&gt;&lt;/database&gt;"/>
  <p:tag name="SECTOMILLISECCONVERTED" val="1"/>
  <p:tag name="ISPRING_RESOURCE_PATHS_HASH_PRESENTER" val="6dddc69181430388f6e68c4e186eb48ffb695"/>
</p:tagLst>
</file>

<file path=ppt/theme/theme1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53738</TotalTime>
  <Words>615</Words>
  <Application>Microsoft Office PowerPoint</Application>
  <PresentationFormat>On-screen Show (4:3)</PresentationFormat>
  <Paragraphs>204</Paragraphs>
  <Slides>25</Slides>
  <Notes>3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Arial Black</vt:lpstr>
      <vt:lpstr>Calibri</vt:lpstr>
      <vt:lpstr>Lucida Console</vt:lpstr>
      <vt:lpstr>Wingdings</vt:lpstr>
      <vt:lpstr>1_Default Design</vt:lpstr>
      <vt:lpstr>Setting Up Python and Developing a Simple Application</vt:lpstr>
      <vt:lpstr>Programs Developed in Python</vt:lpstr>
      <vt:lpstr>CPython</vt:lpstr>
      <vt:lpstr>IDLE</vt:lpstr>
      <vt:lpstr>Other Python IDEs</vt:lpstr>
      <vt:lpstr>Interactive Mode</vt:lpstr>
      <vt:lpstr>Help</vt:lpstr>
      <vt:lpstr>Variable Assignment</vt:lpstr>
      <vt:lpstr>Reserved Words</vt:lpstr>
      <vt:lpstr>Arithmetic Operators</vt:lpstr>
      <vt:lpstr>Order of Operations</vt:lpstr>
      <vt:lpstr>The print() Function</vt:lpstr>
      <vt:lpstr>String Literals</vt:lpstr>
      <vt:lpstr>Escape Codes</vt:lpstr>
      <vt:lpstr>Python Scripts and Files</vt:lpstr>
      <vt:lpstr>Comments</vt:lpstr>
      <vt:lpstr>Program Docstring</vt:lpstr>
      <vt:lpstr>The input() Function</vt:lpstr>
      <vt:lpstr>Command Line Arguments</vt:lpstr>
      <vt:lpstr>Activity: Creating a Python Application</vt:lpstr>
      <vt:lpstr>Types of Errors in Python</vt:lpstr>
      <vt:lpstr>Syntax Error</vt:lpstr>
      <vt:lpstr>Logic Error</vt:lpstr>
      <vt:lpstr>Guidelines for Preventing Errors</vt:lpstr>
      <vt:lpstr>Reflective Questions</vt:lpstr>
    </vt:vector>
  </TitlesOfParts>
  <Company>element 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OV-ILT Template –  Content Developer Section</dc:title>
  <dc:subject>Courseware Resource Supplement</dc:subject>
  <dc:creator>Jason Nufryk</dc:creator>
  <dc:description>Version 1.6_x000d_
03.31.03</dc:description>
  <cp:lastModifiedBy>M93z</cp:lastModifiedBy>
  <cp:revision>597</cp:revision>
  <dcterms:created xsi:type="dcterms:W3CDTF">2004-05-21T12:27:45Z</dcterms:created>
  <dcterms:modified xsi:type="dcterms:W3CDTF">2021-03-09T03:10:48Z</dcterms:modified>
  <cp:category>Templates</cp:category>
</cp:coreProperties>
</file>