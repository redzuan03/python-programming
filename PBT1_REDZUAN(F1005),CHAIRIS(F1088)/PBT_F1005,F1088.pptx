
<file path=[Content_Types].xml><?xml version="1.0" encoding="utf-8"?>
<Types xmlns="http://schemas.openxmlformats.org/package/2006/content-types">
  <Default Extension="fntdata" ContentType="application/x-fontdata"/>
  <Default Extension="HEIC" ContentType="image/heic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8" r:id="rId3"/>
    <p:sldId id="259" r:id="rId4"/>
    <p:sldId id="261" r:id="rId5"/>
    <p:sldId id="268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8" r:id="rId14"/>
    <p:sldId id="286" r:id="rId15"/>
    <p:sldId id="287" r:id="rId1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DM Serif Display" panose="020B0604020202020204" charset="0"/>
      <p:regular r:id="rId26"/>
      <p:italic r:id="rId27"/>
    </p:embeddedFont>
    <p:embeddedFont>
      <p:font typeface="Haettenschweiler" panose="020B0706040902060204" pitchFamily="34" charset="0"/>
      <p:regular r:id="rId28"/>
    </p:embeddedFont>
    <p:embeddedFont>
      <p:font typeface="Nunito" pitchFamily="2" charset="0"/>
      <p:regular r:id="rId29"/>
      <p:bold r:id="rId30"/>
      <p:italic r:id="rId31"/>
      <p:bold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9AA0A6"/>
          </p15:clr>
        </p15:guide>
        <p15:guide id="2" orient="horz" pos="397">
          <p15:clr>
            <a:srgbClr val="9AA0A6"/>
          </p15:clr>
        </p15:guide>
        <p15:guide id="3" orient="horz" pos="2843">
          <p15:clr>
            <a:srgbClr val="9AA0A6"/>
          </p15:clr>
        </p15:guide>
        <p15:guide id="4" pos="5306">
          <p15:clr>
            <a:srgbClr val="9AA0A6"/>
          </p15:clr>
        </p15:guide>
        <p15:guide id="5" orient="horz" pos="595">
          <p15:clr>
            <a:srgbClr val="9AA0A6"/>
          </p15:clr>
        </p15:guide>
        <p15:guide id="6" pos="254">
          <p15:clr>
            <a:srgbClr val="9AA0A6"/>
          </p15:clr>
        </p15:guide>
        <p15:guide id="7" pos="5506">
          <p15:clr>
            <a:srgbClr val="9AA0A6"/>
          </p15:clr>
        </p15:guide>
        <p15:guide id="8" orient="horz" pos="2993">
          <p15:clr>
            <a:srgbClr val="9AA0A6"/>
          </p15:clr>
        </p15:guide>
        <p15:guide id="9" pos="2880">
          <p15:clr>
            <a:srgbClr val="9AA0A6"/>
          </p15:clr>
        </p15:guide>
        <p15:guide id="10" orient="horz" pos="16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2649F1-9CB5-4196-B4E4-606EBB246621}">
  <a:tblStyle styleId="{2C2649F1-9CB5-4196-B4E4-606EBB2466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32" y="504"/>
      </p:cViewPr>
      <p:guideLst>
        <p:guide pos="454"/>
        <p:guide orient="horz" pos="397"/>
        <p:guide orient="horz" pos="2843"/>
        <p:guide pos="5306"/>
        <p:guide orient="horz" pos="595"/>
        <p:guide pos="254"/>
        <p:guide pos="5506"/>
        <p:guide orient="horz" pos="2993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e660575f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e660575f2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276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277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423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930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056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7244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5220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9513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e660575f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e660575f2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094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1643075"/>
            <a:ext cx="9144000" cy="350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403200" y="431250"/>
            <a:ext cx="8337300" cy="274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234150" y="897010"/>
            <a:ext cx="6675600" cy="14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400000" y="2404230"/>
            <a:ext cx="43440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61702" y="2830575"/>
            <a:ext cx="4539000" cy="10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6465850" y="2037825"/>
            <a:ext cx="1314600" cy="131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961690" y="3819564"/>
            <a:ext cx="2556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  <a:sym typeface="Nunito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0" y="3738575"/>
            <a:ext cx="9144000" cy="14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03200" y="389175"/>
            <a:ext cx="8337600" cy="78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-100" y="2178850"/>
            <a:ext cx="9144000" cy="296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1309911" y="2992025"/>
            <a:ext cx="2597400" cy="55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 idx="3"/>
          </p:nvPr>
        </p:nvSpPr>
        <p:spPr>
          <a:xfrm>
            <a:off x="5236550" y="2992025"/>
            <a:ext cx="2597700" cy="55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5236556" y="3632050"/>
            <a:ext cx="25977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1310086" y="3632050"/>
            <a:ext cx="2597400" cy="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1991650" y="1448595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2265600" y="3334474"/>
            <a:ext cx="4635900" cy="64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-100" y="0"/>
            <a:ext cx="1797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643800" y="789663"/>
            <a:ext cx="357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643800" y="1955938"/>
            <a:ext cx="4371300" cy="23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B110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5406450" y="0"/>
            <a:ext cx="3737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75438" y="162204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875438" y="2149745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5963157" y="162204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5963158" y="2149745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/>
          </p:nvPr>
        </p:nvSpPr>
        <p:spPr>
          <a:xfrm>
            <a:off x="875438" y="3132708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5"/>
          </p:nvPr>
        </p:nvSpPr>
        <p:spPr>
          <a:xfrm>
            <a:off x="875438" y="3660420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/>
          </p:nvPr>
        </p:nvSpPr>
        <p:spPr>
          <a:xfrm>
            <a:off x="5963157" y="3132708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7"/>
          </p:nvPr>
        </p:nvSpPr>
        <p:spPr>
          <a:xfrm>
            <a:off x="5963158" y="3660420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8" hasCustomPrompt="1"/>
          </p:nvPr>
        </p:nvSpPr>
        <p:spPr>
          <a:xfrm>
            <a:off x="3333350" y="1668533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9" hasCustomPrompt="1"/>
          </p:nvPr>
        </p:nvSpPr>
        <p:spPr>
          <a:xfrm>
            <a:off x="3333350" y="3148033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13" hasCustomPrompt="1"/>
          </p:nvPr>
        </p:nvSpPr>
        <p:spPr>
          <a:xfrm>
            <a:off x="4762550" y="1668533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4" hasCustomPrompt="1"/>
          </p:nvPr>
        </p:nvSpPr>
        <p:spPr>
          <a:xfrm>
            <a:off x="4762550" y="3148033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>
            <a:off x="-100" y="1643075"/>
            <a:ext cx="9144000" cy="35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403200" y="431250"/>
            <a:ext cx="8337300" cy="274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AND_BODY_1">
    <p:bg>
      <p:bgPr>
        <a:solidFill>
          <a:schemeClr val="dk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403200" y="1136000"/>
            <a:ext cx="8337600" cy="3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erif Display"/>
              <a:buNone/>
              <a:defRPr sz="32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8" r:id="rId6"/>
    <p:sldLayoutId id="2147483659" r:id="rId7"/>
    <p:sldLayoutId id="2147483671" r:id="rId8"/>
    <p:sldLayoutId id="214748367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HEIC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9"/>
          <p:cNvPicPr preferRelativeResize="0"/>
          <p:nvPr/>
        </p:nvPicPr>
        <p:blipFill rotWithShape="1">
          <a:blip r:embed="rId3">
            <a:alphaModFix/>
          </a:blip>
          <a:srcRect t="58279" b="22354"/>
          <a:stretch/>
        </p:blipFill>
        <p:spPr>
          <a:xfrm>
            <a:off x="403200" y="3161207"/>
            <a:ext cx="8337300" cy="16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9"/>
          <p:cNvSpPr txBox="1">
            <a:spLocks noGrp="1"/>
          </p:cNvSpPr>
          <p:nvPr>
            <p:ph type="ctrTitle"/>
          </p:nvPr>
        </p:nvSpPr>
        <p:spPr>
          <a:xfrm>
            <a:off x="1234200" y="1702660"/>
            <a:ext cx="6675600" cy="11468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Barlow"/>
                <a:ea typeface="Barlow"/>
                <a:cs typeface="Barlow"/>
                <a:sym typeface="Barlow"/>
              </a:rPr>
              <a:t>PROBLEM BASED TASK 1 (PBT1)</a:t>
            </a:r>
            <a:endParaRPr sz="1400" b="1" dirty="0"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 </a:t>
            </a:r>
            <a:r>
              <a:rPr lang="en" sz="3600" dirty="0"/>
              <a:t>LIBRARY </a:t>
            </a:r>
            <a:r>
              <a:rPr lang="en" sz="4000" dirty="0"/>
              <a:t>MANAGEMENT</a:t>
            </a:r>
            <a:endParaRPr sz="4800" dirty="0"/>
          </a:p>
        </p:txBody>
      </p:sp>
      <p:sp>
        <p:nvSpPr>
          <p:cNvPr id="163" name="Google Shape;163;p29"/>
          <p:cNvSpPr txBox="1">
            <a:spLocks noGrp="1"/>
          </p:cNvSpPr>
          <p:nvPr>
            <p:ph type="subTitle" idx="1"/>
          </p:nvPr>
        </p:nvSpPr>
        <p:spPr>
          <a:xfrm>
            <a:off x="2027747" y="3085173"/>
            <a:ext cx="5112269" cy="623934"/>
          </a:xfrm>
          <a:custGeom>
            <a:avLst/>
            <a:gdLst>
              <a:gd name="connsiteX0" fmla="*/ 0 w 5112269"/>
              <a:gd name="connsiteY0" fmla="*/ 0 h 623934"/>
              <a:gd name="connsiteX1" fmla="*/ 639034 w 5112269"/>
              <a:gd name="connsiteY1" fmla="*/ 0 h 623934"/>
              <a:gd name="connsiteX2" fmla="*/ 1278067 w 5112269"/>
              <a:gd name="connsiteY2" fmla="*/ 0 h 623934"/>
              <a:gd name="connsiteX3" fmla="*/ 2019346 w 5112269"/>
              <a:gd name="connsiteY3" fmla="*/ 0 h 623934"/>
              <a:gd name="connsiteX4" fmla="*/ 2556135 w 5112269"/>
              <a:gd name="connsiteY4" fmla="*/ 0 h 623934"/>
              <a:gd name="connsiteX5" fmla="*/ 3297414 w 5112269"/>
              <a:gd name="connsiteY5" fmla="*/ 0 h 623934"/>
              <a:gd name="connsiteX6" fmla="*/ 3783079 w 5112269"/>
              <a:gd name="connsiteY6" fmla="*/ 0 h 623934"/>
              <a:gd name="connsiteX7" fmla="*/ 4473235 w 5112269"/>
              <a:gd name="connsiteY7" fmla="*/ 0 h 623934"/>
              <a:gd name="connsiteX8" fmla="*/ 5112269 w 5112269"/>
              <a:gd name="connsiteY8" fmla="*/ 0 h 623934"/>
              <a:gd name="connsiteX9" fmla="*/ 5112269 w 5112269"/>
              <a:gd name="connsiteY9" fmla="*/ 623934 h 623934"/>
              <a:gd name="connsiteX10" fmla="*/ 4575481 w 5112269"/>
              <a:gd name="connsiteY10" fmla="*/ 623934 h 623934"/>
              <a:gd name="connsiteX11" fmla="*/ 3885324 w 5112269"/>
              <a:gd name="connsiteY11" fmla="*/ 623934 h 623934"/>
              <a:gd name="connsiteX12" fmla="*/ 3348536 w 5112269"/>
              <a:gd name="connsiteY12" fmla="*/ 623934 h 623934"/>
              <a:gd name="connsiteX13" fmla="*/ 2811748 w 5112269"/>
              <a:gd name="connsiteY13" fmla="*/ 623934 h 623934"/>
              <a:gd name="connsiteX14" fmla="*/ 2172714 w 5112269"/>
              <a:gd name="connsiteY14" fmla="*/ 623934 h 623934"/>
              <a:gd name="connsiteX15" fmla="*/ 1635926 w 5112269"/>
              <a:gd name="connsiteY15" fmla="*/ 623934 h 623934"/>
              <a:gd name="connsiteX16" fmla="*/ 1048015 w 5112269"/>
              <a:gd name="connsiteY16" fmla="*/ 623934 h 623934"/>
              <a:gd name="connsiteX17" fmla="*/ 0 w 5112269"/>
              <a:gd name="connsiteY17" fmla="*/ 623934 h 623934"/>
              <a:gd name="connsiteX18" fmla="*/ 0 w 5112269"/>
              <a:gd name="connsiteY18" fmla="*/ 0 h 62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12269" h="623934" fill="none" extrusionOk="0">
                <a:moveTo>
                  <a:pt x="0" y="0"/>
                </a:moveTo>
                <a:cubicBezTo>
                  <a:pt x="275562" y="13982"/>
                  <a:pt x="346656" y="-3809"/>
                  <a:pt x="639034" y="0"/>
                </a:cubicBezTo>
                <a:cubicBezTo>
                  <a:pt x="931412" y="3809"/>
                  <a:pt x="1144222" y="-21186"/>
                  <a:pt x="1278067" y="0"/>
                </a:cubicBezTo>
                <a:cubicBezTo>
                  <a:pt x="1411912" y="21186"/>
                  <a:pt x="1752415" y="-10477"/>
                  <a:pt x="2019346" y="0"/>
                </a:cubicBezTo>
                <a:cubicBezTo>
                  <a:pt x="2286277" y="10477"/>
                  <a:pt x="2299059" y="8737"/>
                  <a:pt x="2556135" y="0"/>
                </a:cubicBezTo>
                <a:cubicBezTo>
                  <a:pt x="2813211" y="-8737"/>
                  <a:pt x="2945134" y="-688"/>
                  <a:pt x="3297414" y="0"/>
                </a:cubicBezTo>
                <a:cubicBezTo>
                  <a:pt x="3649694" y="688"/>
                  <a:pt x="3615585" y="-18609"/>
                  <a:pt x="3783079" y="0"/>
                </a:cubicBezTo>
                <a:cubicBezTo>
                  <a:pt x="3950574" y="18609"/>
                  <a:pt x="4252008" y="9514"/>
                  <a:pt x="4473235" y="0"/>
                </a:cubicBezTo>
                <a:cubicBezTo>
                  <a:pt x="4694462" y="-9514"/>
                  <a:pt x="4905805" y="-6501"/>
                  <a:pt x="5112269" y="0"/>
                </a:cubicBezTo>
                <a:cubicBezTo>
                  <a:pt x="5130456" y="289245"/>
                  <a:pt x="5093529" y="457242"/>
                  <a:pt x="5112269" y="623934"/>
                </a:cubicBezTo>
                <a:cubicBezTo>
                  <a:pt x="4983199" y="600199"/>
                  <a:pt x="4820733" y="603232"/>
                  <a:pt x="4575481" y="623934"/>
                </a:cubicBezTo>
                <a:cubicBezTo>
                  <a:pt x="4330229" y="644636"/>
                  <a:pt x="4034463" y="608791"/>
                  <a:pt x="3885324" y="623934"/>
                </a:cubicBezTo>
                <a:cubicBezTo>
                  <a:pt x="3736185" y="639077"/>
                  <a:pt x="3597964" y="632486"/>
                  <a:pt x="3348536" y="623934"/>
                </a:cubicBezTo>
                <a:cubicBezTo>
                  <a:pt x="3099108" y="615382"/>
                  <a:pt x="3066845" y="618291"/>
                  <a:pt x="2811748" y="623934"/>
                </a:cubicBezTo>
                <a:cubicBezTo>
                  <a:pt x="2556651" y="629577"/>
                  <a:pt x="2484860" y="651042"/>
                  <a:pt x="2172714" y="623934"/>
                </a:cubicBezTo>
                <a:cubicBezTo>
                  <a:pt x="1860568" y="596826"/>
                  <a:pt x="1818121" y="623273"/>
                  <a:pt x="1635926" y="623934"/>
                </a:cubicBezTo>
                <a:cubicBezTo>
                  <a:pt x="1453731" y="624595"/>
                  <a:pt x="1275392" y="627251"/>
                  <a:pt x="1048015" y="623934"/>
                </a:cubicBezTo>
                <a:cubicBezTo>
                  <a:pt x="820638" y="620617"/>
                  <a:pt x="410109" y="674543"/>
                  <a:pt x="0" y="623934"/>
                </a:cubicBezTo>
                <a:cubicBezTo>
                  <a:pt x="17120" y="406995"/>
                  <a:pt x="770" y="246217"/>
                  <a:pt x="0" y="0"/>
                </a:cubicBezTo>
                <a:close/>
              </a:path>
              <a:path w="5112269" h="623934" stroke="0" extrusionOk="0">
                <a:moveTo>
                  <a:pt x="0" y="0"/>
                </a:moveTo>
                <a:cubicBezTo>
                  <a:pt x="227819" y="33296"/>
                  <a:pt x="458944" y="18625"/>
                  <a:pt x="741279" y="0"/>
                </a:cubicBezTo>
                <a:cubicBezTo>
                  <a:pt x="1023614" y="-18625"/>
                  <a:pt x="1124529" y="7917"/>
                  <a:pt x="1482558" y="0"/>
                </a:cubicBezTo>
                <a:cubicBezTo>
                  <a:pt x="1840587" y="-7917"/>
                  <a:pt x="1803929" y="-18376"/>
                  <a:pt x="2019346" y="0"/>
                </a:cubicBezTo>
                <a:cubicBezTo>
                  <a:pt x="2234763" y="18376"/>
                  <a:pt x="2425389" y="-26243"/>
                  <a:pt x="2556134" y="0"/>
                </a:cubicBezTo>
                <a:cubicBezTo>
                  <a:pt x="2686879" y="26243"/>
                  <a:pt x="3012671" y="-20022"/>
                  <a:pt x="3144045" y="0"/>
                </a:cubicBezTo>
                <a:cubicBezTo>
                  <a:pt x="3275419" y="20022"/>
                  <a:pt x="3394376" y="-17470"/>
                  <a:pt x="3629711" y="0"/>
                </a:cubicBezTo>
                <a:cubicBezTo>
                  <a:pt x="3865046" y="17470"/>
                  <a:pt x="4002828" y="-16317"/>
                  <a:pt x="4115377" y="0"/>
                </a:cubicBezTo>
                <a:cubicBezTo>
                  <a:pt x="4227926" y="16317"/>
                  <a:pt x="4896121" y="-39231"/>
                  <a:pt x="5112269" y="0"/>
                </a:cubicBezTo>
                <a:cubicBezTo>
                  <a:pt x="5123485" y="268477"/>
                  <a:pt x="5116353" y="358722"/>
                  <a:pt x="5112269" y="623934"/>
                </a:cubicBezTo>
                <a:cubicBezTo>
                  <a:pt x="4818358" y="611964"/>
                  <a:pt x="4542644" y="615456"/>
                  <a:pt x="4370990" y="623934"/>
                </a:cubicBezTo>
                <a:cubicBezTo>
                  <a:pt x="4199336" y="632412"/>
                  <a:pt x="4024756" y="620406"/>
                  <a:pt x="3731956" y="623934"/>
                </a:cubicBezTo>
                <a:cubicBezTo>
                  <a:pt x="3439156" y="627462"/>
                  <a:pt x="3293507" y="617226"/>
                  <a:pt x="3041800" y="623934"/>
                </a:cubicBezTo>
                <a:cubicBezTo>
                  <a:pt x="2790093" y="630642"/>
                  <a:pt x="2652224" y="632207"/>
                  <a:pt x="2505012" y="623934"/>
                </a:cubicBezTo>
                <a:cubicBezTo>
                  <a:pt x="2357800" y="615661"/>
                  <a:pt x="2096828" y="643595"/>
                  <a:pt x="1763733" y="623934"/>
                </a:cubicBezTo>
                <a:cubicBezTo>
                  <a:pt x="1430638" y="604273"/>
                  <a:pt x="1418411" y="653986"/>
                  <a:pt x="1124699" y="623934"/>
                </a:cubicBezTo>
                <a:cubicBezTo>
                  <a:pt x="830987" y="593882"/>
                  <a:pt x="847660" y="639451"/>
                  <a:pt x="587911" y="623934"/>
                </a:cubicBezTo>
                <a:cubicBezTo>
                  <a:pt x="328162" y="608417"/>
                  <a:pt x="247379" y="611492"/>
                  <a:pt x="0" y="623934"/>
                </a:cubicBezTo>
                <a:cubicBezTo>
                  <a:pt x="17741" y="486342"/>
                  <a:pt x="4540" y="14475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87137989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/>
              <a:t>PREPARED FOR : </a:t>
            </a:r>
          </a:p>
          <a:p>
            <a:pPr marL="0" indent="0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SITI NUR THAZLIAH BINTI MOHD THAZALI</a:t>
            </a:r>
            <a:endParaRPr lang="en-MY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5" name="Picture 4" descr="e-Semak @ POLIMAS">
            <a:extLst>
              <a:ext uri="{FF2B5EF4-FFF2-40B4-BE49-F238E27FC236}">
                <a16:creationId xmlns:a16="http://schemas.microsoft.com/office/drawing/2014/main" id="{72D3A745-E0BE-4211-A010-8823EEA770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13" y="422141"/>
            <a:ext cx="3680855" cy="12136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ADC2B2-652B-4D04-9A04-26A19B119370}"/>
              </a:ext>
            </a:extLst>
          </p:cNvPr>
          <p:cNvSpPr txBox="1"/>
          <p:nvPr/>
        </p:nvSpPr>
        <p:spPr>
          <a:xfrm>
            <a:off x="2285850" y="271369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b="1" dirty="0">
                <a:latin typeface="Barlow"/>
                <a:sym typeface="Barlow"/>
              </a:rPr>
              <a:t>Class : DDT4A</a:t>
            </a:r>
            <a:endParaRPr lang="en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 rotWithShape="1">
          <a:blip r:embed="rId3">
            <a:alphaModFix/>
          </a:blip>
          <a:srcRect b="53516"/>
          <a:stretch/>
        </p:blipFill>
        <p:spPr>
          <a:xfrm>
            <a:off x="0" y="2309825"/>
            <a:ext cx="9144000" cy="283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/>
          <p:nvPr/>
        </p:nvSpPr>
        <p:spPr>
          <a:xfrm>
            <a:off x="403200" y="0"/>
            <a:ext cx="8337600" cy="47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1"/>
          <p:cNvSpPr/>
          <p:nvPr/>
        </p:nvSpPr>
        <p:spPr>
          <a:xfrm>
            <a:off x="1086850" y="413470"/>
            <a:ext cx="6970200" cy="72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title" idx="9"/>
          </p:nvPr>
        </p:nvSpPr>
        <p:spPr>
          <a:xfrm>
            <a:off x="3333350" y="3148033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title" idx="8"/>
          </p:nvPr>
        </p:nvSpPr>
        <p:spPr>
          <a:xfrm>
            <a:off x="3333350" y="1668533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title" idx="13"/>
          </p:nvPr>
        </p:nvSpPr>
        <p:spPr>
          <a:xfrm>
            <a:off x="4762550" y="1668533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title" idx="14"/>
          </p:nvPr>
        </p:nvSpPr>
        <p:spPr>
          <a:xfrm>
            <a:off x="4762550" y="3148033"/>
            <a:ext cx="1048200" cy="10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875438" y="162204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Introduction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83" name="Google Shape;183;p31"/>
          <p:cNvSpPr txBox="1">
            <a:spLocks noGrp="1"/>
          </p:cNvSpPr>
          <p:nvPr>
            <p:ph type="subTitle" idx="1"/>
          </p:nvPr>
        </p:nvSpPr>
        <p:spPr>
          <a:xfrm>
            <a:off x="875438" y="2149745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Purpose Of PBT1</a:t>
            </a:r>
            <a:endParaRPr dirty="0"/>
          </a:p>
        </p:txBody>
      </p:sp>
      <p:sp>
        <p:nvSpPr>
          <p:cNvPr id="184" name="Google Shape;184;p31"/>
          <p:cNvSpPr txBox="1">
            <a:spLocks noGrp="1"/>
          </p:cNvSpPr>
          <p:nvPr>
            <p:ph type="title" idx="2"/>
          </p:nvPr>
        </p:nvSpPr>
        <p:spPr>
          <a:xfrm>
            <a:off x="5963157" y="1622045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Coding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85" name="Google Shape;185;p31"/>
          <p:cNvSpPr txBox="1">
            <a:spLocks noGrp="1"/>
          </p:cNvSpPr>
          <p:nvPr>
            <p:ph type="subTitle" idx="3"/>
          </p:nvPr>
        </p:nvSpPr>
        <p:spPr>
          <a:xfrm>
            <a:off x="5963158" y="2149745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Develop to allow admins and students</a:t>
            </a:r>
            <a:endParaRPr dirty="0"/>
          </a:p>
        </p:txBody>
      </p:sp>
      <p:sp>
        <p:nvSpPr>
          <p:cNvPr id="186" name="Google Shape;186;p31"/>
          <p:cNvSpPr txBox="1">
            <a:spLocks noGrp="1"/>
          </p:cNvSpPr>
          <p:nvPr>
            <p:ph type="title" idx="4"/>
          </p:nvPr>
        </p:nvSpPr>
        <p:spPr>
          <a:xfrm>
            <a:off x="875438" y="3132708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Output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87" name="Google Shape;187;p31"/>
          <p:cNvSpPr txBox="1">
            <a:spLocks noGrp="1"/>
          </p:cNvSpPr>
          <p:nvPr>
            <p:ph type="subTitle" idx="5"/>
          </p:nvPr>
        </p:nvSpPr>
        <p:spPr>
          <a:xfrm>
            <a:off x="875438" y="3660420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 of building the program</a:t>
            </a:r>
            <a:endParaRPr dirty="0"/>
          </a:p>
        </p:txBody>
      </p:sp>
      <p:sp>
        <p:nvSpPr>
          <p:cNvPr id="188" name="Google Shape;188;p31"/>
          <p:cNvSpPr txBox="1">
            <a:spLocks noGrp="1"/>
          </p:cNvSpPr>
          <p:nvPr>
            <p:ph type="title" idx="6"/>
          </p:nvPr>
        </p:nvSpPr>
        <p:spPr>
          <a:xfrm>
            <a:off x="5963157" y="3132708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Conclusion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89" name="Google Shape;189;p31"/>
          <p:cNvSpPr txBox="1">
            <a:spLocks noGrp="1"/>
          </p:cNvSpPr>
          <p:nvPr>
            <p:ph type="subTitle" idx="7"/>
          </p:nvPr>
        </p:nvSpPr>
        <p:spPr>
          <a:xfrm>
            <a:off x="5963158" y="3660420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Features of the coding used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2"/>
          <p:cNvPicPr preferRelativeResize="0"/>
          <p:nvPr/>
        </p:nvPicPr>
        <p:blipFill rotWithShape="1">
          <a:blip r:embed="rId3">
            <a:alphaModFix/>
          </a:blip>
          <a:srcRect t="63418"/>
          <a:stretch/>
        </p:blipFill>
        <p:spPr>
          <a:xfrm>
            <a:off x="-150" y="3261521"/>
            <a:ext cx="9143999" cy="188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/>
          <p:nvPr/>
        </p:nvSpPr>
        <p:spPr>
          <a:xfrm>
            <a:off x="403050" y="378675"/>
            <a:ext cx="8337600" cy="42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32"/>
          <p:cNvSpPr txBox="1">
            <a:spLocks noGrp="1"/>
          </p:cNvSpPr>
          <p:nvPr>
            <p:ph type="subTitle" idx="1"/>
          </p:nvPr>
        </p:nvSpPr>
        <p:spPr>
          <a:xfrm>
            <a:off x="832279" y="3326246"/>
            <a:ext cx="3654352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NAME:MUHAMMAD REDZUAN BIN PARSIKUN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MATRIX NUMBER: 03DDT21F1005</a:t>
            </a:r>
            <a:endParaRPr sz="1200" dirty="0"/>
          </a:p>
        </p:txBody>
      </p:sp>
      <p:sp>
        <p:nvSpPr>
          <p:cNvPr id="199" name="Google Shape;199;p32"/>
          <p:cNvSpPr/>
          <p:nvPr/>
        </p:nvSpPr>
        <p:spPr>
          <a:xfrm>
            <a:off x="1801850" y="0"/>
            <a:ext cx="5540100" cy="76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2"/>
          <p:cNvSpPr txBox="1">
            <a:spLocks noGrp="1"/>
          </p:cNvSpPr>
          <p:nvPr>
            <p:ph type="title"/>
          </p:nvPr>
        </p:nvSpPr>
        <p:spPr>
          <a:xfrm>
            <a:off x="1931125" y="82155"/>
            <a:ext cx="5281448" cy="5930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GR</a:t>
            </a:r>
            <a:r>
              <a:rPr lang="en" sz="4000" dirty="0"/>
              <a:t>OUP</a:t>
            </a:r>
            <a:r>
              <a:rPr lang="en" sz="4400" dirty="0"/>
              <a:t> </a:t>
            </a:r>
            <a:r>
              <a:rPr lang="en" sz="4000" dirty="0"/>
              <a:t>MEM</a:t>
            </a:r>
            <a:r>
              <a:rPr lang="en" sz="4400" dirty="0"/>
              <a:t>BER</a:t>
            </a:r>
            <a:endParaRPr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33C027-548F-4619-8CD7-86CE5BF4B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281" y="1174101"/>
            <a:ext cx="1962807" cy="19628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Google Shape;197;p32">
            <a:extLst>
              <a:ext uri="{FF2B5EF4-FFF2-40B4-BE49-F238E27FC236}">
                <a16:creationId xmlns:a16="http://schemas.microsoft.com/office/drawing/2014/main" id="{25CD7A08-79E1-47C8-9B0F-9E5C354B4523}"/>
              </a:ext>
            </a:extLst>
          </p:cNvPr>
          <p:cNvSpPr txBox="1">
            <a:spLocks/>
          </p:cNvSpPr>
          <p:nvPr/>
        </p:nvSpPr>
        <p:spPr>
          <a:xfrm>
            <a:off x="4640933" y="3326246"/>
            <a:ext cx="3654352" cy="6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sz="1200" dirty="0"/>
              <a:t>NAME:CHAIRIS A/L PUM</a:t>
            </a:r>
          </a:p>
          <a:p>
            <a:pPr marL="0" indent="0"/>
            <a:r>
              <a:rPr lang="en-US" sz="1200" dirty="0"/>
              <a:t>MATRIX NUMBER: 03DDT21F1088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AF824-37F3-B532-BBD5-C59080D398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785" b="-1"/>
          <a:stretch/>
        </p:blipFill>
        <p:spPr>
          <a:xfrm>
            <a:off x="5471270" y="1168054"/>
            <a:ext cx="1993678" cy="19688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t="18492" b="-6342"/>
          <a:stretch/>
        </p:blipFill>
        <p:spPr>
          <a:xfrm>
            <a:off x="403200" y="364450"/>
            <a:ext cx="8337598" cy="41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/>
          <p:nvPr/>
        </p:nvSpPr>
        <p:spPr>
          <a:xfrm>
            <a:off x="403200" y="2690825"/>
            <a:ext cx="8337600" cy="209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804384" y="3148658"/>
            <a:ext cx="5094969" cy="10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16" name="Google Shape;216;p34"/>
          <p:cNvSpPr txBox="1">
            <a:spLocks noGrp="1"/>
          </p:cNvSpPr>
          <p:nvPr>
            <p:ph type="title" idx="2"/>
          </p:nvPr>
        </p:nvSpPr>
        <p:spPr>
          <a:xfrm>
            <a:off x="6465850" y="2037825"/>
            <a:ext cx="1314600" cy="13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8" name="Google Shape;218;p34"/>
          <p:cNvSpPr/>
          <p:nvPr/>
        </p:nvSpPr>
        <p:spPr>
          <a:xfrm>
            <a:off x="6465850" y="3544658"/>
            <a:ext cx="1314600" cy="12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/>
          </p:nvPr>
        </p:nvSpPr>
        <p:spPr>
          <a:xfrm>
            <a:off x="643800" y="789663"/>
            <a:ext cx="357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643800" y="1631463"/>
            <a:ext cx="4371300" cy="3512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07000"/>
              </a:lnSpc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problem-based task is to create a program that allows admins to manage books in the library.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program should allow admin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07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add new books to the library</a:t>
            </a:r>
          </a:p>
          <a:p>
            <a:pPr algn="just">
              <a:lnSpc>
                <a:spcPct val="107000"/>
              </a:lnSpc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search for books by title</a:t>
            </a:r>
          </a:p>
          <a:p>
            <a:pPr algn="just">
              <a:lnSpc>
                <a:spcPct val="107000"/>
              </a:lnSpc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display all books in the library</a:t>
            </a:r>
          </a:p>
          <a:p>
            <a:pPr algn="just">
              <a:lnSpc>
                <a:spcPct val="107000"/>
              </a:lnSpc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delete books from the library</a:t>
            </a:r>
          </a:p>
          <a:p>
            <a:pPr marL="13970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3970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program should store the library data in a text file for purpose admin to manage it</a:t>
            </a:r>
            <a:endParaRPr sz="1200" dirty="0"/>
          </a:p>
        </p:txBody>
      </p:sp>
      <p:pic>
        <p:nvPicPr>
          <p:cNvPr id="374" name="Google Shape;374;p41"/>
          <p:cNvPicPr preferRelativeResize="0"/>
          <p:nvPr/>
        </p:nvPicPr>
        <p:blipFill rotWithShape="1">
          <a:blip r:embed="rId3">
            <a:alphaModFix/>
          </a:blip>
          <a:srcRect l="49860" r="17312"/>
          <a:stretch/>
        </p:blipFill>
        <p:spPr>
          <a:xfrm>
            <a:off x="6142750" y="0"/>
            <a:ext cx="30012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1"/>
          <p:cNvSpPr/>
          <p:nvPr/>
        </p:nvSpPr>
        <p:spPr>
          <a:xfrm>
            <a:off x="4362175" y="0"/>
            <a:ext cx="1314600" cy="12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t="18492" b="-6342"/>
          <a:stretch/>
        </p:blipFill>
        <p:spPr>
          <a:xfrm>
            <a:off x="403200" y="364450"/>
            <a:ext cx="8337598" cy="41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/>
          <p:nvPr/>
        </p:nvSpPr>
        <p:spPr>
          <a:xfrm>
            <a:off x="411083" y="2690825"/>
            <a:ext cx="8337600" cy="209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804384" y="3148658"/>
            <a:ext cx="5094969" cy="10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CODING</a:t>
            </a:r>
            <a:endParaRPr dirty="0"/>
          </a:p>
        </p:txBody>
      </p:sp>
      <p:sp>
        <p:nvSpPr>
          <p:cNvPr id="216" name="Google Shape;216;p34"/>
          <p:cNvSpPr txBox="1">
            <a:spLocks noGrp="1"/>
          </p:cNvSpPr>
          <p:nvPr>
            <p:ph type="title" idx="2"/>
          </p:nvPr>
        </p:nvSpPr>
        <p:spPr>
          <a:xfrm>
            <a:off x="6465850" y="2037825"/>
            <a:ext cx="1314600" cy="13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8" name="Google Shape;218;p34"/>
          <p:cNvSpPr/>
          <p:nvPr/>
        </p:nvSpPr>
        <p:spPr>
          <a:xfrm>
            <a:off x="6465850" y="3544658"/>
            <a:ext cx="1314600" cy="12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45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/>
          <p:nvPr/>
        </p:nvSpPr>
        <p:spPr>
          <a:xfrm>
            <a:off x="255640" y="1376516"/>
            <a:ext cx="8888360" cy="34099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CODING</a:t>
            </a:r>
            <a:endParaRPr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7F8F0-8CA2-4E4C-E853-F0B77BDC9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6" y="1320855"/>
            <a:ext cx="4355192" cy="35212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132DAD-2F6E-9A1A-A048-95E29C8868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528"/>
          <a:stretch/>
        </p:blipFill>
        <p:spPr>
          <a:xfrm>
            <a:off x="4989514" y="1321520"/>
            <a:ext cx="3997170" cy="35212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/>
          <p:nvPr/>
        </p:nvSpPr>
        <p:spPr>
          <a:xfrm>
            <a:off x="0" y="1376516"/>
            <a:ext cx="9144000" cy="34099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CODING</a:t>
            </a:r>
            <a:endParaRPr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DB634-437C-0523-A00B-91E09C28F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693"/>
          <a:stretch/>
        </p:blipFill>
        <p:spPr>
          <a:xfrm>
            <a:off x="255640" y="1288026"/>
            <a:ext cx="4414683" cy="36588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13B52-A511-11D0-21C2-2E73A352DC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535"/>
          <a:stretch/>
        </p:blipFill>
        <p:spPr>
          <a:xfrm>
            <a:off x="4857134" y="1324815"/>
            <a:ext cx="4286865" cy="3622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43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/>
          <p:nvPr/>
        </p:nvSpPr>
        <p:spPr>
          <a:xfrm>
            <a:off x="0" y="1376516"/>
            <a:ext cx="9144000" cy="34099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CODING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1F3D8-4279-3ADE-9C7A-9C706C8DB1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251" b="5378"/>
          <a:stretch/>
        </p:blipFill>
        <p:spPr>
          <a:xfrm>
            <a:off x="201910" y="1297858"/>
            <a:ext cx="4448748" cy="3488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24FD68-92F4-43E4-8CF3-B77333FD8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60" y="1304208"/>
            <a:ext cx="45212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8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t="18492" b="-6342"/>
          <a:stretch/>
        </p:blipFill>
        <p:spPr>
          <a:xfrm>
            <a:off x="403200" y="364450"/>
            <a:ext cx="8337598" cy="41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/>
          <p:nvPr/>
        </p:nvSpPr>
        <p:spPr>
          <a:xfrm>
            <a:off x="403200" y="2690825"/>
            <a:ext cx="8337600" cy="209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804384" y="3148658"/>
            <a:ext cx="5094969" cy="10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</a:t>
            </a:r>
            <a:endParaRPr dirty="0"/>
          </a:p>
        </p:txBody>
      </p:sp>
      <p:sp>
        <p:nvSpPr>
          <p:cNvPr id="216" name="Google Shape;216;p34"/>
          <p:cNvSpPr txBox="1">
            <a:spLocks noGrp="1"/>
          </p:cNvSpPr>
          <p:nvPr>
            <p:ph type="title" idx="2"/>
          </p:nvPr>
        </p:nvSpPr>
        <p:spPr>
          <a:xfrm>
            <a:off x="6465850" y="2037825"/>
            <a:ext cx="1314600" cy="13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8" name="Google Shape;218;p34"/>
          <p:cNvSpPr/>
          <p:nvPr/>
        </p:nvSpPr>
        <p:spPr>
          <a:xfrm>
            <a:off x="6465850" y="3544658"/>
            <a:ext cx="1314600" cy="12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415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/>
          <p:nvPr/>
        </p:nvSpPr>
        <p:spPr>
          <a:xfrm>
            <a:off x="0" y="1376516"/>
            <a:ext cx="9144000" cy="34099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</a:t>
            </a:r>
            <a:endParaRPr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9A629B-9518-F418-6A58-CA81B2F99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33" y="1376516"/>
            <a:ext cx="4005867" cy="35992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858F61-9BBA-C738-64C1-A4ED13443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575" y="1376516"/>
            <a:ext cx="4369661" cy="2654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8028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/>
          <p:nvPr/>
        </p:nvSpPr>
        <p:spPr>
          <a:xfrm>
            <a:off x="0" y="1376516"/>
            <a:ext cx="9144000" cy="34099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5A013-7F87-BE40-7891-8D5C09F471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545"/>
          <a:stretch/>
        </p:blipFill>
        <p:spPr>
          <a:xfrm>
            <a:off x="242018" y="1725770"/>
            <a:ext cx="3946525" cy="2711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1A00D-E560-CE48-429A-E21E91D1F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459" y="1551118"/>
            <a:ext cx="3599221" cy="2598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A9A8B4-AE81-BD00-A8F7-4341B2871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459" y="4149214"/>
            <a:ext cx="3599221" cy="4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37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/>
          <p:nvPr/>
        </p:nvSpPr>
        <p:spPr>
          <a:xfrm>
            <a:off x="0" y="1376516"/>
            <a:ext cx="9144000" cy="34099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493D3-97C0-459B-8935-F3505FA71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33" y="1702700"/>
            <a:ext cx="4397533" cy="3167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4CB238-4212-45F0-9B61-21E297D51DB7}"/>
              </a:ext>
            </a:extLst>
          </p:cNvPr>
          <p:cNvSpPr txBox="1"/>
          <p:nvPr/>
        </p:nvSpPr>
        <p:spPr>
          <a:xfrm>
            <a:off x="2285999" y="13949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aettenschweiler" panose="020B0706040902060204" pitchFamily="34" charset="0"/>
              </a:rPr>
              <a:t>library.txt</a:t>
            </a:r>
            <a:endParaRPr lang="en-MY" dirty="0"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050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t="18492" b="-6342"/>
          <a:stretch/>
        </p:blipFill>
        <p:spPr>
          <a:xfrm>
            <a:off x="403200" y="364450"/>
            <a:ext cx="8337598" cy="41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/>
          <p:nvPr/>
        </p:nvSpPr>
        <p:spPr>
          <a:xfrm>
            <a:off x="403200" y="2690825"/>
            <a:ext cx="8337600" cy="209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804384" y="3148658"/>
            <a:ext cx="5094969" cy="10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16" name="Google Shape;216;p34"/>
          <p:cNvSpPr txBox="1">
            <a:spLocks noGrp="1"/>
          </p:cNvSpPr>
          <p:nvPr>
            <p:ph type="title" idx="2"/>
          </p:nvPr>
        </p:nvSpPr>
        <p:spPr>
          <a:xfrm>
            <a:off x="6465850" y="2037825"/>
            <a:ext cx="1314600" cy="13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8" name="Google Shape;218;p34"/>
          <p:cNvSpPr/>
          <p:nvPr/>
        </p:nvSpPr>
        <p:spPr>
          <a:xfrm>
            <a:off x="6465850" y="3544658"/>
            <a:ext cx="1314600" cy="12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50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/>
          </p:nvPr>
        </p:nvSpPr>
        <p:spPr>
          <a:xfrm>
            <a:off x="685541" y="192300"/>
            <a:ext cx="357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 dirty="0"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512961" y="884903"/>
            <a:ext cx="4371300" cy="4066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MY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In conclusion, in this assignment, we can learn and understand file and directory handling with function and Object-Oriented Programming (OOP) to develop project which is library management. With file directory handling</a:t>
            </a:r>
            <a:endParaRPr lang="en-MY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07000"/>
              </a:lnSpc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ClrTx/>
              <a:buSzPct val="107000"/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the admin is able to use the system clearly</a:t>
            </a:r>
          </a:p>
          <a:p>
            <a:pPr>
              <a:lnSpc>
                <a:spcPct val="107000"/>
              </a:lnSpc>
              <a:buClrTx/>
              <a:buSzPct val="107000"/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because it can show the contents of the text files that the admin store</a:t>
            </a:r>
          </a:p>
          <a:p>
            <a:pPr>
              <a:lnSpc>
                <a:spcPct val="107000"/>
              </a:lnSpc>
              <a:buClrTx/>
              <a:buSzPct val="107000"/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addition, admins are also able to search for book titles that they have saved</a:t>
            </a:r>
          </a:p>
          <a:p>
            <a:pPr>
              <a:lnSpc>
                <a:spcPct val="107000"/>
              </a:lnSpc>
              <a:buClrTx/>
              <a:buSzPct val="107000"/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In addition, the admin can also show all the books in the file-directory</a:t>
            </a:r>
          </a:p>
          <a:p>
            <a:pPr marL="139700" indent="0">
              <a:lnSpc>
                <a:spcPct val="107000"/>
              </a:lnSpc>
              <a:buClrTx/>
              <a:buSzPct val="107000"/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Finally, it can also delete the file-directory and make the data disappear.</a:t>
            </a:r>
            <a:endParaRPr lang="en-MY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MY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ClrTx/>
              <a:buSzPct val="107000"/>
              <a:buFont typeface="Arial" panose="020B0604020202020204" pitchFamily="34" charset="0"/>
              <a:buChar char="•"/>
            </a:pPr>
            <a:endParaRPr lang="en-MY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sz="1050" dirty="0"/>
          </a:p>
        </p:txBody>
      </p:sp>
      <p:pic>
        <p:nvPicPr>
          <p:cNvPr id="374" name="Google Shape;374;p41"/>
          <p:cNvPicPr preferRelativeResize="0"/>
          <p:nvPr/>
        </p:nvPicPr>
        <p:blipFill rotWithShape="1">
          <a:blip r:embed="rId3">
            <a:alphaModFix/>
          </a:blip>
          <a:srcRect l="49860" r="17312"/>
          <a:stretch/>
        </p:blipFill>
        <p:spPr>
          <a:xfrm>
            <a:off x="6142750" y="0"/>
            <a:ext cx="30012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1"/>
          <p:cNvSpPr/>
          <p:nvPr/>
        </p:nvSpPr>
        <p:spPr>
          <a:xfrm>
            <a:off x="4362175" y="0"/>
            <a:ext cx="1314600" cy="122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713515"/>
      </p:ext>
    </p:extLst>
  </p:cSld>
  <p:clrMapOvr>
    <a:masterClrMapping/>
  </p:clrMapOvr>
</p:sld>
</file>

<file path=ppt/theme/theme1.xml><?xml version="1.0" encoding="utf-8"?>
<a:theme xmlns:a="http://schemas.openxmlformats.org/drawingml/2006/main" name="Library Book Style CV by Slidesgo">
  <a:themeElements>
    <a:clrScheme name="Simple Light">
      <a:dk1>
        <a:srgbClr val="000000"/>
      </a:dk1>
      <a:lt1>
        <a:srgbClr val="FFFFFF"/>
      </a:lt1>
      <a:dk2>
        <a:srgbClr val="AAE9FF"/>
      </a:dk2>
      <a:lt2>
        <a:srgbClr val="308FB1"/>
      </a:lt2>
      <a:accent1>
        <a:srgbClr val="E9E9E9"/>
      </a:accent1>
      <a:accent2>
        <a:srgbClr val="F1F1F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266</Words>
  <Application>Microsoft Office PowerPoint</Application>
  <PresentationFormat>On-screen Show (16:9)</PresentationFormat>
  <Paragraphs>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Barlow</vt:lpstr>
      <vt:lpstr>Arial</vt:lpstr>
      <vt:lpstr>Times New Roman</vt:lpstr>
      <vt:lpstr>Open Sans</vt:lpstr>
      <vt:lpstr>DM Serif Display</vt:lpstr>
      <vt:lpstr>Calibri</vt:lpstr>
      <vt:lpstr>Haettenschweiler</vt:lpstr>
      <vt:lpstr>Nunito</vt:lpstr>
      <vt:lpstr>Library Book Style CV by Slidesgo</vt:lpstr>
      <vt:lpstr>PROBLEM BASED TASK 1 (PBT1)  LIBRARY MANAGEMENT</vt:lpstr>
      <vt:lpstr>03</vt:lpstr>
      <vt:lpstr>GROUP MEMBER</vt:lpstr>
      <vt:lpstr>INTRODUCTION</vt:lpstr>
      <vt:lpstr>INTRODUCTION</vt:lpstr>
      <vt:lpstr>CODING</vt:lpstr>
      <vt:lpstr>CODING</vt:lpstr>
      <vt:lpstr>CODING</vt:lpstr>
      <vt:lpstr>CODING</vt:lpstr>
      <vt:lpstr>OUTPUT</vt:lpstr>
      <vt:lpstr>OUTPUT</vt:lpstr>
      <vt:lpstr>OUTPUT</vt:lpstr>
      <vt:lpstr>OUTPUT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BASED TASK 1 (PBT1)  LIBRARY MANAGEMENT</dc:title>
  <dc:creator>Haruko Mio</dc:creator>
  <cp:lastModifiedBy>muhd</cp:lastModifiedBy>
  <cp:revision>22</cp:revision>
  <dcterms:modified xsi:type="dcterms:W3CDTF">2023-05-20T12:48:21Z</dcterms:modified>
</cp:coreProperties>
</file>