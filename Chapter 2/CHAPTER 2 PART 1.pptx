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8" r:id="rId4"/>
    <p:sldId id="260" r:id="rId5"/>
    <p:sldId id="261" r:id="rId6"/>
    <p:sldId id="262" r:id="rId7"/>
    <p:sldId id="264" r:id="rId8"/>
    <p:sldId id="263" r:id="rId9"/>
    <p:sldId id="280" r:id="rId10"/>
    <p:sldId id="265" r:id="rId11"/>
    <p:sldId id="266" r:id="rId12"/>
    <p:sldId id="267" r:id="rId13"/>
    <p:sldId id="270" r:id="rId14"/>
    <p:sldId id="271" r:id="rId15"/>
    <p:sldId id="275" r:id="rId16"/>
    <p:sldId id="269" r:id="rId17"/>
    <p:sldId id="272" r:id="rId18"/>
    <p:sldId id="273" r:id="rId19"/>
    <p:sldId id="274" r:id="rId20"/>
    <p:sldId id="282" r:id="rId21"/>
    <p:sldId id="281" r:id="rId22"/>
    <p:sldId id="276" r:id="rId23"/>
    <p:sldId id="284" r:id="rId24"/>
    <p:sldId id="285" r:id="rId25"/>
    <p:sldId id="286" r:id="rId26"/>
    <p:sldId id="287" r:id="rId27"/>
    <p:sldId id="288" r:id="rId28"/>
    <p:sldId id="297" r:id="rId29"/>
    <p:sldId id="291" r:id="rId30"/>
    <p:sldId id="292" r:id="rId31"/>
    <p:sldId id="295" r:id="rId32"/>
    <p:sldId id="294" r:id="rId33"/>
    <p:sldId id="296" r:id="rId34"/>
    <p:sldId id="300" r:id="rId35"/>
    <p:sldId id="307" r:id="rId36"/>
    <p:sldId id="306" r:id="rId37"/>
    <p:sldId id="302" r:id="rId38"/>
    <p:sldId id="305" r:id="rId39"/>
    <p:sldId id="30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6E6E6"/>
    <a:srgbClr val="ABE5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1-03-21T03:20:13.221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8005D7E-3EDD-4076-9B49-45D531766C3E}" emma:medium="tactile" emma:mode="ink">
          <msink:context xmlns:msink="http://schemas.microsoft.com/ink/2010/main" type="writingRegion" rotatedBoundingBox="4301,8825 6113,8806 6149,12310 4337,12329"/>
        </emma:interpretation>
      </emma:emma>
    </inkml:annotationXML>
    <inkml:traceGroup>
      <inkml:annotationXML>
        <emma:emma xmlns:emma="http://www.w3.org/2003/04/emma" version="1.0">
          <emma:interpretation id="{5371D3F1-DA6C-40C8-8956-4E3C37808E3C}" emma:medium="tactile" emma:mode="ink">
            <msink:context xmlns:msink="http://schemas.microsoft.com/ink/2010/main" type="paragraph" rotatedBoundingBox="4422,8824 5994,8807 6000,9403 4428,941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64DA3DB-EF80-4950-AF6A-1E20BD2B9F14}" emma:medium="tactile" emma:mode="ink">
              <msink:context xmlns:msink="http://schemas.microsoft.com/ink/2010/main" type="line" rotatedBoundingBox="4422,8824 5994,8807 6000,9403 4428,9419"/>
            </emma:interpretation>
          </emma:emma>
        </inkml:annotationXML>
        <inkml:traceGroup>
          <inkml:annotationXML>
            <emma:emma xmlns:emma="http://www.w3.org/2003/04/emma" version="1.0">
              <emma:interpretation id="{B163FE4F-0415-43D0-B42B-CA25AE2DA792}" emma:medium="tactile" emma:mode="ink">
                <msink:context xmlns:msink="http://schemas.microsoft.com/ink/2010/main" type="inkWord" rotatedBoundingBox="4422,8824 5994,8807 6000,9403 4428,9419"/>
              </emma:interpretation>
            </emma:emma>
          </inkml:annotationXML>
          <inkml:trace contextRef="#ctx0" brushRef="#br0">764 280 19 0,'0'0'72'0,"0"-6"-6"16,0 6-5-16,0 0-4 0,-11 0-6 0,11 0-4 15,0 0-2-15,0 0-4 0,0 0-2 0,0 0 0 16,0 0-2-16,0 0-1 0,0 0 1 0,0 0 0 0,0 0-2 16,0 0-2-16,0 0-1 0,0 0-3 0,0 0-2 15,0 0-4-15,0 0-1 0,0 0-1 0,0 0 0 16,0 0 0-16,0 0 0 0,0-7-1 0,0 7-1 16,0 0 2-16,0 0 0 0,0 0 2 0,0 0 2 15,0 0 3-15,0 0 3 0,0 0 3 0,0 0 4 16,-10 0 2-16,10 0 2 0,0 0 0 0,0 0 2 15,0 0 1-15,0 0-1 0,0 0 1 0,0 0-1 0,0 0-1 16,0 0 1-16,0 0 1 0,0 0 1 0,0 0 0 16,0 0 2-16,0 0-1 0,0 7-1 0,0-7-3 15,0 0-3-15,0 0-3 0,0 0-2 0,0 0-3 0,0 0-3 16,0 0-2-16,0 0-2 0,0 0-1 16,10 0-2-16,-10 0-2 0,11 6-3 0,-11-6-3 0,12 0-2 15,-2 0-3-15,-10 0 0 0,11 6 0 0,1-6-1 16,-2 0-1-16,0 7-1 0,3-1-1 0,7-6-1 15,-9 5-1-15,1 3 0 0,-2-3-2 0,1 1 1 16,1 0 4-16,-12 1-3 0,21-1 0 0,-9-1-1 16,-2 2 1-16,0-1 0 0,1 0-5 0,1 0 2 0,-2 0 1 15,1 0 0-15,1 0 1 0,9-6 0 0,-21 7 1 16,22 0 1-16,-12-7 0 0,1 5 2 0,1-5 1 16,-2 0 1-16,13 6 1 0,-13-6-2 0,1 6 0 15,1-6-2-15,-2 6-1 0,0-6-2 0,1 0 0 16,1 0 1-16,-12 7-2 0,10-7-1 0,-10 0 1 15,11 0 0-15,-11 6 0 0,0-6-1 0,12 0 1 16,-12 0 1-16,0 0-1 0,0 0 0 0,0 0 0 0,0 0 2 16,0 0-2-16,0 0-1 0,0 0 1 0,0 0-1 15,0 0-1-15,0 0-5 0,0-6-1 0,-12 6-3 16,12 0-9-16,0 0-6 0,-11-7-12 0,11 7-14 16,0 0-20-16,-10-6-19 0,10 6-21 0,-12-6-22 15,1 0-21-15,11 6-23 0,-10-5-23 0,10-2-29 16,-10 7-39-16,10-7-12 0,-12 1 11 0,12 0 27 0</inkml:trace>
          <inkml:trace contextRef="#ctx0" brushRef="#br0" timeOffset="441.7">1091 212 137 0,'0'0'164'0,"0"-6"-19"0,0 6-22 16,0 0-18-16,0 6-16 0,-11-6-12 0,11 0-8 0,0 0-5 16,0 7-2-16,-10-7-2 0,10 6 0 0,-10 0-1 15,10 0-6-15,-12-1-4 0,12-5-1 0,-11 7-2 16,1 0-2-16,-2-1 0 0,1 6 1 0,-11-6 0 16,11 0-5-16,1 1-1 0,-12 4 0 0,11-3-2 15,1-3 1-15,-13 7 1 0,13-5-1 0,-13 4 0 16,3-4 0-16,7 5 0 0,-7 0-3 0,8-6-2 0,-9 7-1 15,-2-1-4-15,3 0-1 0,7 1-4 0,-7-1-1 16,-3-7-1-16,13 7-1 0,-13 2 0 0,13-3 0 16,-2-4-3-16,-9 5 1 0,11-6-3 0,-2 6-1 15,1-6-2-15,1 7-1 0,-2-7 0 0,1 1-3 16,1-1-1-16,-2-1 0 0,1-5-2 0,11 6-1 0,-10 1 1 16,10-7-2-16,-10 6-1 0,10-6-1 0,0 0-1 15,0 0 0-15,0 7-1 0,0-7 0 0,0 0 0 16,0 0 1-16,0 0-1 0,0-7-2 0,0 7-2 15,0 0 2-15,0 0-4 0,10 0-4 0,-10-6-7 16,10 6-8-16,-10-7-15 0,11 1-18 0,1 6-18 16,-2-5-24-16,1-1-23 0,11-1-30 0,-11 1-37 15,11-7-43-15,-1 7-62 0,-9-6-15 0,9 0 10 16,1-1 28-16</inkml:trace>
          <inkml:trace contextRef="#ctx0" brushRef="#br0" timeOffset="-1355.71">492 4 104 0,'10'-6'104'16,"-10"6"-8"-16,11 0-9 0,-11 0-9 0,0 0-5 15,0 0 0-15,0 0-2 0,0 0 1 0,0 0 1 16,0 0-2-16,0 0-3 0,0 0-2 0,0 0-1 15,0 0-1-15,-11 0-3 0,11 0-1 0,0 0-1 16,0 0-1-16,0 0-2 0,0 0-1 0,0 0 1 16,0 0-1-16,0 0-1 0,0 0-2 0,0 0-2 0,0 0-4 15,0 0-5-15,0 0-5 0,-10 0-2 0,10 0-5 16,0 6-3-16,0-6 0 0,0 0-1 0,-10 0-2 16,10 0-1-16,0 0-2 0,-12 6-1 0,1-6 0 15,11 6-2-15,-10-6 3 0,-2 7-3 0,1-1 1 16,1 0 0-16,-13-6-1 0,13 6 2 0,-13 0-3 15,13 0 2-15,-12 6-1 0,1-5 2 0,-2-1-1 0,13 6-1 16,-13-6 1-16,3 7 1 0,-3-7 0 0,13 5-1 16,-13 2 1-16,3 1 2 0,7-10-1 0,-7 9 2 15,8 0-1-15,-9-2-1 0,9-5 1 0,1 6 1 16,1 1-1-16,0-1 0 0,-3 0 0 0,3 1-2 16,10-1 0-16,-10 0-2 0,10 1-2 0,-12 0 0 0,12-2 1 15,0 2 2-15,0-2-4 0,0-4 2 16,12 5 1-16,-12 0 0 0,10 0-1 0,0 2 1 0,3-3 1 15,-3 1 0-15,0 1-2 0,1-7-2 0,11 6 0 16,-11 0-2-16,1-5-3 0,8-1-2 0,-7-1 0 16,-3 2-1-16,11-1-1 0,-9 0 1 0,-2 0 1 15,1-6 0-15,11 7 1 0,-22-2 1 0,10-5 4 0,3 0 1 16,-13 0 2-16,0 6 2 0,10-6 2 16,-10 0 1-16,0 0 2 0,0 0-1 0,0 0 3 0,0 0-2 15,0 0-1-15,0 0 0 0,0 0-2 0,0 0 0 16,0 0-4-16,0 0-2 0,0 0-1 0,0 0-3 15,0 0 0-15,0 0-5 0,0 0-3 0,0 0 1 16,0 0-1-16,0 0 1 0,0 0 0 0,0 0 0 16,0 0 1-16,0 0-2 0,0 0-1 0,0 0-1 15,0 0-2-15,0 0 0 0,0 0 1 0,0 0 1 0,0 0-1 16,0 0 1-16,0 0-1 0,0 0-3 0,0 0 1 16,0 0-4-16,0 0-2 0,-10 0-9 0,10 0-10 15,0-6-22-15,-13 6-27 0,13 0-28 0,-10-5-35 16,10 5-38-16,-10-7-40 0,10 1-49 0,-12 6-64 15,12-6-78-15,0 0-19 0,-11-1 12 0,11 7 40 16,0 0 62-16</inkml:trace>
          <inkml:trace contextRef="#ctx0" brushRef="#br0" timeOffset="1169.32">1451 133 60 0,'0'0'87'0,"-11"0"-9"0,11-7-6 0,-10 7-11 15,10 0-8-15,-12 0-9 0,12 0-7 0,-10 0-4 0,10 0-5 16,0-6 0-16,-11 6-2 0,11 0 0 0,0 0-1 15,0 0 0-15,-10 0 0 0,10-5 2 0,0 5 2 16,0 0 2-16,0 0 1 0,0 0 2 0,0 0 2 16,0 0 6-16,0 0 0 0,0 0 3 0,0 0 0 15,0 0 4-15,0 0 0 0,0 0-1 0,0 0 1 16,0 0-1-16,0 0-1 0,0 0-1 0,0 0 1 0,10 0-3 16,-10 0-3-16,0 0 0 0,11 5-2 15,-11-5-1-15,0 0-5 0,10 0-2 0,-10 0-2 0,12 6-4 16,-12-6-3-16,10 0-2 0,-10 7 0 0,0-1 0 15,11-6-1-15,1 6 1 0,-2 2 0 0,-10-4 1 16,11 2 1-16,-11 7 0 0,12-6 0 0,-2-2 1 16,1 1-3-16,1 6-1 0,-2-6-4 0,-10 7-2 0,10-7-3 15,1 5-3-15,-11 3 0 0,12-8-2 16,-12 6 2-16,0 0 0 0,0 6-1 0,0-5 1 0,-12-1 0 16,12 1 1-16,-11 5 1 0,1-6 3 0,0 0 3 15,-2 8 4-15,12-9 2 0,-21 1 1 0,9 1 1 16,1-2-2-16,1 1 0 0,-2 2-3 0,1-3 3 0,1-4-2 15,-2-1 3-15,2 0 1 0,-1 0 0 0,1 1 1 16,-2-2-2-16,12 1 0 0,-11-6-3 0,1 7-2 16,10-1 2-16,-12-6-4 0,12 0-2 0,0 0 1 15,0 6-2-15,0-6-2 0,0 0 0 0,0 0-2 16,0 0 1-16,0 0-2 0,0 0 0 0,0 0-1 16,0 0-2-16,0 0 0 0,0 0-4 0,0 0 2 0,0 0-2 15,0 0 0-15,0 0-1 0,0 0 1 16,0 0 0-16,0 0-2 0,0 0-3 0,0-6-3 0,12 6-11 15,-12-6-15-15,10 6-21 0,-10-7-29 0,11 1-38 16,1 1-44-16,-2-2-53 0,1 1-66 0,11 0-74 16,-12-7-20-16,1 8 14 0,1-1 33 0</inkml:trace>
        </inkml:traceGroup>
      </inkml:traceGroup>
    </inkml:traceGroup>
    <inkml:traceGroup>
      <inkml:annotationXML>
        <emma:emma xmlns:emma="http://www.w3.org/2003/04/emma" version="1.0">
          <emma:interpretation id="{8B98CFEA-9E09-46D6-9841-D09A45B21286}" emma:medium="tactile" emma:mode="ink">
            <msink:context xmlns:msink="http://schemas.microsoft.com/ink/2010/main" type="paragraph" rotatedBoundingBox="4310,9984 6123,9950 6132,10423 4319,1045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0C09CEE-E9FF-4D4E-90FD-5C17FF0219D0}" emma:medium="tactile" emma:mode="ink">
              <msink:context xmlns:msink="http://schemas.microsoft.com/ink/2010/main" type="line" rotatedBoundingBox="4310,9984 6123,9950 6132,10423 4319,10458"/>
            </emma:interpretation>
          </emma:emma>
        </inkml:annotationXML>
        <inkml:traceGroup>
          <inkml:annotationXML>
            <emma:emma xmlns:emma="http://www.w3.org/2003/04/emma" version="1.0">
              <emma:interpretation id="{AAC9E7A7-B7E9-4475-94F9-15F8B322452E}" emma:medium="tactile" emma:mode="ink">
                <msink:context xmlns:msink="http://schemas.microsoft.com/ink/2010/main" type="inkWord" rotatedBoundingBox="4310,9992 4774,9983 4783,10417 4319,10426"/>
              </emma:interpretation>
            </emma:emma>
          </inkml:annotationXML>
          <inkml:trace contextRef="#ctx0" brushRef="#br0" timeOffset="2609.66">231 1200 52 0,'10'0'86'0,"-10"0"3"0,0 0-1 16,0 0-4-16,0 0-6 0,10 0-5 0,-10 0-8 15,0 0-8-15,0 0-8 0,0 0-7 0,0 0-12 16,0 0-5-16,0 0-9 0,0 0-5 0,0 0-5 15,0 0-3-15,0 0-3 0,0 0-2 0,0 0-1 16,0 0 1-16,0 0-1 0,13 0 1 0,-13 0 1 0,0 0 1 16,10 0 2-16,-10 0 2 0,0 0-1 0,10 0 1 15,-10 0 0-15,0 0 0 0,11 0-1 0,-11 0-1 16,0 0-1-16,12 0-1 0,-12 0 1 0,0-7 0 16,0 7 1-16,10 0 1 0,-10 0-1 0,0 0 0 15,0-5 1-15,0 5 1 0,11 0 2 0,-11-6 1 16,0 6 1-16,0 0 4 0,0 0 4 0,12-6 2 0,-12 6 5 15,0 0 5-15,0-6 5 0,10 6 6 0,-10 0 4 16,0 0 3-16,0 0 4 0,0-7 2 0,0 7-1 16,0 0-1-16,0 0-1 0,-10 0-2 0,10 0 0 15,0 0-1-15,0 0 0 0,-12 0 1 0,12 0-1 16,0 0-4-16,0 0-4 0,0 0-5 0,-11 0-5 0,11 0-6 16,-10 7-2-16,10-7-1 0,-12 6 1 15,1-6 1-15,1 6 3 0,-13 0 2 0,13-1 2 0,-12 9 4 16,11-8 0-16,-11 6 3 0,1-6 1 0,-2 6-3 15,3 0 0-15,-3 1-1 0,1-1-1 0,1 0-2 16,-2 7-1-16,3-7 5 0,-3 0-4 0,13 8-4 16,-13-10-3-16,13 3-2 0,-13 6-2 0,13-8-4 0,0 8 0 15,10-7 0-15,-12 1-2 0,12 5-3 0,0-6-2 16,0 1 1-16,12-1-2 0,-2 0 0 0,0 0 2 16,2-5-1-16,-1 4 2 0,10-4 2 0,1-1 1 15,1 0 2-15,-3 0-2 0,3 1 2 0,-2-2 2 16,1-5-2-16,-11 6 2 0,11-6-1 0,1 0 2 15,-3 7 0-15,-9-7-2 0,1 0 0 0,-2 0 1 0,1 0 0 16,1 0 2-16,-2 0-1 0,-10 0 0 16,0 0-1-16,0-7-3 0,0 7-1 0,10 0-6 0,-10 0-3 15,0 0-5-15,0-6-3 0,13 6-5 0,-13-5-11 16,0-2-16-16,0 7-23 0,0-6-26 0,10 0-38 16,-10 6-42-16,0-6-46 0,0-1-54 0,10 2-69 15,-10-1-47-15,0-1-3 0,0 7 24 0,0-6 46 16</inkml:trace>
        </inkml:traceGroup>
        <inkml:traceGroup>
          <inkml:annotationXML>
            <emma:emma xmlns:emma="http://www.w3.org/2003/04/emma" version="1.0">
              <emma:interpretation id="{2BBE0A44-549F-4695-BD64-20D4A26D3B79}" emma:medium="tactile" emma:mode="ink">
                <msink:context xmlns:msink="http://schemas.microsoft.com/ink/2010/main" type="inkWord" rotatedBoundingBox="5012,10035 5622,10023 5629,10366 5019,10378"/>
              </emma:interpretation>
            </emma:emma>
          </inkml:annotationXML>
          <inkml:trace contextRef="#ctx0" brushRef="#br0" timeOffset="3548.41">611 1378 123 0,'-10'0'233'0,"10"0"15"16,-10-6-39-16,10 6-54 0,0-7-42 0,0 7-21 0,0 0-10 15,0 0-7-15,10 0-4 0,-10 0-9 0,0 0-5 16,10 0-7-16,-10 0-5 0,11 0-2 0,1 0-2 16,-2 0-2-16,13 0-3 0,-13 0-3 0,23 0-5 15,-23 0-4-15,23 0-4 0,-10 0-2 0,-2 0-4 0,11 0-1 16,-9 0-4-16,10 0-2 0,-12 0 0 15,1 0-1-15,11 0 1 0,-12-5 0 0,1 5 3 0,-11 0 1 16,11 0 5-16,-11 0 3 0,11 0 3 0,-12 0 1 16,1 0 2-16,1 0 1 0,-2 0-2 0,1 0 1 15,1 0-2-15,-12 0 4 0,0 0 0 0,10 0 3 16,-10 0-1-16,0 0 1 0,0 0-2 0,0 0-5 16,0 0-3-16,0 0-7 0,0 0-3 0,0 0-3 15,0 0-5-15,0-5 0 0,0 5-3 0,0 0-3 0,0 0-3 16,0 0-5-16,11 0-6 0,-11 0-9 0,0 0-13 15,12-8-20-15,-12 8-21 0,10 0-25 0,-10 0-29 16,0-6-25-16,10 6-29 0,-10-6-32 0,0 6-44 16,11 0-29-16,-11 0 1 0,0 0 20 0,0 0 36 15</inkml:trace>
          <inkml:trace contextRef="#ctx0" brushRef="#br0" timeOffset="3133.43">906 1237 132 0,'0'0'156'15,"12"-6"-17"-15,-12 6-20 0,0 0-15 0,10-6-10 16,-10 6-2-16,11-7 3 0,-11 7 2 0,0 0 1 16,12-5-1-16,-12 5-2 0,10 0-2 0,-10-6-5 15,0 6-4-15,10 0-2 0,-10 0-5 0,0 0-5 0,0 0-7 16,0 0-7-16,0 0-7 0,-10 0-8 0,10 0-3 15,0 6-4-15,0-6 3 0,0 5 3 0,0 2 6 16,0-1 5-16,0 0 7 0,0 7 5 0,0-8-3 16,0 8-3-16,0-7-4 0,0 5-4 0,0 2-7 15,0 0-6-15,0-7-4 0,0 6-1 0,0 0 0 0,0 2-2 16,0-4-5-16,0-3 0 0,10 6 1 16,-10-1-5-16,0-1-2 0,0-5-6 0,0 7 0 0,11-1-5 15,-11-7 1-15,0 9-3 0,0-8-1 0,12 0-1 16,-12 6 0-16,0-6-1 0,0 1-5 0,0-1 2 15,0 0 0-15,0 1 0 0,10-7 0 0,-10 5 0 16,0-5 0-16,0 6-2 0,0-6 0 0,0 0-2 16,0 6-1-16,11-6 0 0,-11 0 1 0,0 0-1 15,0 7-2-15,0-7 0 0,12 6-1 0,-12-6-5 0,0 0-3 16,0 0-7-16,10 0-9 0,-10 5-8 0,0-5-12 16,0 0-13-16,0 0-15 0,0 0-14 0,0-5-16 15,0 5-19-15,11-6-22 0,-11 6-26 0,0-7-30 16,0 1-38-16,0 0-47 0,12 1-38 0,-12-2 0 15,10 1 23-15,-10 0 40 0</inkml:trace>
        </inkml:traceGroup>
        <inkml:traceGroup>
          <inkml:annotationXML>
            <emma:emma xmlns:emma="http://www.w3.org/2003/04/emma" version="1.0">
              <emma:interpretation id="{F696EF5C-4D6C-4D23-A5A0-A0610BC914F5}" emma:medium="tactile" emma:mode="ink">
                <msink:context xmlns:msink="http://schemas.microsoft.com/ink/2010/main" type="inkWord" rotatedBoundingBox="5864,9955 6123,9950 6132,10423 5873,10428"/>
              </emma:interpretation>
            </emma:emma>
          </inkml:annotationXML>
          <inkml:trace contextRef="#ctx0" brushRef="#br0" timeOffset="4025.38">1463 1163 168 0,'-12'-6'196'0,"12"0"-19"0,0 0-26 0,-11 6-22 0,11-6-16 15,0 6-7-15,0 0-5 0,0 0-3 0,0-5-7 16,0 5-7-16,0 0-7 0,0 0-13 0,11 0-8 16,-11 0-5-16,12 5-2 0,-2-5-2 0,1 0 0 15,1 6 3-15,-2-6 1 0,1 6-1 0,1 0-4 0,8 0 0 16,-9 1-2-16,1-1-2 0,9 0-6 0,-9 5 0 16,-2-4-2-16,1 6-3 0,1-1-5 0,-2 0-4 15,0 1-2-15,13-2-4 0,-23 8 1 0,10-7-1 16,1 7 3-16,-11-1-1 0,0 8 1 0,0-9 1 15,-11 2-1-15,11 4-2 0,-10-3 1 0,-2-2-1 16,1 0 1-16,11 0 0 0,-10 1 1 0,0-1 2 0,-2-5-1 16,-9-2 1-16,9 2 1 0,12-7 1 15,-11 7 3-15,1-8 1 0,-2 1-3 0,1-6 2 0,11 7-3 16,-10-7-4-16,10 7-4 0,-10-7-2 0,10 0-4 16,0 0-1-16,0 0-4 0,0 0-4 0,0 0-4 15,0-7-5-15,0 7-9 0,0 0-15 0,10-7-20 0,-10 7-22 16,0-6-29-16,0 6-34 0,10-5-42 0,-10-2-50 15,11 1-62-15,-11 0-74 0,12 0-21 0,-12-1 13 16,0 2 33-16,10-1 57 0</inkml:trace>
        </inkml:traceGroup>
      </inkml:traceGroup>
    </inkml:traceGroup>
    <inkml:traceGroup>
      <inkml:annotationXML>
        <emma:emma xmlns:emma="http://www.w3.org/2003/04/emma" version="1.0">
          <emma:interpretation id="{160A9F22-414B-4F4D-8BAE-3596D70153F8}" emma:medium="tactile" emma:mode="ink">
            <msink:context xmlns:msink="http://schemas.microsoft.com/ink/2010/main" type="paragraph" rotatedBoundingBox="4789,11724 5653,11826 5588,12373 4724,1227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DC92DDA-7EE4-44F0-BA67-C050AADB33A3}" emma:medium="tactile" emma:mode="ink">
              <msink:context xmlns:msink="http://schemas.microsoft.com/ink/2010/main" type="line" rotatedBoundingBox="4789,11724 5653,11826 5588,12373 4724,12271"/>
            </emma:interpretation>
          </emma:emma>
        </inkml:annotationXML>
        <inkml:traceGroup>
          <inkml:annotationXML>
            <emma:emma xmlns:emma="http://www.w3.org/2003/04/emma" version="1.0">
              <emma:interpretation id="{4D0AF70E-D8A0-4396-9D6E-0D6C69E10575}" emma:medium="tactile" emma:mode="ink">
                <msink:context xmlns:msink="http://schemas.microsoft.com/ink/2010/main" type="inkWord" rotatedBoundingBox="4789,11724 5209,11773 5145,12321 4724,12271"/>
              </emma:interpretation>
            </emma:emma>
          </inkml:annotationXML>
          <inkml:trace contextRef="#ctx0" brushRef="#br0" timeOffset="5939.86">634 2991 51 0,'10'-6'166'16,"1"0"-17"-16,-11 0-18 0,12 6-14 0,-2-5-11 16,1-2-7-16,-11 7-5 0,12 0-2 0,-2-7-8 15,-10 7-6-15,10-6-3 0,-10 6 0 0,13 0 0 16,-13 0 0-16,0 0 0 0,10 0 1 0,-10 0-2 15,0 0-3-15,0 0-4 0,-10 0-2 0,10 0-5 16,0 0-4-16,0 0-3 0,-13 0-1 0,13 6-2 0,0-6-1 16,0 0-1-16,0 0-1 0,0 0 2 15,0 0-2-15,-10 0-1 0,10 0 0 0,0 0-2 0,0 7-1 16,-10-7-3-16,10 0-2 0,-12 0-2 0,12 7-6 16,-11-7-5-16,11 5-2 0,-10 1-5 0,10-6-3 15,-12 12-2-15,1-5 1 0,1-1 0 0,-2 0-1 16,1 6 0-16,-9-7 0 0,8 9-2 0,1-8 0 0,-11 6-2 15,11-6-1-15,1 6-1 0,-13 1 4 16,13-1-3-16,0 0 4 0,-13 1 1 0,13-2 4 0,-2 2 1 16,1-1-2-16,1 7 3 0,-13-7-3 0,13 6-2 15,0-5 5-15,-13 5-3 0,13 0-2 0,-2-6-1 16,12 7-2-16,-11-6 0 0,11-2-11 0,0 2 1 16,0 6 1-16,0-14 0 0,0 8-1 0,11 0-1 0,1-2 2 15,-2-5 1-15,13 0-1 0,-13 0-1 0,0 6 0 16,13-5 1-16,-13-1-2 0,13-6 0 0,-2 5 0 15,1 2 4-15,-12-7-1 0,13 7 1 0,-2-7 2 16,-9 0-2-16,9 0 0 0,-9 0-3 0,8 0 3 16,-9 0-2-16,-11 0 0 0,12 0 4 0,-2 0 1 0,1 0 0 15,-11 0 0-15,12 0 2 0,-12 0 0 0,10 0-1 16,-10 0-1-16,0 0 0 0,0 0-4 0,0 0 0 16,0 0 4-16,0 0-3 0,0 0-1 0,11 0-1 15,-11 0 1-15,0 0 0 0,0 0-5 0,12 0 0 16,-12 5 3-16,0-5-4 0,0 0 3 0,10 0 1 15,-10 0 0-15,0 0 0 0,0 0 3 0,0 0 3 0,0 6 0 16,0-6-1-16,0 0 2 0,0 0 4 16,0 0-3-16,0 0 2 0,0 7-1 0,0-7 0 0,0 0-3 15,0 6-3-15,0 0 2 0,0-6-1 0,10 7-1 16,-10-7-1-16,0 5 0 0,0-5-3 0,0 0 0 16,0 0 0-16,0 0 0 0,0 6 0 0,0-6 0 15,0 0 1-15,0 0 2 0,0 0-1 0,0 0 1 0,0 0-2 16,0 0 1-16,0 0 0 0,0 0-2 15,0 0-1-15,0 0-1 0,0-6 0 0,0 6-4 0,0 0-7 16,0 0-9-16,0-5-16 0,0 5-35 0,-10-7-36 16,10 7-47-16,-10-6-58 0,10 0-77 0,-12-1-105 15,12-4-66-15,0-3-14 0,0 9 22 0,-11-8 51 16</inkml:trace>
        </inkml:traceGroup>
        <inkml:traceGroup>
          <inkml:annotationXML>
            <emma:emma xmlns:emma="http://www.w3.org/2003/04/emma" version="1.0">
              <emma:interpretation id="{FB61D636-3BEC-4A9F-9936-E06EE0161EC9}" emma:medium="tactile" emma:mode="ink">
                <msink:context xmlns:msink="http://schemas.microsoft.com/ink/2010/main" type="inkWord" rotatedBoundingBox="5553,11930 5639,11940 5595,12310 5509,12299"/>
              </emma:interpretation>
            </emma:emma>
          </inkml:annotationXML>
          <inkml:trace contextRef="#ctx0" brushRef="#br0" timeOffset="7505.27">1179 3138 31 0,'0'-6'146'0,"0"6"-15"0,0-5-17 15,0 5-18-15,0 0-15 0,-10 0-13 0,10-6-8 16,0 6-6-16,0 0-1 0,0-7 0 0,0 7-1 0,0 0 8 15,0 0-2-15,0 0 0 0,0 0-2 16,0 0-1-16,0 0-1 0,0 0-4 0,-12 0-1 0,12 0 1 16,0 7 1-16,0-7 1 0,0 0 2 0,0 0 0 15,0 0 3-15,0 0 4 0,0 6 4 0,0-6 2 16,0 0 3-16,0 0 4 0,0 5 3 0,0-5 2 16,0 6-2-16,0-6 0 0,0 7-3 0,0-1-4 15,0 0-4-15,-11 0-7 0,11 0-5 0,-10 7-3 16,10-1-5-16,-12 0-7 0,12 1-6 0,-11 4-2 0,11-4-2 15,0 6-3-15,0-1-4 0,0 1-1 0,0-8-2 16,0 8-3-16,11-1-2 0,-11-5-2 0,0 4-2 16,12-4-1-16,-12-1-2 0,10 0 0 0,-10 1-2 15,11-8-1-15,-11 9 0 0,0-9-2 0,0 1 0 16,0 1 0-16,12-1-1 0,-12-6-1 0,0 6 0 0,0-6 0 16,0 7 1-16,0-7 0 0,0 0 1 0,0 0 0 15,0 0 0-15,0 0-1 0,0 0-1 16,0 0 0-16,0 0-1 0,0 0 0 0,0 0 2 0,0 0-1 15,0 0 0-15,0 0 1 0,0 0 1 0,0 0-2 16,0 0-2-16,0 0-1 0,0 0-1 0,0 0-3 16,0-7-4-16,0 7-2 0,0 0-6 0,0-6-3 0,0 6-5 15,0 0-3-15,0-6-3 0,0 6-6 16,0 0 1-16,0-7-3 0,0 7-5 0,0-6-6 0,0 6-8 16,0-5-8-16,0 5-14 0,0 0-12 0,0-7-14 15,0 0-18-15,0 7-22 0,0-5-26 0,0-1-34 16,10-1-47-16,-10 2-55 0,0-2-14 0,0 1 14 15,-10 0 30-15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3-24T02:15:19.090"/>
    </inkml:context>
    <inkml:brush xml:id="br0">
      <inkml:brushProperty name="width" value="0.04667" units="cm"/>
      <inkml:brushProperty name="height" value="0.04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ED962E1-C6B0-4C27-9BDC-321590D1590E}" emma:medium="tactile" emma:mode="ink">
          <msink:context xmlns:msink="http://schemas.microsoft.com/ink/2010/main" type="inkDrawing" rotatedBoundingBox="2846,3358 6824,3440 6821,3607 2843,3525" shapeName="Other"/>
        </emma:interpretation>
      </emma:emma>
    </inkml:annotationXML>
    <inkml:trace contextRef="#ctx0" brushRef="#br0">0 138 0,'75'0'188,"39"-76"-188,0 76 15,0 0 1,-1 0-16,1 0 16,0 0-16,0 0 15,-76 0-15,-1 0 16,77 0-16,-38 0 15,-38 0 1,38-38 0,-38 38-1,37 0 1,39 0-16,-76 0 16,76 0-16,-38 0 15,-38 0-15,75 0 16,-75 0-16,38 0 15,38 0-15,-76 0 16,0 0-16,-1 0 16,39 0-16,76 0 15,-38 0 1,-1 76 0,-75-76-16,76 0 15,0 0-15,-1 0 16,1 0-16,0 0 15,-38 0-15,-38 0 16,75 38-16,-75-38 16,38 0-1,-38 0-15,0 0 16,38 0-16,-38 0 16,0 0 77,0 0 267,37 0-329,-37 0 31</inkml:trace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814C-968D-425C-9F96-38A2E67B795B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FADDC-80F9-4F79-9274-4DAED3D4B7F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98686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814C-968D-425C-9F96-38A2E67B795B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FADDC-80F9-4F79-9274-4DAED3D4B7FC}" type="slidenum">
              <a:rPr lang="en-MY" smtClean="0"/>
              <a:t>‹#›</a:t>
            </a:fld>
            <a:endParaRPr lang="en-MY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29375"/>
            <a:ext cx="12192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4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814C-968D-425C-9F96-38A2E67B795B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FADDC-80F9-4F79-9274-4DAED3D4B7F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64825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814C-968D-425C-9F96-38A2E67B795B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FADDC-80F9-4F79-9274-4DAED3D4B7F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2017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814C-968D-425C-9F96-38A2E67B795B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FADDC-80F9-4F79-9274-4DAED3D4B7F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33507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814C-968D-425C-9F96-38A2E67B795B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FADDC-80F9-4F79-9274-4DAED3D4B7FC}" type="slidenum">
              <a:rPr lang="en-MY" smtClean="0"/>
              <a:t>‹#›</a:t>
            </a:fld>
            <a:endParaRPr lang="en-MY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29375"/>
            <a:ext cx="12192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9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814C-968D-425C-9F96-38A2E67B795B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FADDC-80F9-4F79-9274-4DAED3D4B7F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5846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814C-968D-425C-9F96-38A2E67B795B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FADDC-80F9-4F79-9274-4DAED3D4B7F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22566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814C-968D-425C-9F96-38A2E67B795B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FADDC-80F9-4F79-9274-4DAED3D4B7F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0844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814C-968D-425C-9F96-38A2E67B795B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FADDC-80F9-4F79-9274-4DAED3D4B7F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981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F814C-968D-425C-9F96-38A2E67B795B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FADDC-80F9-4F79-9274-4DAED3D4B7F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50271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F814C-968D-425C-9F96-38A2E67B795B}" type="datetimeFigureOut">
              <a:rPr lang="en-MY" smtClean="0"/>
              <a:t>12/2/2023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FADDC-80F9-4F79-9274-4DAED3D4B7F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41665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7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1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BE5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228" y="2634141"/>
            <a:ext cx="7422359" cy="42238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0545" y="1250817"/>
            <a:ext cx="6426991" cy="576561"/>
          </a:xfrm>
        </p:spPr>
        <p:txBody>
          <a:bodyPr>
            <a:no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PYTHON PROGRAM ELEMENT</a:t>
            </a:r>
            <a:endParaRPr lang="en-MY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69391" y="2096299"/>
            <a:ext cx="5829300" cy="537842"/>
          </a:xfrm>
        </p:spPr>
        <p:txBody>
          <a:bodyPr/>
          <a:lstStyle/>
          <a:p>
            <a:pPr algn="l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DFP 40203 PYTHON PROGRAMMING</a:t>
            </a:r>
            <a:endParaRPr lang="en-MY" dirty="0"/>
          </a:p>
        </p:txBody>
      </p:sp>
      <p:sp>
        <p:nvSpPr>
          <p:cNvPr id="4" name="Rectangle 3"/>
          <p:cNvSpPr/>
          <p:nvPr/>
        </p:nvSpPr>
        <p:spPr>
          <a:xfrm>
            <a:off x="2281198" y="762774"/>
            <a:ext cx="43808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CHAPTER 2 (PART 1):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769391" y="1899433"/>
            <a:ext cx="58293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775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OUTCOMES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MY" dirty="0"/>
              <a:t>Explain variables and data types in Python</a:t>
            </a:r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Apply Operators and Operators Precedence</a:t>
            </a:r>
          </a:p>
          <a:p>
            <a:pPr marL="514350" indent="-514350">
              <a:buFont typeface="+mj-lt"/>
              <a:buAutoNum type="arabicPeriod"/>
            </a:pPr>
            <a:r>
              <a:rPr lang="en-MY" dirty="0"/>
              <a:t>Define and write a Conditional and Looping Statement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9375"/>
            <a:ext cx="12192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159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Syntax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Its not necessary in Python to end a command with semicolon</a:t>
            </a:r>
          </a:p>
          <a:p>
            <a:r>
              <a:rPr lang="en-MY" dirty="0"/>
              <a:t>Indentation:</a:t>
            </a:r>
          </a:p>
          <a:p>
            <a:pPr lvl="1"/>
            <a:r>
              <a:rPr lang="en-MY" dirty="0"/>
              <a:t>refers to the spaces at the beginning of a code line.</a:t>
            </a:r>
          </a:p>
          <a:p>
            <a:pPr lvl="1"/>
            <a:r>
              <a:rPr lang="en-MY" dirty="0"/>
              <a:t>Where in other programming languages the indentation in code is for readability only, </a:t>
            </a:r>
            <a:r>
              <a:rPr lang="en-MY" b="1" dirty="0">
                <a:solidFill>
                  <a:srgbClr val="FF0000"/>
                </a:solidFill>
              </a:rPr>
              <a:t>the indentation in Python is very important</a:t>
            </a:r>
            <a:r>
              <a:rPr lang="en-MY" dirty="0"/>
              <a:t>.</a:t>
            </a:r>
          </a:p>
          <a:p>
            <a:pPr lvl="1"/>
            <a:r>
              <a:rPr lang="en-MY" dirty="0"/>
              <a:t>Python uses indentation to indicate a block of code.</a:t>
            </a:r>
          </a:p>
          <a:p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57" y="4511312"/>
            <a:ext cx="4752785" cy="90977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2414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Variable(1)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119358"/>
          </a:xfrm>
        </p:spPr>
        <p:txBody>
          <a:bodyPr/>
          <a:lstStyle/>
          <a:p>
            <a:r>
              <a:rPr lang="en-MY" dirty="0"/>
              <a:t>Variables are containers for storing data values.</a:t>
            </a:r>
          </a:p>
          <a:p>
            <a:r>
              <a:rPr lang="en-MY" dirty="0"/>
              <a:t>A variable is created the moment you first assign a value to it. </a:t>
            </a:r>
          </a:p>
          <a:p>
            <a:r>
              <a:rPr lang="en-MY" dirty="0"/>
              <a:t>Variables </a:t>
            </a:r>
            <a:r>
              <a:rPr lang="en-MY" b="1" dirty="0">
                <a:solidFill>
                  <a:srgbClr val="0070C0"/>
                </a:solidFill>
              </a:rPr>
              <a:t>do not need to be declared with any particular type </a:t>
            </a:r>
            <a:r>
              <a:rPr lang="en-MY" dirty="0"/>
              <a:t>and can even change type after they have been set.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584" y="4091197"/>
            <a:ext cx="1886631" cy="182946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667" y="4140926"/>
            <a:ext cx="1782837" cy="87521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723247" y="4140926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58453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Variable(1)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The data type of a variable is automatically given to the variable based on the values assign to the variable.</a:t>
            </a:r>
          </a:p>
          <a:p>
            <a:endParaRPr lang="en-US" dirty="0"/>
          </a:p>
          <a:p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822" y="3021874"/>
            <a:ext cx="5263789" cy="113199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097822" y="4467498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  <p:sp>
        <p:nvSpPr>
          <p:cNvPr id="7" name="TextBox 6"/>
          <p:cNvSpPr txBox="1"/>
          <p:nvPr/>
        </p:nvSpPr>
        <p:spPr>
          <a:xfrm>
            <a:off x="1097822" y="4910026"/>
            <a:ext cx="2599508" cy="95001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46701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Name (1) 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/>
              <a:t>Must contain at least one character.</a:t>
            </a:r>
          </a:p>
          <a:p>
            <a:r>
              <a:rPr lang="en-MY" dirty="0"/>
              <a:t>The first character of a variable must be an alphabetic letter (upper or lower case) or the underscore</a:t>
            </a:r>
          </a:p>
          <a:p>
            <a:r>
              <a:rPr lang="en-MY" dirty="0"/>
              <a:t>The remaining characters (if any) may be alphabetic characters (upper or lower case), the underscore, or a digit</a:t>
            </a:r>
          </a:p>
          <a:p>
            <a:r>
              <a:rPr lang="en-MY" dirty="0"/>
              <a:t>No other characters (including spaces) are permitted in identifiers.</a:t>
            </a:r>
          </a:p>
          <a:p>
            <a:r>
              <a:rPr lang="en-MY" dirty="0"/>
              <a:t>A reserved word cannot be used as an identifier</a:t>
            </a:r>
          </a:p>
        </p:txBody>
      </p:sp>
    </p:spTree>
    <p:extLst>
      <p:ext uri="{BB962C8B-B14F-4D97-AF65-F5344CB8AC3E}">
        <p14:creationId xmlns:p14="http://schemas.microsoft.com/office/powerpoint/2010/main" val="3336194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Name (2) 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sz="3200" dirty="0"/>
              <a:t>Python accepted style</a:t>
            </a:r>
          </a:p>
          <a:p>
            <a:pPr lvl="1"/>
            <a:r>
              <a:rPr lang="en-MY" sz="2800" dirty="0" err="1"/>
              <a:t>my_name</a:t>
            </a:r>
            <a:r>
              <a:rPr lang="en-MY" sz="2800" dirty="0"/>
              <a:t>, </a:t>
            </a:r>
            <a:r>
              <a:rPr lang="en-MY" sz="2800" dirty="0" err="1"/>
              <a:t>your_name</a:t>
            </a:r>
            <a:r>
              <a:rPr lang="en-MY" sz="2800" dirty="0"/>
              <a:t>, </a:t>
            </a:r>
            <a:r>
              <a:rPr lang="en-MY" sz="2800" dirty="0" err="1"/>
              <a:t>user_name</a:t>
            </a:r>
            <a:r>
              <a:rPr lang="en-MY" sz="2800" dirty="0"/>
              <a:t>,</a:t>
            </a:r>
          </a:p>
          <a:p>
            <a:pPr lvl="1"/>
            <a:r>
              <a:rPr lang="en-MY" sz="2800" dirty="0" err="1"/>
              <a:t>account_name,count</a:t>
            </a:r>
            <a:r>
              <a:rPr lang="en-MY" sz="2800" dirty="0"/>
              <a:t>, </a:t>
            </a:r>
            <a:r>
              <a:rPr lang="en-MY" sz="2800" dirty="0" err="1"/>
              <a:t>total_number_of_users</a:t>
            </a:r>
            <a:r>
              <a:rPr lang="en-MY" sz="2800" dirty="0"/>
              <a:t>,</a:t>
            </a:r>
          </a:p>
          <a:p>
            <a:pPr lvl="1"/>
            <a:r>
              <a:rPr lang="en-MY" sz="2800" dirty="0" err="1"/>
              <a:t>percentage_passed</a:t>
            </a:r>
            <a:r>
              <a:rPr lang="en-MY" sz="2800" dirty="0"/>
              <a:t>, </a:t>
            </a:r>
            <a:r>
              <a:rPr lang="en-MY" sz="2800" dirty="0" err="1"/>
              <a:t>pass_rate,where_we_live</a:t>
            </a:r>
            <a:r>
              <a:rPr lang="en-MY" sz="2800" dirty="0"/>
              <a:t>,</a:t>
            </a:r>
          </a:p>
          <a:p>
            <a:pPr lvl="1"/>
            <a:r>
              <a:rPr lang="en-MY" sz="2800" dirty="0" err="1"/>
              <a:t>house_number,is_okay</a:t>
            </a:r>
            <a:r>
              <a:rPr lang="en-MY" sz="2800" dirty="0"/>
              <a:t>, </a:t>
            </a:r>
            <a:r>
              <a:rPr lang="en-MY" sz="2800" dirty="0" err="1"/>
              <a:t>is_correct</a:t>
            </a:r>
            <a:r>
              <a:rPr lang="en-MY" sz="2800" dirty="0"/>
              <a:t>, </a:t>
            </a:r>
            <a:r>
              <a:rPr lang="en-MY" sz="2800" dirty="0" err="1"/>
              <a:t>status_flag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833857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Reserve Word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listed keyword cannot be used as variable name</a:t>
            </a:r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489" y="2534059"/>
            <a:ext cx="7029688" cy="271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02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 1: Identify whether the following variables is valid or not.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44040" y="2194559"/>
            <a:ext cx="3459480" cy="34256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3600" dirty="0"/>
              <a:t>Home4you</a:t>
            </a:r>
          </a:p>
          <a:p>
            <a:pPr marL="0" indent="0">
              <a:buNone/>
            </a:pPr>
            <a:r>
              <a:rPr lang="en-MY" sz="3600" dirty="0" err="1"/>
              <a:t>after_you</a:t>
            </a:r>
            <a:endParaRPr lang="en-MY" sz="3600" dirty="0"/>
          </a:p>
          <a:p>
            <a:pPr marL="0" indent="0">
              <a:buNone/>
            </a:pPr>
            <a:r>
              <a:rPr lang="en-MY" sz="3600" dirty="0"/>
              <a:t>$money</a:t>
            </a:r>
          </a:p>
          <a:p>
            <a:pPr marL="0" indent="0">
              <a:buNone/>
            </a:pPr>
            <a:r>
              <a:rPr lang="en-MY" sz="3600" dirty="0"/>
              <a:t>_</a:t>
            </a:r>
            <a:r>
              <a:rPr lang="en-MY" sz="3600" dirty="0" err="1"/>
              <a:t>thatsall</a:t>
            </a:r>
            <a:r>
              <a:rPr lang="en-MY" sz="3600" dirty="0"/>
              <a:t> </a:t>
            </a:r>
          </a:p>
          <a:p>
            <a:pPr marL="0" indent="0">
              <a:buNone/>
            </a:pPr>
            <a:r>
              <a:rPr lang="en-MY" sz="3600" dirty="0"/>
              <a:t>2001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181600" cy="3982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sz="3600" dirty="0" err="1"/>
              <a:t>All10</a:t>
            </a:r>
            <a:endParaRPr lang="en-MY" sz="3600" dirty="0"/>
          </a:p>
          <a:p>
            <a:pPr marL="0" indent="0">
              <a:buNone/>
            </a:pPr>
            <a:r>
              <a:rPr lang="en-US" sz="3600" dirty="0"/>
              <a:t>pass</a:t>
            </a:r>
            <a:endParaRPr lang="en-MY" sz="3600" dirty="0"/>
          </a:p>
          <a:p>
            <a:pPr marL="0" indent="0">
              <a:buNone/>
            </a:pPr>
            <a:r>
              <a:rPr lang="en-MY" sz="3600" dirty="0" err="1"/>
              <a:t>python_101</a:t>
            </a:r>
            <a:r>
              <a:rPr lang="en-MY" sz="3600" dirty="0"/>
              <a:t> </a:t>
            </a:r>
          </a:p>
          <a:p>
            <a:pPr marL="0" indent="0">
              <a:buNone/>
            </a:pPr>
            <a:r>
              <a:rPr lang="en-MY" sz="3600" dirty="0"/>
              <a:t>hello pi</a:t>
            </a:r>
          </a:p>
          <a:p>
            <a:pPr marL="0" indent="0">
              <a:buNone/>
            </a:pPr>
            <a:r>
              <a:rPr lang="en-MY" sz="3600" dirty="0"/>
              <a:t>break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76808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MY" dirty="0"/>
              <a:t>Numbers</a:t>
            </a:r>
          </a:p>
          <a:p>
            <a:pPr lvl="1"/>
            <a:r>
              <a:rPr lang="en-MY" dirty="0"/>
              <a:t>Integers</a:t>
            </a:r>
          </a:p>
          <a:p>
            <a:pPr lvl="1"/>
            <a:r>
              <a:rPr lang="en-MY" dirty="0"/>
              <a:t>Floating point numbers.</a:t>
            </a:r>
          </a:p>
          <a:p>
            <a:pPr lvl="1"/>
            <a:r>
              <a:rPr lang="en-US" dirty="0"/>
              <a:t>Complex number (not covered in this course)</a:t>
            </a:r>
            <a:endParaRPr lang="en-MY" dirty="0"/>
          </a:p>
          <a:p>
            <a:r>
              <a:rPr lang="en-US" dirty="0"/>
              <a:t>String</a:t>
            </a:r>
          </a:p>
          <a:p>
            <a:pPr lvl="1"/>
            <a:r>
              <a:rPr lang="en-MY" dirty="0"/>
              <a:t>strings are defined either with a </a:t>
            </a:r>
            <a:r>
              <a:rPr lang="en-MY" b="1" dirty="0">
                <a:solidFill>
                  <a:srgbClr val="0070C0"/>
                </a:solidFill>
              </a:rPr>
              <a:t>single quote </a:t>
            </a:r>
            <a:r>
              <a:rPr lang="en-MY" dirty="0"/>
              <a:t>or a </a:t>
            </a:r>
            <a:r>
              <a:rPr lang="en-MY" b="1" dirty="0">
                <a:solidFill>
                  <a:srgbClr val="0070C0"/>
                </a:solidFill>
              </a:rPr>
              <a:t>double quotes</a:t>
            </a:r>
            <a:r>
              <a:rPr lang="en-MY" dirty="0"/>
              <a:t>.</a:t>
            </a:r>
          </a:p>
          <a:p>
            <a:r>
              <a:rPr lang="en-US" dirty="0"/>
              <a:t>Boolean</a:t>
            </a:r>
          </a:p>
          <a:p>
            <a:pPr lvl="1"/>
            <a:r>
              <a:rPr lang="en-US" dirty="0"/>
              <a:t>has two </a:t>
            </a:r>
            <a:r>
              <a:rPr lang="en-US" dirty="0" err="1"/>
              <a:t>valies</a:t>
            </a:r>
            <a:r>
              <a:rPr lang="en-US" dirty="0"/>
              <a:t> either</a:t>
            </a:r>
            <a:r>
              <a:rPr lang="en-US" b="1" dirty="0">
                <a:solidFill>
                  <a:srgbClr val="0070C0"/>
                </a:solidFill>
              </a:rPr>
              <a:t> True </a:t>
            </a:r>
            <a:r>
              <a:rPr lang="en-US" dirty="0"/>
              <a:t>or </a:t>
            </a:r>
            <a:r>
              <a:rPr lang="en-US" b="1" dirty="0">
                <a:solidFill>
                  <a:srgbClr val="0070C0"/>
                </a:solidFill>
              </a:rPr>
              <a:t>False</a:t>
            </a:r>
            <a:endParaRPr lang="en-MY" b="1" dirty="0">
              <a:solidFill>
                <a:srgbClr val="0070C0"/>
              </a:solidFill>
            </a:endParaRPr>
          </a:p>
          <a:p>
            <a:r>
              <a:rPr lang="en-US" dirty="0"/>
              <a:t>None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Empty </a:t>
            </a:r>
            <a:r>
              <a:rPr lang="en-US" dirty="0"/>
              <a:t>or </a:t>
            </a:r>
            <a:r>
              <a:rPr lang="en-US" b="1" dirty="0">
                <a:solidFill>
                  <a:srgbClr val="0070C0"/>
                </a:solidFill>
              </a:rPr>
              <a:t>Null</a:t>
            </a:r>
            <a:r>
              <a:rPr lang="en-US" dirty="0"/>
              <a:t> Values</a:t>
            </a:r>
          </a:p>
          <a:p>
            <a:pPr marL="457200" lvl="1" indent="0">
              <a:buNone/>
            </a:pPr>
            <a:r>
              <a:rPr lang="en-US" dirty="0"/>
              <a:t>Num1=“ ” or num1=null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427960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4326" y="67075"/>
            <a:ext cx="10515600" cy="1325563"/>
          </a:xfrm>
        </p:spPr>
        <p:txBody>
          <a:bodyPr/>
          <a:lstStyle/>
          <a:p>
            <a:r>
              <a:rPr lang="en-US" dirty="0"/>
              <a:t>Numbers &amp; Floating Point</a:t>
            </a:r>
            <a:endParaRPr lang="en-MY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178" y="4152967"/>
            <a:ext cx="2572483" cy="94028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24" y="2048690"/>
            <a:ext cx="2713137" cy="124029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691222" y="3835187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035" y="2042629"/>
            <a:ext cx="3022039" cy="92477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087" y="4163609"/>
            <a:ext cx="2470123" cy="68355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12" name="Straight Connector 11"/>
          <p:cNvCxnSpPr/>
          <p:nvPr/>
        </p:nvCxnSpPr>
        <p:spPr>
          <a:xfrm>
            <a:off x="5146766" y="1392638"/>
            <a:ext cx="26125" cy="404151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40961" y="3809061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  <p:sp>
        <p:nvSpPr>
          <p:cNvPr id="13" name="TextBox 12"/>
          <p:cNvSpPr txBox="1"/>
          <p:nvPr/>
        </p:nvSpPr>
        <p:spPr>
          <a:xfrm>
            <a:off x="1528003" y="1428135"/>
            <a:ext cx="1351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Numbers</a:t>
            </a:r>
            <a:endParaRPr lang="en-MY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567458" y="1618592"/>
            <a:ext cx="771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FLOAT</a:t>
            </a:r>
            <a:endParaRPr lang="en-MY" b="1" dirty="0"/>
          </a:p>
        </p:txBody>
      </p:sp>
    </p:spTree>
    <p:extLst>
      <p:ext uri="{BB962C8B-B14F-4D97-AF65-F5344CB8AC3E}">
        <p14:creationId xmlns:p14="http://schemas.microsoft.com/office/powerpoint/2010/main" val="4129925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String(1)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Strings are defined either with a </a:t>
            </a:r>
            <a:r>
              <a:rPr lang="en-MY" b="1" dirty="0">
                <a:solidFill>
                  <a:srgbClr val="0070C0"/>
                </a:solidFill>
              </a:rPr>
              <a:t>single quote </a:t>
            </a:r>
            <a:r>
              <a:rPr lang="en-MY" dirty="0"/>
              <a:t>or a </a:t>
            </a:r>
            <a:r>
              <a:rPr lang="en-MY" b="1" dirty="0">
                <a:solidFill>
                  <a:srgbClr val="0070C0"/>
                </a:solidFill>
              </a:rPr>
              <a:t>double quotes </a:t>
            </a:r>
            <a:r>
              <a:rPr lang="en-MY" dirty="0"/>
              <a:t>or in Python 3 you can use </a:t>
            </a:r>
            <a:r>
              <a:rPr lang="en-MY" b="1" dirty="0">
                <a:solidFill>
                  <a:srgbClr val="0070C0"/>
                </a:solidFill>
              </a:rPr>
              <a:t>triple quotes</a:t>
            </a:r>
            <a:r>
              <a:rPr lang="en-MY" dirty="0"/>
              <a:t>. </a:t>
            </a:r>
          </a:p>
          <a:p>
            <a:r>
              <a:rPr lang="en-MY" dirty="0"/>
              <a:t>The difference between </a:t>
            </a:r>
            <a:r>
              <a:rPr lang="en-MY" b="1" dirty="0">
                <a:solidFill>
                  <a:srgbClr val="0070C0"/>
                </a:solidFill>
              </a:rPr>
              <a:t>single quote and double quotes </a:t>
            </a:r>
            <a:r>
              <a:rPr lang="en-MY" dirty="0"/>
              <a:t>is that it it easy to include apostrophes (example : Aileen</a:t>
            </a:r>
            <a:r>
              <a:rPr lang="en-MY" b="1" dirty="0">
                <a:solidFill>
                  <a:srgbClr val="0070C0"/>
                </a:solidFill>
              </a:rPr>
              <a:t>’</a:t>
            </a:r>
            <a:r>
              <a:rPr lang="en-MY" dirty="0"/>
              <a:t>s book) </a:t>
            </a:r>
          </a:p>
          <a:p>
            <a:r>
              <a:rPr lang="en-MY" dirty="0"/>
              <a:t>For </a:t>
            </a:r>
            <a:r>
              <a:rPr lang="en-MY" b="1" dirty="0">
                <a:solidFill>
                  <a:srgbClr val="0070C0"/>
                </a:solidFill>
              </a:rPr>
              <a:t>triple quotes, </a:t>
            </a:r>
            <a:r>
              <a:rPr lang="en-MY" dirty="0"/>
              <a:t>it allow strings to span multiple lines, including space, </a:t>
            </a:r>
            <a:r>
              <a:rPr lang="en-MY" dirty="0" err="1"/>
              <a:t>NEWLINEs</a:t>
            </a:r>
            <a:r>
              <a:rPr lang="en-MY" dirty="0"/>
              <a:t>, </a:t>
            </a:r>
            <a:r>
              <a:rPr lang="en-MY" dirty="0" err="1"/>
              <a:t>TABs</a:t>
            </a:r>
            <a:r>
              <a:rPr lang="en-MY" dirty="0"/>
              <a:t>, and any other special characters</a:t>
            </a:r>
          </a:p>
          <a:p>
            <a:r>
              <a:rPr lang="en-US" dirty="0"/>
              <a:t>Any variables created using input() method will be data type string. (To do arithmetic operation you need to convert/cast the variables)</a:t>
            </a:r>
            <a:endParaRPr lang="en-MY" dirty="0"/>
          </a:p>
          <a:p>
            <a:endParaRPr lang="en-MY" dirty="0"/>
          </a:p>
          <a:p>
            <a:endParaRPr lang="en-MY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209562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String(2)</a:t>
            </a:r>
            <a:endParaRPr lang="en-MY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352451"/>
              </p:ext>
            </p:extLst>
          </p:nvPr>
        </p:nvGraphicFramePr>
        <p:xfrm>
          <a:off x="699588" y="1568753"/>
          <a:ext cx="10654211" cy="4668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553467">
                  <a:extLst>
                    <a:ext uri="{9D8B030D-6E8A-4147-A177-3AD203B41FA5}">
                      <a16:colId xmlns:a16="http://schemas.microsoft.com/office/drawing/2014/main" val="675460293"/>
                    </a:ext>
                  </a:extLst>
                </a:gridCol>
                <a:gridCol w="4100744">
                  <a:extLst>
                    <a:ext uri="{9D8B030D-6E8A-4147-A177-3AD203B41FA5}">
                      <a16:colId xmlns:a16="http://schemas.microsoft.com/office/drawing/2014/main" val="2000159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017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31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50488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" y="2064565"/>
            <a:ext cx="3328851" cy="131210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63" y="2089480"/>
            <a:ext cx="1551139" cy="80483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32409"/>
            <a:ext cx="5682129" cy="85836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211123"/>
            <a:ext cx="5682129" cy="86549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003" y="4226487"/>
            <a:ext cx="358937" cy="47020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760" y="5453870"/>
            <a:ext cx="445180" cy="4464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9610" y="5393512"/>
            <a:ext cx="3991784" cy="5007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2962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String(3)</a:t>
            </a:r>
            <a:endParaRPr lang="en-MY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003316"/>
              </p:ext>
            </p:extLst>
          </p:nvPr>
        </p:nvGraphicFramePr>
        <p:xfrm>
          <a:off x="699588" y="1568753"/>
          <a:ext cx="10654211" cy="4577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936343">
                  <a:extLst>
                    <a:ext uri="{9D8B030D-6E8A-4147-A177-3AD203B41FA5}">
                      <a16:colId xmlns:a16="http://schemas.microsoft.com/office/drawing/2014/main" val="675460293"/>
                    </a:ext>
                  </a:extLst>
                </a:gridCol>
                <a:gridCol w="4717868">
                  <a:extLst>
                    <a:ext uri="{9D8B030D-6E8A-4147-A177-3AD203B41FA5}">
                      <a16:colId xmlns:a16="http://schemas.microsoft.com/office/drawing/2014/main" val="2000159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017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31627"/>
                  </a:ext>
                </a:extLst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32" y="2057336"/>
            <a:ext cx="5407532" cy="209019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4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94063" y="2124278"/>
            <a:ext cx="4559736" cy="136902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32" y="4539173"/>
            <a:ext cx="7290096" cy="60750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076" y="5295916"/>
            <a:ext cx="4163668" cy="700682"/>
          </a:xfrm>
          <a:prstGeom prst="rect">
            <a:avLst/>
          </a:prstGeom>
          <a:ln w="3175">
            <a:solidFill>
              <a:srgbClr val="E6E6E6"/>
            </a:solidFill>
          </a:ln>
        </p:spPr>
      </p:pic>
    </p:spTree>
    <p:extLst>
      <p:ext uri="{BB962C8B-B14F-4D97-AF65-F5344CB8AC3E}">
        <p14:creationId xmlns:p14="http://schemas.microsoft.com/office/powerpoint/2010/main" val="425835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None Value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The None keyword is used to define a null value, or no value at all.</a:t>
            </a:r>
          </a:p>
          <a:p>
            <a:r>
              <a:rPr lang="en-MY" dirty="0"/>
              <a:t>None is </a:t>
            </a:r>
            <a:r>
              <a:rPr lang="en-MY" b="1" dirty="0">
                <a:solidFill>
                  <a:srgbClr val="FF0000"/>
                </a:solidFill>
              </a:rPr>
              <a:t>not the same as 0, False</a:t>
            </a:r>
            <a:r>
              <a:rPr lang="en-MY" dirty="0"/>
              <a:t>, or an </a:t>
            </a:r>
            <a:r>
              <a:rPr lang="en-MY" b="1" dirty="0">
                <a:solidFill>
                  <a:srgbClr val="FF0000"/>
                </a:solidFill>
              </a:rPr>
              <a:t>empty string</a:t>
            </a:r>
            <a:r>
              <a:rPr lang="en-MY" dirty="0"/>
              <a:t>. </a:t>
            </a:r>
          </a:p>
          <a:p>
            <a:r>
              <a:rPr lang="en-MY" dirty="0"/>
              <a:t>None is a datatype of its own (</a:t>
            </a:r>
            <a:r>
              <a:rPr lang="en-MY" dirty="0" err="1"/>
              <a:t>NoneType</a:t>
            </a:r>
            <a:r>
              <a:rPr lang="en-MY" dirty="0"/>
              <a:t>)</a:t>
            </a:r>
          </a:p>
          <a:p>
            <a:pPr marL="457200" lvl="1" indent="0">
              <a:buNone/>
            </a:pPr>
            <a:r>
              <a:rPr lang="en-MY" dirty="0"/>
              <a:t>X = </a:t>
            </a:r>
            <a:r>
              <a:rPr lang="en-MY"/>
              <a:t>“” or X=null =&gt; X=None</a:t>
            </a:r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56" y="3808639"/>
            <a:ext cx="4981984" cy="157325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896" y="4756376"/>
            <a:ext cx="3987696" cy="62552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6265" y="4225936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35376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5564"/>
            <a:ext cx="10515600" cy="1325563"/>
          </a:xfrm>
        </p:spPr>
        <p:txBody>
          <a:bodyPr/>
          <a:lstStyle/>
          <a:p>
            <a:r>
              <a:rPr lang="en-US" dirty="0"/>
              <a:t>Boolean(1)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1766"/>
            <a:ext cx="10515600" cy="4351338"/>
          </a:xfrm>
        </p:spPr>
        <p:txBody>
          <a:bodyPr/>
          <a:lstStyle/>
          <a:p>
            <a:r>
              <a:rPr lang="en-MY" dirty="0"/>
              <a:t>Booleans represent one of two values: </a:t>
            </a:r>
            <a:r>
              <a:rPr lang="en-MY" b="1" dirty="0">
                <a:solidFill>
                  <a:srgbClr val="0070C0"/>
                </a:solidFill>
              </a:rPr>
              <a:t>True</a:t>
            </a:r>
            <a:r>
              <a:rPr lang="en-MY" dirty="0"/>
              <a:t> or </a:t>
            </a:r>
            <a:r>
              <a:rPr lang="en-MY" b="1" dirty="0">
                <a:solidFill>
                  <a:srgbClr val="0070C0"/>
                </a:solidFill>
              </a:rPr>
              <a:t>False.</a:t>
            </a:r>
          </a:p>
          <a:p>
            <a:r>
              <a:rPr lang="en-MY" dirty="0"/>
              <a:t>You can evaluate any expression in Python, and get one of two answers, True or False.</a:t>
            </a:r>
          </a:p>
          <a:p>
            <a:pPr lvl="1"/>
            <a:r>
              <a:rPr lang="en-MY" dirty="0"/>
              <a:t>When you compare two values, the expression is evaluated and Python returns the Boolean answer:</a:t>
            </a:r>
          </a:p>
          <a:p>
            <a:pPr lvl="2"/>
            <a:r>
              <a:rPr lang="en-US" dirty="0"/>
              <a:t>print( 10 &gt; 9 ) will return True</a:t>
            </a:r>
          </a:p>
          <a:p>
            <a:pPr lvl="2"/>
            <a:r>
              <a:rPr lang="en-US" dirty="0"/>
              <a:t>print(5&lt;1) will return False</a:t>
            </a:r>
            <a:endParaRPr lang="en-MY" dirty="0"/>
          </a:p>
          <a:p>
            <a:pPr lvl="1"/>
            <a:r>
              <a:rPr lang="en-MY" dirty="0"/>
              <a:t>When you run a condition in an if statement, Python returns True or False:</a:t>
            </a:r>
          </a:p>
          <a:p>
            <a:pPr lvl="1"/>
            <a:endParaRPr lang="en-MY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463" y="4613527"/>
            <a:ext cx="3369196" cy="181015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192" y="5783104"/>
            <a:ext cx="3984746" cy="52342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583680" y="5333940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20418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bool() </a:t>
            </a:r>
            <a:r>
              <a:rPr lang="en-US" dirty="0"/>
              <a:t>function(1)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5180"/>
            <a:ext cx="10515600" cy="4351338"/>
          </a:xfrm>
        </p:spPr>
        <p:txBody>
          <a:bodyPr/>
          <a:lstStyle/>
          <a:p>
            <a:r>
              <a:rPr lang="en-MY" dirty="0"/>
              <a:t>converts a value to Boolean (True or False) using the standard truth testing procedure.</a:t>
            </a:r>
          </a:p>
          <a:p>
            <a:r>
              <a:rPr lang="en-MY" dirty="0"/>
              <a:t>bool() takes a single parameter value.</a:t>
            </a:r>
          </a:p>
          <a:p>
            <a:r>
              <a:rPr lang="en-MY" dirty="0"/>
              <a:t>Return False if the value is omitted or false</a:t>
            </a:r>
          </a:p>
          <a:p>
            <a:r>
              <a:rPr lang="en-MY" dirty="0"/>
              <a:t>Return True if the value is true</a:t>
            </a:r>
          </a:p>
        </p:txBody>
      </p:sp>
    </p:spTree>
    <p:extLst>
      <p:ext uri="{BB962C8B-B14F-4D97-AF65-F5344CB8AC3E}">
        <p14:creationId xmlns:p14="http://schemas.microsoft.com/office/powerpoint/2010/main" val="167454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bool() </a:t>
            </a:r>
            <a:r>
              <a:rPr lang="en-US" dirty="0"/>
              <a:t>function(2)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/>
              <a:t>The following values are considered false in Python:</a:t>
            </a:r>
          </a:p>
          <a:p>
            <a:pPr lvl="1"/>
            <a:r>
              <a:rPr lang="en-MY" dirty="0"/>
              <a:t>None</a:t>
            </a:r>
          </a:p>
          <a:p>
            <a:pPr lvl="1"/>
            <a:r>
              <a:rPr lang="en-MY" dirty="0"/>
              <a:t>False</a:t>
            </a:r>
          </a:p>
          <a:p>
            <a:pPr lvl="1"/>
            <a:r>
              <a:rPr lang="en-MY" dirty="0"/>
              <a:t>Zero of any numeric type. For example, 0, 0.0, </a:t>
            </a:r>
            <a:r>
              <a:rPr lang="en-MY" dirty="0" err="1"/>
              <a:t>0j</a:t>
            </a:r>
            <a:endParaRPr lang="en-MY" dirty="0"/>
          </a:p>
          <a:p>
            <a:pPr lvl="1"/>
            <a:r>
              <a:rPr lang="en-MY" dirty="0"/>
              <a:t>Empty sequence. For example, (), [], ''.</a:t>
            </a:r>
          </a:p>
          <a:p>
            <a:pPr lvl="1"/>
            <a:r>
              <a:rPr lang="en-MY" dirty="0"/>
              <a:t>Empty mapping. For example, {}</a:t>
            </a:r>
          </a:p>
          <a:p>
            <a:pPr lvl="1"/>
            <a:r>
              <a:rPr lang="en-MY" dirty="0"/>
              <a:t>objects of Classes which has __bool__() or __</a:t>
            </a:r>
            <a:r>
              <a:rPr lang="en-MY" dirty="0" err="1"/>
              <a:t>len</a:t>
            </a:r>
            <a:r>
              <a:rPr lang="en-MY" dirty="0"/>
              <a:t>()__ method which returns 0 or False</a:t>
            </a:r>
          </a:p>
          <a:p>
            <a:r>
              <a:rPr lang="en-MY" dirty="0">
                <a:solidFill>
                  <a:schemeClr val="accent1">
                    <a:lumMod val="75000"/>
                  </a:schemeClr>
                </a:solidFill>
              </a:rPr>
              <a:t>All other values except these values are considered true.</a:t>
            </a:r>
          </a:p>
        </p:txBody>
      </p:sp>
    </p:spTree>
    <p:extLst>
      <p:ext uri="{BB962C8B-B14F-4D97-AF65-F5344CB8AC3E}">
        <p14:creationId xmlns:p14="http://schemas.microsoft.com/office/powerpoint/2010/main" val="3463335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bool()</a:t>
            </a:r>
            <a:r>
              <a:rPr lang="en-US" dirty="0"/>
              <a:t>function(3)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56" y="2893288"/>
            <a:ext cx="3210197" cy="256298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866" y="2893288"/>
            <a:ext cx="1649322" cy="283970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247866" y="2389019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360162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Comment(1)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Comments can be used to :</a:t>
            </a:r>
          </a:p>
          <a:p>
            <a:pPr lvl="1"/>
            <a:r>
              <a:rPr lang="en-MY" dirty="0"/>
              <a:t>explain Python code.</a:t>
            </a:r>
          </a:p>
          <a:p>
            <a:pPr lvl="1"/>
            <a:r>
              <a:rPr lang="en-MY" dirty="0"/>
              <a:t>make the code more readable.</a:t>
            </a:r>
          </a:p>
          <a:p>
            <a:pPr lvl="1"/>
            <a:r>
              <a:rPr lang="en-MY" dirty="0"/>
              <a:t>prevent execution when testing code</a:t>
            </a:r>
          </a:p>
          <a:p>
            <a:r>
              <a:rPr lang="en-MY" dirty="0"/>
              <a:t>Comments starts with a #</a:t>
            </a:r>
          </a:p>
          <a:p>
            <a:r>
              <a:rPr lang="en-MY" dirty="0"/>
              <a:t>Comments can be placed at the beginning or at the end of a line, and Python will ignore the rest of the line:</a:t>
            </a:r>
          </a:p>
          <a:p>
            <a:endParaRPr lang="en-MY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509" y="4876505"/>
            <a:ext cx="3243233" cy="111934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051" y="4876505"/>
            <a:ext cx="5193439" cy="7797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5700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Comment(2)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MY" dirty="0"/>
              <a:t>Multi Line Comments</a:t>
            </a:r>
          </a:p>
          <a:p>
            <a:pPr lvl="1"/>
            <a:r>
              <a:rPr lang="en-MY" dirty="0"/>
              <a:t>Python does not really have a syntax for multi line comments.</a:t>
            </a:r>
          </a:p>
          <a:p>
            <a:pPr lvl="1"/>
            <a:r>
              <a:rPr lang="en-MY" dirty="0"/>
              <a:t>To add a multiline comment you could insert a # for each line </a:t>
            </a:r>
          </a:p>
          <a:p>
            <a:pPr lvl="1"/>
            <a:r>
              <a:rPr lang="en-MY" dirty="0"/>
              <a:t>Or, not quite as intended, you can use a multiline string.</a:t>
            </a:r>
          </a:p>
          <a:p>
            <a:pPr lvl="1"/>
            <a:r>
              <a:rPr lang="en-MY" dirty="0"/>
              <a:t>Since Python will ignore string literals that are not assigned to a variable, you can add a multiline string (triple quotes) in your code, and place your comment inside it:</a:t>
            </a:r>
          </a:p>
          <a:p>
            <a:pPr lvl="1"/>
            <a:endParaRPr lang="en-MY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95" y="4610372"/>
            <a:ext cx="3522461" cy="170152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485" y="4295095"/>
            <a:ext cx="3308325" cy="216108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993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Casting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MY" dirty="0"/>
              <a:t>There may be times when you want to specify a type on to a variable. This can be done with casting. </a:t>
            </a:r>
          </a:p>
          <a:p>
            <a:r>
              <a:rPr lang="en-MY" dirty="0"/>
              <a:t>Python is an object-orientated language, and as such it uses classes to define data types, including its primitive types.</a:t>
            </a:r>
          </a:p>
          <a:p>
            <a:r>
              <a:rPr lang="en-MY" dirty="0"/>
              <a:t>Casting in python is therefore done using constructor functions:</a:t>
            </a:r>
          </a:p>
          <a:p>
            <a:pPr lvl="1"/>
            <a:r>
              <a:rPr lang="en-MY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MY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MY" dirty="0"/>
              <a:t>- constructs an integer number from an integer literal, a float literal (by rounding down to the previous whole number), or a string literal (providing the string represents a whole number)</a:t>
            </a:r>
          </a:p>
          <a:p>
            <a:pPr lvl="1"/>
            <a:r>
              <a:rPr lang="en-MY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float() </a:t>
            </a:r>
            <a:r>
              <a:rPr lang="en-MY" dirty="0"/>
              <a:t>- constructs a float number from an integer literal, a float literal or a string literal (providing the string represents a float or an integer)</a:t>
            </a:r>
          </a:p>
          <a:p>
            <a:pPr lvl="1"/>
            <a:r>
              <a:rPr lang="en-MY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MY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MY" dirty="0"/>
              <a:t>- constructs a string from a wide variety of data types, including strings, integer literals and float literals</a:t>
            </a:r>
          </a:p>
        </p:txBody>
      </p:sp>
    </p:spTree>
    <p:extLst>
      <p:ext uri="{BB962C8B-B14F-4D97-AF65-F5344CB8AC3E}">
        <p14:creationId xmlns:p14="http://schemas.microsoft.com/office/powerpoint/2010/main" val="4100552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Operators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/>
              <a:t>Operators are used to perform operations on variables and values.</a:t>
            </a:r>
          </a:p>
          <a:p>
            <a:r>
              <a:rPr lang="en-MY" dirty="0"/>
              <a:t>Python divides the operators in the following groups:</a:t>
            </a:r>
          </a:p>
          <a:p>
            <a:pPr lvl="1"/>
            <a:r>
              <a:rPr lang="en-MY" b="1" dirty="0">
                <a:solidFill>
                  <a:srgbClr val="0070C0"/>
                </a:solidFill>
              </a:rPr>
              <a:t>Arithmetic operators</a:t>
            </a:r>
          </a:p>
          <a:p>
            <a:pPr lvl="1"/>
            <a:r>
              <a:rPr lang="en-MY" b="1" dirty="0">
                <a:solidFill>
                  <a:srgbClr val="0070C0"/>
                </a:solidFill>
              </a:rPr>
              <a:t>Assignment operators</a:t>
            </a:r>
          </a:p>
          <a:p>
            <a:pPr lvl="1"/>
            <a:r>
              <a:rPr lang="en-MY" b="1" dirty="0">
                <a:solidFill>
                  <a:srgbClr val="0070C0"/>
                </a:solidFill>
              </a:rPr>
              <a:t>Comparison operators</a:t>
            </a:r>
          </a:p>
          <a:p>
            <a:pPr lvl="1"/>
            <a:r>
              <a:rPr lang="en-MY" b="1" dirty="0">
                <a:solidFill>
                  <a:srgbClr val="0070C0"/>
                </a:solidFill>
              </a:rPr>
              <a:t>Logical operators</a:t>
            </a:r>
          </a:p>
        </p:txBody>
      </p:sp>
    </p:spTree>
    <p:extLst>
      <p:ext uri="{BB962C8B-B14F-4D97-AF65-F5344CB8AC3E}">
        <p14:creationId xmlns:p14="http://schemas.microsoft.com/office/powerpoint/2010/main" val="1997373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Arithmetic operators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09654" y="1690688"/>
            <a:ext cx="9474509" cy="375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1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Assignment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3740"/>
            <a:ext cx="10515600" cy="4351338"/>
          </a:xfrm>
        </p:spPr>
        <p:txBody>
          <a:bodyPr/>
          <a:lstStyle/>
          <a:p>
            <a:r>
              <a:rPr lang="en-MY" dirty="0"/>
              <a:t>Assignment operators are used to assign values to variables: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643" y="2037398"/>
            <a:ext cx="5643886" cy="432421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6960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Comparison operators(1)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Comparison or relational operators are used to compare two values: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87" y="2597026"/>
            <a:ext cx="9452296" cy="23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06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Logical operators are used to combine conditional statements: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649" y="2403564"/>
            <a:ext cx="9699560" cy="262563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1553442" y="3175744"/>
              <a:ext cx="652680" cy="12603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4802" y="3168544"/>
                <a:ext cx="669600" cy="127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292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Conditional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Execution on program based on condition.</a:t>
            </a:r>
          </a:p>
          <a:p>
            <a:r>
              <a:rPr lang="en-US" dirty="0"/>
              <a:t>In python :</a:t>
            </a:r>
          </a:p>
          <a:p>
            <a:pPr lvl="1"/>
            <a:r>
              <a:rPr lang="en-US" dirty="0"/>
              <a:t>If</a:t>
            </a:r>
          </a:p>
          <a:p>
            <a:pPr lvl="1"/>
            <a:r>
              <a:rPr lang="en-US" dirty="0"/>
              <a:t>If.. Else</a:t>
            </a:r>
          </a:p>
          <a:p>
            <a:pPr lvl="1"/>
            <a:r>
              <a:rPr lang="en-US" dirty="0"/>
              <a:t>Nested if</a:t>
            </a:r>
          </a:p>
          <a:p>
            <a:pPr lvl="1"/>
            <a:r>
              <a:rPr lang="en-US" dirty="0" err="1"/>
              <a:t>elif</a:t>
            </a:r>
            <a:endParaRPr lang="en-MY" dirty="0"/>
          </a:p>
        </p:txBody>
      </p:sp>
      <p:sp>
        <p:nvSpPr>
          <p:cNvPr id="6" name="Rectangle 5"/>
          <p:cNvSpPr/>
          <p:nvPr/>
        </p:nvSpPr>
        <p:spPr>
          <a:xfrm>
            <a:off x="838200" y="4838002"/>
            <a:ext cx="87915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MY" sz="2800" b="1" dirty="0">
                <a:solidFill>
                  <a:srgbClr val="FF0000"/>
                </a:solidFill>
              </a:rPr>
              <a:t>Note that the indentation in Python is very important!</a:t>
            </a:r>
            <a:r>
              <a:rPr lang="en-MY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1251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757667"/>
              </p:ext>
            </p:extLst>
          </p:nvPr>
        </p:nvGraphicFramePr>
        <p:xfrm>
          <a:off x="768894" y="1553211"/>
          <a:ext cx="10654211" cy="4668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814786">
                  <a:extLst>
                    <a:ext uri="{9D8B030D-6E8A-4147-A177-3AD203B41FA5}">
                      <a16:colId xmlns:a16="http://schemas.microsoft.com/office/drawing/2014/main" val="675460293"/>
                    </a:ext>
                  </a:extLst>
                </a:gridCol>
                <a:gridCol w="4839425">
                  <a:extLst>
                    <a:ext uri="{9D8B030D-6E8A-4147-A177-3AD203B41FA5}">
                      <a16:colId xmlns:a16="http://schemas.microsoft.com/office/drawing/2014/main" val="2000159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Program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017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31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50488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75" y="2228497"/>
            <a:ext cx="5395600" cy="107912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75" y="3944916"/>
            <a:ext cx="5291620" cy="104509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49" y="5073326"/>
            <a:ext cx="6115050" cy="92392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265" y="2593184"/>
            <a:ext cx="445180" cy="4464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003" y="4226487"/>
            <a:ext cx="358937" cy="47020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7586" y="2235385"/>
            <a:ext cx="2570966" cy="80425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1721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314" y="4869786"/>
            <a:ext cx="3820241" cy="78930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If.. 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001486" y="4378280"/>
            <a:ext cx="10189028" cy="1306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25286" y="4519749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  <p:sp>
        <p:nvSpPr>
          <p:cNvPr id="11" name="TextBox 10"/>
          <p:cNvSpPr txBox="1"/>
          <p:nvPr/>
        </p:nvSpPr>
        <p:spPr>
          <a:xfrm>
            <a:off x="6161314" y="4500454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425" y="1911327"/>
            <a:ext cx="6283840" cy="194908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5" y="4909213"/>
            <a:ext cx="3265882" cy="89069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2820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The </a:t>
            </a:r>
            <a:r>
              <a:rPr lang="en-MY" dirty="0" err="1"/>
              <a:t>elif</a:t>
            </a:r>
            <a:r>
              <a:rPr lang="en-MY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This else-if scenario is supported in Python by the </a:t>
            </a:r>
            <a:r>
              <a:rPr lang="en-MY" dirty="0" err="1"/>
              <a:t>elif</a:t>
            </a:r>
            <a:r>
              <a:rPr lang="en-MY" dirty="0"/>
              <a:t> element of an if statement.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71" y="2824433"/>
            <a:ext cx="5339214" cy="335253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085" y="2824433"/>
            <a:ext cx="5039671" cy="82010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639" y="4208803"/>
            <a:ext cx="5156562" cy="86908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7" name="Straight Connector 6"/>
          <p:cNvCxnSpPr/>
          <p:nvPr/>
        </p:nvCxnSpPr>
        <p:spPr>
          <a:xfrm>
            <a:off x="6541902" y="2731933"/>
            <a:ext cx="13065" cy="344503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16639" y="2504830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  <p:sp>
        <p:nvSpPr>
          <p:cNvPr id="10" name="TextBox 9"/>
          <p:cNvSpPr txBox="1"/>
          <p:nvPr/>
        </p:nvSpPr>
        <p:spPr>
          <a:xfrm>
            <a:off x="6716638" y="3872970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95638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Nested if… else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7183" y="1027906"/>
            <a:ext cx="6411824" cy="102437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83" y="2665438"/>
            <a:ext cx="6411824" cy="9774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86" y="1820625"/>
            <a:ext cx="4604249" cy="286296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7183" y="4267399"/>
            <a:ext cx="6602799" cy="102078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10" name="Straight Connector 9"/>
          <p:cNvCxnSpPr/>
          <p:nvPr/>
        </p:nvCxnSpPr>
        <p:spPr>
          <a:xfrm>
            <a:off x="5094516" y="951901"/>
            <a:ext cx="0" cy="538189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27183" y="658574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  <p:sp>
        <p:nvSpPr>
          <p:cNvPr id="12" name="TextBox 11"/>
          <p:cNvSpPr txBox="1"/>
          <p:nvPr/>
        </p:nvSpPr>
        <p:spPr>
          <a:xfrm>
            <a:off x="5227183" y="2296367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  <p:sp>
        <p:nvSpPr>
          <p:cNvPr id="13" name="TextBox 12"/>
          <p:cNvSpPr txBox="1"/>
          <p:nvPr/>
        </p:nvSpPr>
        <p:spPr>
          <a:xfrm>
            <a:off x="5227183" y="3897726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/>
              <p14:cNvContentPartPr/>
              <p14:nvPr/>
            </p14:nvContentPartPr>
            <p14:xfrm>
              <a:off x="1023706" y="1219487"/>
              <a:ext cx="1433160" cy="52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5426" y="1211207"/>
                <a:ext cx="1449720" cy="6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38837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Looping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/>
              <a:t>Iteration(looping) repeats the execution of a sequence of code.</a:t>
            </a:r>
          </a:p>
          <a:p>
            <a:r>
              <a:rPr lang="en-MY" dirty="0"/>
              <a:t>Iteration is useful for solving many programming problems. Iteration and conditional execution form the basis for algorithm construction.\</a:t>
            </a:r>
          </a:p>
          <a:p>
            <a:r>
              <a:rPr lang="en-US" dirty="0"/>
              <a:t>Python has two primitive loop command which are:</a:t>
            </a:r>
          </a:p>
          <a:p>
            <a:pPr lvl="1"/>
            <a:r>
              <a:rPr lang="en-MY" dirty="0"/>
              <a:t>While Loop</a:t>
            </a:r>
          </a:p>
          <a:p>
            <a:pPr lvl="1"/>
            <a:r>
              <a:rPr lang="en-MY" dirty="0"/>
              <a:t>For Loop</a:t>
            </a:r>
            <a:endParaRPr lang="en-US" dirty="0"/>
          </a:p>
          <a:p>
            <a:r>
              <a:rPr lang="en-US" dirty="0"/>
              <a:t>Other statement that can be use in looping</a:t>
            </a:r>
            <a:endParaRPr lang="en-MY" dirty="0"/>
          </a:p>
          <a:p>
            <a:pPr lvl="1"/>
            <a:r>
              <a:rPr lang="en-MY" dirty="0"/>
              <a:t>Break - stop the loop even if the while condition is true</a:t>
            </a:r>
          </a:p>
          <a:p>
            <a:pPr lvl="1"/>
            <a:r>
              <a:rPr lang="en-MY" dirty="0"/>
              <a:t>Continue - stop the current iteration, and continue with the next</a:t>
            </a:r>
          </a:p>
        </p:txBody>
      </p:sp>
    </p:spTree>
    <p:extLst>
      <p:ext uri="{BB962C8B-B14F-4D97-AF65-F5344CB8AC3E}">
        <p14:creationId xmlns:p14="http://schemas.microsoft.com/office/powerpoint/2010/main" val="24917342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while statement(1)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With the while loop we can execute a set of statements as long as a condition is true.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75" y="4322809"/>
            <a:ext cx="6965567" cy="202501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912" y="5119389"/>
            <a:ext cx="4051662" cy="119251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75" y="3241244"/>
            <a:ext cx="5504396" cy="91070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760875" y="4797448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  <p:sp>
        <p:nvSpPr>
          <p:cNvPr id="9" name="TextBox 8"/>
          <p:cNvSpPr txBox="1"/>
          <p:nvPr/>
        </p:nvSpPr>
        <p:spPr>
          <a:xfrm>
            <a:off x="314375" y="2885716"/>
            <a:ext cx="961866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Syntax :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9031801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for loop(1)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A for loop is used for iterating over a sequence (that is either a list, a tuple, a dictionary, a set, or a string).</a:t>
            </a:r>
          </a:p>
          <a:p>
            <a:r>
              <a:rPr lang="en-MY" dirty="0"/>
              <a:t>To loop through a set of code a specified number of times, we can use the range() function,</a:t>
            </a:r>
          </a:p>
          <a:p>
            <a:r>
              <a:rPr lang="en-MY" dirty="0"/>
              <a:t>The range() function returns a sequence of numbers, starting from 0 by default, and increments by 1 (by default), and ends at a specified number.</a:t>
            </a:r>
          </a:p>
          <a:p>
            <a:r>
              <a:rPr lang="en-US" dirty="0"/>
              <a:t>Syntax :</a:t>
            </a:r>
          </a:p>
          <a:p>
            <a:endParaRPr lang="en-MY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800" y="4944700"/>
            <a:ext cx="3318793" cy="106675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01752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for loop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Compared to C++, Python for loop has a bit difference in syntax</a:t>
            </a:r>
            <a:endParaRPr lang="en-MY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83" y="2826866"/>
            <a:ext cx="3887668" cy="134849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552" y="2826866"/>
            <a:ext cx="4879386" cy="81589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125583" y="2503112"/>
            <a:ext cx="708912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C++ : </a:t>
            </a:r>
            <a:endParaRPr lang="en-MY" dirty="0"/>
          </a:p>
        </p:txBody>
      </p:sp>
      <p:sp>
        <p:nvSpPr>
          <p:cNvPr id="10" name="TextBox 9"/>
          <p:cNvSpPr txBox="1"/>
          <p:nvPr/>
        </p:nvSpPr>
        <p:spPr>
          <a:xfrm>
            <a:off x="5789552" y="2457534"/>
            <a:ext cx="1021433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python :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69201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844" y="81287"/>
            <a:ext cx="10515600" cy="1325563"/>
          </a:xfrm>
        </p:spPr>
        <p:txBody>
          <a:bodyPr/>
          <a:lstStyle/>
          <a:p>
            <a:r>
              <a:rPr lang="en-MY" dirty="0"/>
              <a:t>for loop(2)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843" y="3286364"/>
            <a:ext cx="4598983" cy="143433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44" y="1720106"/>
            <a:ext cx="5054858" cy="98288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43" y="5324730"/>
            <a:ext cx="3614767" cy="100906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917" y="3369349"/>
            <a:ext cx="6482760" cy="126836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1137" y="5324730"/>
            <a:ext cx="5987092" cy="105729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366626" y="1350773"/>
            <a:ext cx="961866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Syntax : </a:t>
            </a:r>
            <a:endParaRPr lang="en-MY" dirty="0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5198904" y="3154441"/>
            <a:ext cx="13061" cy="316092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8021" y="4920469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  <p:sp>
        <p:nvSpPr>
          <p:cNvPr id="15" name="TextBox 14"/>
          <p:cNvSpPr txBox="1"/>
          <p:nvPr/>
        </p:nvSpPr>
        <p:spPr>
          <a:xfrm>
            <a:off x="5386917" y="4920469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  <p:sp>
        <p:nvSpPr>
          <p:cNvPr id="16" name="TextBox 15"/>
          <p:cNvSpPr txBox="1"/>
          <p:nvPr/>
        </p:nvSpPr>
        <p:spPr>
          <a:xfrm>
            <a:off x="460843" y="2882103"/>
            <a:ext cx="1944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INCREMENT BY 1 : </a:t>
            </a:r>
            <a:endParaRPr lang="en-MY" dirty="0"/>
          </a:p>
        </p:txBody>
      </p:sp>
      <p:sp>
        <p:nvSpPr>
          <p:cNvPr id="17" name="TextBox 16"/>
          <p:cNvSpPr txBox="1"/>
          <p:nvPr/>
        </p:nvSpPr>
        <p:spPr>
          <a:xfrm>
            <a:off x="5211965" y="2958960"/>
            <a:ext cx="1944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INCREMENT BY 2 :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576756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break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The break statement, when executed, will terminate the current loop and jump the program to the first line after the loop.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" y="3144474"/>
            <a:ext cx="2722070" cy="2002292"/>
          </a:xfrm>
          <a:prstGeom prst="rect">
            <a:avLst/>
          </a:prstGeom>
          <a:ln w="3175"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306" y="3902098"/>
            <a:ext cx="1261791" cy="126179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7306" y="3532766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98996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Continue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dirty="0"/>
              <a:t>The continue statement skip over part of a loop’s iteration for a particular value, but then to continue with the remaining values in the sequence.</a:t>
            </a:r>
          </a:p>
          <a:p>
            <a:pPr marL="0" indent="0">
              <a:buNone/>
            </a:pPr>
            <a:endParaRPr lang="en-MY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99" y="3263106"/>
            <a:ext cx="2485140" cy="202735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992" y="3701823"/>
            <a:ext cx="1052785" cy="153478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11992" y="3332491"/>
            <a:ext cx="10246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 :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531330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7638</TotalTime>
  <Words>1340</Words>
  <Application>Microsoft Office PowerPoint</Application>
  <PresentationFormat>Widescreen</PresentationFormat>
  <Paragraphs>238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Office Theme</vt:lpstr>
      <vt:lpstr>PYTHON PROGRAM ELEMENT</vt:lpstr>
      <vt:lpstr>LEARNING OUTCOMES</vt:lpstr>
      <vt:lpstr>Python Syntax</vt:lpstr>
      <vt:lpstr>Variable(1)</vt:lpstr>
      <vt:lpstr>Variable(1)</vt:lpstr>
      <vt:lpstr>Variable Name (1) </vt:lpstr>
      <vt:lpstr>Variable Name (2) </vt:lpstr>
      <vt:lpstr>Reserve Word</vt:lpstr>
      <vt:lpstr>Question 1: Identify whether the following variables is valid or not.</vt:lpstr>
      <vt:lpstr>Data Type</vt:lpstr>
      <vt:lpstr>Numbers &amp; Floating Point</vt:lpstr>
      <vt:lpstr>String(1)</vt:lpstr>
      <vt:lpstr>String(2)</vt:lpstr>
      <vt:lpstr>String(3)</vt:lpstr>
      <vt:lpstr>None Value</vt:lpstr>
      <vt:lpstr>Boolean(1)</vt:lpstr>
      <vt:lpstr>The bool() function(1)</vt:lpstr>
      <vt:lpstr>The bool() function(2)</vt:lpstr>
      <vt:lpstr>The bool()function(3)</vt:lpstr>
      <vt:lpstr>Python Comment(1)</vt:lpstr>
      <vt:lpstr>Python Comment(2)</vt:lpstr>
      <vt:lpstr>Python Casting</vt:lpstr>
      <vt:lpstr>Python Operators</vt:lpstr>
      <vt:lpstr>Arithmetic operators</vt:lpstr>
      <vt:lpstr>Assignment operators</vt:lpstr>
      <vt:lpstr>Comparison operators(1)</vt:lpstr>
      <vt:lpstr>Logical operators</vt:lpstr>
      <vt:lpstr>Conditional Statement</vt:lpstr>
      <vt:lpstr>If statement</vt:lpstr>
      <vt:lpstr>If.. Else statement</vt:lpstr>
      <vt:lpstr>The elif statement</vt:lpstr>
      <vt:lpstr>Nested if… else</vt:lpstr>
      <vt:lpstr>Looping</vt:lpstr>
      <vt:lpstr>while statement(1)</vt:lpstr>
      <vt:lpstr>for loop(1)</vt:lpstr>
      <vt:lpstr>for loop</vt:lpstr>
      <vt:lpstr>for loop(2)</vt:lpstr>
      <vt:lpstr>break statement</vt:lpstr>
      <vt:lpstr>Continue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JTMK-Liyana</dc:creator>
  <cp:lastModifiedBy>Lenovo</cp:lastModifiedBy>
  <cp:revision>312</cp:revision>
  <dcterms:created xsi:type="dcterms:W3CDTF">2020-06-10T05:44:37Z</dcterms:created>
  <dcterms:modified xsi:type="dcterms:W3CDTF">2023-02-11T21:27:48Z</dcterms:modified>
</cp:coreProperties>
</file>