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9" r:id="rId1"/>
  </p:sldMasterIdLst>
  <p:notesMasterIdLst>
    <p:notesMasterId r:id="rId15"/>
  </p:notesMasterIdLst>
  <p:sldIdLst>
    <p:sldId id="256" r:id="rId2"/>
    <p:sldId id="261" r:id="rId3"/>
    <p:sldId id="257" r:id="rId4"/>
    <p:sldId id="258" r:id="rId5"/>
    <p:sldId id="259" r:id="rId6"/>
    <p:sldId id="262" r:id="rId7"/>
    <p:sldId id="260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5325D9-1418-48EF-B6BC-962E49D5FD17}" type="datetimeFigureOut">
              <a:rPr lang="en-MY" smtClean="0"/>
              <a:t>12/2/2023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BC6E1F-8B64-4BCE-9747-8F12B3858F9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43125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2630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261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7215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2/12/2023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106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2/12/2023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984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2/12/2023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88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2/12/2023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748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0DF5E60-9974-AC48-9591-99C2BB44B7CF}" type="datetimeFigureOut">
              <a:rPr lang="en-US" smtClean="0"/>
              <a:pPr/>
              <a:t>2/12/2023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580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smtClean="0"/>
              <a:pPr/>
              <a:t>2/12/2023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534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563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06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786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solidFill>
            <a:schemeClr val="accent6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MY" sz="6000" dirty="0" smtClean="0">
                <a:latin typeface="Berlin Sans FB Demi" panose="020E0802020502020306" pitchFamily="34" charset="0"/>
              </a:rPr>
              <a:t>Topic 2:</a:t>
            </a:r>
            <a:br>
              <a:rPr lang="en-MY" sz="6000" dirty="0" smtClean="0">
                <a:latin typeface="Berlin Sans FB Demi" panose="020E0802020502020306" pitchFamily="34" charset="0"/>
              </a:rPr>
            </a:br>
            <a:r>
              <a:rPr lang="en-MY" sz="6000" dirty="0" smtClean="0">
                <a:latin typeface="Berlin Sans FB Demi" panose="020E0802020502020306" pitchFamily="34" charset="0"/>
              </a:rPr>
              <a:t>Python </a:t>
            </a:r>
            <a:r>
              <a:rPr lang="en-MY" sz="6000" dirty="0">
                <a:latin typeface="Berlin Sans FB Demi" panose="020E0802020502020306" pitchFamily="34" charset="0"/>
              </a:rPr>
              <a:t>P</a:t>
            </a:r>
            <a:r>
              <a:rPr lang="en-MY" sz="6000" dirty="0" smtClean="0">
                <a:latin typeface="Berlin Sans FB Demi" panose="020E0802020502020306" pitchFamily="34" charset="0"/>
              </a:rPr>
              <a:t>rogram Elements</a:t>
            </a:r>
            <a:endParaRPr lang="en-MY" sz="6000" dirty="0">
              <a:latin typeface="Berlin Sans FB Demi" panose="020E0802020502020306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MY" dirty="0" smtClean="0"/>
              <a:t>Part 1: Explain Variable and data types in Python</a:t>
            </a:r>
            <a:endParaRPr lang="en-MY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48" t="10524" r="5743" b="15793"/>
          <a:stretch>
            <a:fillRect/>
          </a:stretch>
        </p:blipFill>
        <p:spPr bwMode="auto">
          <a:xfrm>
            <a:off x="0" y="6096000"/>
            <a:ext cx="2447925" cy="74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8742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Variables are containers for storing data values.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Variable can be string, integer, float.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A </a:t>
            </a:r>
            <a:r>
              <a:rPr lang="en-US" dirty="0"/>
              <a:t>variable can have a short name (like x and y) or a more descriptive name (age, </a:t>
            </a:r>
            <a:r>
              <a:rPr lang="en-US" dirty="0" err="1"/>
              <a:t>carname</a:t>
            </a:r>
            <a:r>
              <a:rPr lang="en-US" dirty="0"/>
              <a:t>, </a:t>
            </a:r>
            <a:r>
              <a:rPr lang="en-US" dirty="0" err="1"/>
              <a:t>total_volume</a:t>
            </a:r>
            <a:r>
              <a:rPr lang="en-US" dirty="0"/>
              <a:t>). Rules for Python </a:t>
            </a:r>
            <a:r>
              <a:rPr lang="en-US" dirty="0" err="1"/>
              <a:t>variables:A</a:t>
            </a:r>
            <a:r>
              <a:rPr lang="en-US" dirty="0"/>
              <a:t> variable name must start with a letter or the underscore character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 variable name cannot start with a number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 variable name can only contain alpha-numeric characters and underscores (A-z, 0-9, and _ 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Variable names are case-sensitive (age, Age and AGE are three different variables)</a:t>
            </a:r>
          </a:p>
          <a:p>
            <a:endParaRPr lang="en-MY" dirty="0"/>
          </a:p>
        </p:txBody>
      </p:sp>
      <p:sp>
        <p:nvSpPr>
          <p:cNvPr id="4" name="Text Box 1"/>
          <p:cNvSpPr txBox="1">
            <a:spLocks noChangeArrowheads="1"/>
          </p:cNvSpPr>
          <p:nvPr/>
        </p:nvSpPr>
        <p:spPr bwMode="auto">
          <a:xfrm>
            <a:off x="0" y="0"/>
            <a:ext cx="12192000" cy="11430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37931725" indent="-37474525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MY" sz="4400" dirty="0"/>
              <a:t>Variable Names</a:t>
            </a:r>
            <a:endParaRPr lang="en-US" altLang="en-US" sz="4400" b="1" dirty="0">
              <a:solidFill>
                <a:srgbClr val="FFFFFF"/>
              </a:solidFill>
              <a:latin typeface="Tahoma" panose="020B0604030504040204" pitchFamily="34" charset="0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48" t="10524" r="5743" b="15793"/>
          <a:stretch>
            <a:fillRect/>
          </a:stretch>
        </p:blipFill>
        <p:spPr bwMode="auto">
          <a:xfrm>
            <a:off x="0" y="6096000"/>
            <a:ext cx="2447925" cy="74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9985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0000" y="1860337"/>
            <a:ext cx="10554574" cy="478335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Python </a:t>
            </a:r>
            <a:r>
              <a:rPr lang="en-US" dirty="0"/>
              <a:t>has no command for declaring a </a:t>
            </a:r>
            <a:r>
              <a:rPr lang="en-US" dirty="0" smtClean="0"/>
              <a:t>variable. Example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Variables do not need to be declared with any particular type, and can even change type after they have been </a:t>
            </a:r>
            <a:r>
              <a:rPr lang="en-US" dirty="0" smtClean="0"/>
              <a:t>set. Example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MY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7856" t="33466"/>
          <a:stretch/>
        </p:blipFill>
        <p:spPr>
          <a:xfrm>
            <a:off x="962400" y="2240298"/>
            <a:ext cx="1418850" cy="11696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4935" t="35919" b="7289"/>
          <a:stretch/>
        </p:blipFill>
        <p:spPr>
          <a:xfrm>
            <a:off x="962400" y="4568476"/>
            <a:ext cx="2834196" cy="879824"/>
          </a:xfrm>
          <a:prstGeom prst="rect">
            <a:avLst/>
          </a:prstGeom>
        </p:spPr>
      </p:pic>
      <p:sp>
        <p:nvSpPr>
          <p:cNvPr id="6" name="Text Box 1"/>
          <p:cNvSpPr txBox="1">
            <a:spLocks noChangeArrowheads="1"/>
          </p:cNvSpPr>
          <p:nvPr/>
        </p:nvSpPr>
        <p:spPr bwMode="auto">
          <a:xfrm>
            <a:off x="0" y="0"/>
            <a:ext cx="12192000" cy="11430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37931725" indent="-37474525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sz="4400" dirty="0"/>
              <a:t>Variables</a:t>
            </a:r>
            <a:endParaRPr lang="en-US" altLang="en-US" sz="4400" b="1" dirty="0">
              <a:solidFill>
                <a:srgbClr val="FFFFFF"/>
              </a:solidFill>
              <a:latin typeface="Tahoma" panose="020B0604030504040204" pitchFamily="34" charset="0"/>
            </a:endParaRP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48" t="10524" r="5743" b="15793"/>
          <a:stretch>
            <a:fillRect/>
          </a:stretch>
        </p:blipFill>
        <p:spPr bwMode="auto">
          <a:xfrm>
            <a:off x="0" y="6096000"/>
            <a:ext cx="2447925" cy="74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6511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57374"/>
            <a:ext cx="10058400" cy="4011719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String variables can be declared either by using single or double </a:t>
            </a:r>
            <a:r>
              <a:rPr lang="en-US" dirty="0" smtClean="0"/>
              <a:t>quotes</a:t>
            </a:r>
          </a:p>
          <a:p>
            <a:endParaRPr lang="en-US" dirty="0" smtClean="0"/>
          </a:p>
          <a:p>
            <a:endParaRPr lang="en-MY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357437"/>
            <a:ext cx="4331970" cy="1471613"/>
          </a:xfrm>
          <a:prstGeom prst="rect">
            <a:avLst/>
          </a:prstGeom>
        </p:spPr>
      </p:pic>
      <p:sp>
        <p:nvSpPr>
          <p:cNvPr id="6" name="Text Box 1"/>
          <p:cNvSpPr txBox="1">
            <a:spLocks noChangeArrowheads="1"/>
          </p:cNvSpPr>
          <p:nvPr/>
        </p:nvSpPr>
        <p:spPr bwMode="auto">
          <a:xfrm>
            <a:off x="0" y="0"/>
            <a:ext cx="12192000" cy="11430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37931725" indent="-37474525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MY" sz="4400" dirty="0"/>
              <a:t>Single or Double Quotes</a:t>
            </a:r>
            <a:endParaRPr lang="en-US" altLang="en-US" sz="4400" b="1" dirty="0">
              <a:solidFill>
                <a:srgbClr val="FFFFFF"/>
              </a:solidFill>
              <a:latin typeface="Tahoma" panose="020B0604030504040204" pitchFamily="34" charset="0"/>
            </a:endParaRP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48" t="10524" r="5743" b="15793"/>
          <a:stretch>
            <a:fillRect/>
          </a:stretch>
        </p:blipFill>
        <p:spPr bwMode="auto">
          <a:xfrm>
            <a:off x="0" y="6096000"/>
            <a:ext cx="2447925" cy="74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5211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MY" dirty="0"/>
              <a:t>Variable names are </a:t>
            </a:r>
            <a:r>
              <a:rPr lang="en-MY" dirty="0" smtClean="0"/>
              <a:t>case-sensitive.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This will create two variables</a:t>
            </a:r>
            <a:endParaRPr lang="en-MY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MY" dirty="0" smtClean="0"/>
              <a:t>Example.</a:t>
            </a:r>
          </a:p>
          <a:p>
            <a:endParaRPr lang="en-MY" dirty="0" smtClean="0"/>
          </a:p>
          <a:p>
            <a:endParaRPr lang="en-MY" dirty="0"/>
          </a:p>
          <a:p>
            <a:endParaRPr lang="en-MY" dirty="0" smtClean="0"/>
          </a:p>
          <a:p>
            <a:endParaRPr lang="en-MY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133724"/>
            <a:ext cx="1950720" cy="1362075"/>
          </a:xfrm>
          <a:prstGeom prst="rect">
            <a:avLst/>
          </a:prstGeom>
        </p:spPr>
      </p:pic>
      <p:sp>
        <p:nvSpPr>
          <p:cNvPr id="5" name="Text Box 1"/>
          <p:cNvSpPr txBox="1">
            <a:spLocks noChangeArrowheads="1"/>
          </p:cNvSpPr>
          <p:nvPr/>
        </p:nvSpPr>
        <p:spPr bwMode="auto">
          <a:xfrm>
            <a:off x="0" y="58739"/>
            <a:ext cx="12192000" cy="11430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37931725" indent="-37474525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MY" sz="4400" dirty="0"/>
              <a:t>Case-Sensitive</a:t>
            </a:r>
            <a:endParaRPr lang="en-US" altLang="en-US" sz="4400" b="1" dirty="0">
              <a:solidFill>
                <a:srgbClr val="FFFFFF"/>
              </a:solidFill>
              <a:latin typeface="Tahoma" panose="020B0604030504040204" pitchFamily="34" charset="0"/>
            </a:endParaRP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48" t="10524" r="5743" b="15793"/>
          <a:stretch>
            <a:fillRect/>
          </a:stretch>
        </p:blipFill>
        <p:spPr bwMode="auto">
          <a:xfrm>
            <a:off x="0" y="6096000"/>
            <a:ext cx="2447925" cy="74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4090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 smtClean="0"/>
              <a:t>Example</a:t>
            </a:r>
            <a:endParaRPr lang="en-MY" dirty="0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421520"/>
            <a:ext cx="1855470" cy="2871787"/>
          </a:xfrm>
          <a:prstGeom prst="rect">
            <a:avLst/>
          </a:prstGeom>
        </p:spPr>
      </p:pic>
      <p:sp>
        <p:nvSpPr>
          <p:cNvPr id="5" name="Text Box 1"/>
          <p:cNvSpPr txBox="1">
            <a:spLocks noChangeArrowheads="1"/>
          </p:cNvSpPr>
          <p:nvPr/>
        </p:nvSpPr>
        <p:spPr bwMode="auto">
          <a:xfrm>
            <a:off x="0" y="0"/>
            <a:ext cx="12192000" cy="11430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37931725" indent="-37474525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MY" sz="4400" dirty="0"/>
              <a:t>Legal variable names</a:t>
            </a:r>
            <a:r>
              <a:rPr lang="en-MY" sz="4400" dirty="0" smtClean="0"/>
              <a:t>:</a:t>
            </a:r>
            <a:endParaRPr lang="en-US" altLang="en-US" sz="4400" b="1" dirty="0">
              <a:solidFill>
                <a:srgbClr val="FFFFFF"/>
              </a:solidFill>
              <a:latin typeface="Tahoma" panose="020B0604030504040204" pitchFamily="34" charset="0"/>
            </a:endParaRP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48" t="10524" r="5743" b="15793"/>
          <a:stretch>
            <a:fillRect/>
          </a:stretch>
        </p:blipFill>
        <p:spPr bwMode="auto">
          <a:xfrm>
            <a:off x="0" y="6096000"/>
            <a:ext cx="2447925" cy="74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5406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MY" dirty="0" smtClean="0"/>
              <a:t>Example </a:t>
            </a:r>
          </a:p>
          <a:p>
            <a:endParaRPr lang="en-MY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528887"/>
            <a:ext cx="1893570" cy="1204913"/>
          </a:xfrm>
          <a:prstGeom prst="rect">
            <a:avLst/>
          </a:prstGeom>
        </p:spPr>
      </p:pic>
      <p:sp>
        <p:nvSpPr>
          <p:cNvPr id="7" name="Text Box 1"/>
          <p:cNvSpPr txBox="1">
            <a:spLocks noChangeArrowheads="1"/>
          </p:cNvSpPr>
          <p:nvPr/>
        </p:nvSpPr>
        <p:spPr bwMode="auto">
          <a:xfrm>
            <a:off x="30480" y="0"/>
            <a:ext cx="12192000" cy="11430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37931725" indent="-37474525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MY" sz="4400" dirty="0"/>
              <a:t>Illegal variable </a:t>
            </a:r>
            <a:r>
              <a:rPr lang="en-MY" sz="4400" dirty="0" smtClean="0"/>
              <a:t>names (NOT USE):</a:t>
            </a:r>
            <a:endParaRPr lang="en-US" altLang="en-US" sz="4400" b="1" dirty="0">
              <a:solidFill>
                <a:srgbClr val="FFFFFF"/>
              </a:solidFill>
              <a:latin typeface="Tahoma" panose="020B0604030504040204" pitchFamily="34" charset="0"/>
            </a:endParaRP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48" t="10524" r="5743" b="15793"/>
          <a:stretch>
            <a:fillRect/>
          </a:stretch>
        </p:blipFill>
        <p:spPr bwMode="auto">
          <a:xfrm>
            <a:off x="0" y="6096000"/>
            <a:ext cx="2447925" cy="74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252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Python allows you to assign values to multiple variables in one </a:t>
            </a:r>
            <a:r>
              <a:rPr lang="en-US" dirty="0" smtClean="0"/>
              <a:t>line</a:t>
            </a:r>
          </a:p>
          <a:p>
            <a:r>
              <a:rPr lang="en-US" dirty="0" smtClean="0"/>
              <a:t>Example</a:t>
            </a:r>
          </a:p>
          <a:p>
            <a:endParaRPr lang="en-MY" dirty="0" smtClean="0"/>
          </a:p>
          <a:p>
            <a:endParaRPr lang="en-MY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952539"/>
            <a:ext cx="3836670" cy="1276561"/>
          </a:xfrm>
          <a:prstGeom prst="rect">
            <a:avLst/>
          </a:prstGeom>
        </p:spPr>
      </p:pic>
      <p:sp>
        <p:nvSpPr>
          <p:cNvPr id="5" name="Text Box 1"/>
          <p:cNvSpPr txBox="1">
            <a:spLocks noChangeArrowheads="1"/>
          </p:cNvSpPr>
          <p:nvPr/>
        </p:nvSpPr>
        <p:spPr bwMode="auto">
          <a:xfrm>
            <a:off x="0" y="0"/>
            <a:ext cx="12192000" cy="11430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37931725" indent="-37474525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sz="4400" dirty="0"/>
              <a:t>Many Values to Multiple Variables</a:t>
            </a:r>
            <a:endParaRPr lang="en-US" altLang="en-US" sz="4400" b="1" dirty="0">
              <a:solidFill>
                <a:srgbClr val="FFFFFF"/>
              </a:solidFill>
              <a:latin typeface="Tahoma" panose="020B0604030504040204" pitchFamily="34" charset="0"/>
            </a:endParaRP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48" t="10524" r="5743" b="15793"/>
          <a:stretch>
            <a:fillRect/>
          </a:stretch>
        </p:blipFill>
        <p:spPr bwMode="auto">
          <a:xfrm>
            <a:off x="0" y="6096000"/>
            <a:ext cx="2447925" cy="74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5884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assign the </a:t>
            </a:r>
            <a:r>
              <a:rPr lang="en-US" i="1" dirty="0"/>
              <a:t>same</a:t>
            </a:r>
            <a:r>
              <a:rPr lang="en-US" dirty="0"/>
              <a:t> value to multiple variables in one line</a:t>
            </a:r>
            <a:r>
              <a:rPr lang="en-MY" dirty="0" smtClean="0"/>
              <a:t>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MY" dirty="0" smtClean="0"/>
              <a:t>Example</a:t>
            </a:r>
            <a:endParaRPr lang="en-MY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752724"/>
            <a:ext cx="2465070" cy="1781175"/>
          </a:xfrm>
          <a:prstGeom prst="rect">
            <a:avLst/>
          </a:prstGeom>
        </p:spPr>
      </p:pic>
      <p:sp>
        <p:nvSpPr>
          <p:cNvPr id="5" name="Text Box 1"/>
          <p:cNvSpPr txBox="1">
            <a:spLocks noChangeArrowheads="1"/>
          </p:cNvSpPr>
          <p:nvPr/>
        </p:nvSpPr>
        <p:spPr bwMode="auto">
          <a:xfrm>
            <a:off x="30480" y="0"/>
            <a:ext cx="12192000" cy="11430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37931725" indent="-37474525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sz="4400" dirty="0"/>
              <a:t>One Value to Multiple Variables</a:t>
            </a:r>
            <a:endParaRPr lang="en-US" altLang="en-US" sz="4400" b="1" dirty="0">
              <a:solidFill>
                <a:srgbClr val="FFFFFF"/>
              </a:solidFill>
              <a:latin typeface="Tahoma" panose="020B0604030504040204" pitchFamily="34" charset="0"/>
            </a:endParaRP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48" t="10524" r="5743" b="15793"/>
          <a:stretch>
            <a:fillRect/>
          </a:stretch>
        </p:blipFill>
        <p:spPr bwMode="auto">
          <a:xfrm>
            <a:off x="0" y="6096000"/>
            <a:ext cx="2447925" cy="74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1325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 collection of values in a list, tuple etc. Python allows you extract the values into variables. This is called </a:t>
            </a:r>
            <a:r>
              <a:rPr lang="en-US" i="1" dirty="0"/>
              <a:t>unpacking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MY" dirty="0"/>
              <a:t> </a:t>
            </a:r>
            <a:r>
              <a:rPr lang="en-MY" dirty="0" smtClean="0"/>
              <a:t>Example of unpack </a:t>
            </a:r>
            <a:r>
              <a:rPr lang="en-MY" dirty="0"/>
              <a:t>a list</a:t>
            </a:r>
            <a:endParaRPr lang="en-MY" dirty="0" smtClean="0"/>
          </a:p>
          <a:p>
            <a:endParaRPr lang="en-MY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138487"/>
            <a:ext cx="5360670" cy="2024063"/>
          </a:xfrm>
          <a:prstGeom prst="rect">
            <a:avLst/>
          </a:prstGeom>
        </p:spPr>
      </p:pic>
      <p:sp>
        <p:nvSpPr>
          <p:cNvPr id="5" name="Text Box 1"/>
          <p:cNvSpPr txBox="1">
            <a:spLocks noChangeArrowheads="1"/>
          </p:cNvSpPr>
          <p:nvPr/>
        </p:nvSpPr>
        <p:spPr bwMode="auto">
          <a:xfrm>
            <a:off x="0" y="56358"/>
            <a:ext cx="12192000" cy="11430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37931725" indent="-37474525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MY" sz="4400" dirty="0"/>
              <a:t>Unpack a Collection</a:t>
            </a:r>
            <a:endParaRPr lang="en-US" altLang="en-US" sz="4400" b="1" dirty="0">
              <a:solidFill>
                <a:srgbClr val="FFFFFF"/>
              </a:solidFill>
              <a:latin typeface="Tahoma" panose="020B0604030504040204" pitchFamily="34" charset="0"/>
            </a:endParaRP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48" t="10524" r="5743" b="15793"/>
          <a:stretch>
            <a:fillRect/>
          </a:stretch>
        </p:blipFill>
        <p:spPr bwMode="auto">
          <a:xfrm>
            <a:off x="0" y="6096000"/>
            <a:ext cx="2447925" cy="74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40544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593166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The </a:t>
            </a:r>
            <a:r>
              <a:rPr lang="en-US" dirty="0"/>
              <a:t>Python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print</a:t>
            </a:r>
            <a:r>
              <a:rPr lang="en-US" dirty="0"/>
              <a:t> statement is often used to output </a:t>
            </a:r>
            <a:r>
              <a:rPr lang="en-US" dirty="0" smtClean="0"/>
              <a:t>variables.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To combine both text and a variable, Python uses the</a:t>
            </a:r>
            <a:r>
              <a:rPr lang="en-US" dirty="0">
                <a:solidFill>
                  <a:srgbClr val="FF0000"/>
                </a:solidFill>
              </a:rPr>
              <a:t> + </a:t>
            </a:r>
            <a:r>
              <a:rPr lang="en-US" dirty="0" smtClean="0"/>
              <a:t>character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use the + character to add a variable to another variable</a:t>
            </a:r>
            <a:endParaRPr lang="en-MY" dirty="0"/>
          </a:p>
          <a:p>
            <a:endParaRPr lang="en-MY" dirty="0" smtClean="0"/>
          </a:p>
          <a:p>
            <a:endParaRPr lang="en-MY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847330"/>
            <a:ext cx="3227070" cy="14770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902082"/>
            <a:ext cx="2446020" cy="1212967"/>
          </a:xfrm>
          <a:prstGeom prst="rect">
            <a:avLst/>
          </a:prstGeom>
        </p:spPr>
      </p:pic>
      <p:sp>
        <p:nvSpPr>
          <p:cNvPr id="8" name="Text Box 1"/>
          <p:cNvSpPr txBox="1">
            <a:spLocks noChangeArrowheads="1"/>
          </p:cNvSpPr>
          <p:nvPr/>
        </p:nvSpPr>
        <p:spPr bwMode="auto">
          <a:xfrm>
            <a:off x="0" y="0"/>
            <a:ext cx="12192000" cy="11430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37931725" indent="-37474525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MY" sz="4400" dirty="0"/>
              <a:t>Output Variables</a:t>
            </a:r>
            <a:endParaRPr lang="en-US" altLang="en-US" sz="4400" b="1" dirty="0">
              <a:solidFill>
                <a:srgbClr val="FFFFFF"/>
              </a:solidFill>
              <a:latin typeface="Tahoma" panose="020B0604030504040204" pitchFamily="34" charset="0"/>
            </a:endParaRPr>
          </a:p>
        </p:txBody>
      </p:sp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48" t="10524" r="5743" b="15793"/>
          <a:stretch>
            <a:fillRect/>
          </a:stretch>
        </p:blipFill>
        <p:spPr bwMode="auto">
          <a:xfrm>
            <a:off x="0" y="6096000"/>
            <a:ext cx="2447925" cy="74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3599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593166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MY" dirty="0" smtClean="0"/>
              <a:t> </a:t>
            </a:r>
            <a:r>
              <a:rPr lang="en-US" dirty="0"/>
              <a:t>For numbers, the </a:t>
            </a:r>
            <a:r>
              <a:rPr lang="en-US" dirty="0">
                <a:solidFill>
                  <a:srgbClr val="FF0000"/>
                </a:solidFill>
              </a:rPr>
              <a:t>+ </a:t>
            </a:r>
            <a:r>
              <a:rPr lang="en-US" dirty="0"/>
              <a:t>character works as a mathematical operator</a:t>
            </a:r>
            <a:endParaRPr lang="en-MY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MY" dirty="0" smtClean="0"/>
              <a:t>Example </a:t>
            </a:r>
          </a:p>
          <a:p>
            <a:endParaRPr lang="en-MY" dirty="0"/>
          </a:p>
          <a:p>
            <a:endParaRPr lang="en-MY" dirty="0" smtClean="0"/>
          </a:p>
          <a:p>
            <a:endParaRPr lang="en-MY" dirty="0"/>
          </a:p>
          <a:p>
            <a:endParaRPr lang="en-MY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rgbClr val="FF0000"/>
                </a:solidFill>
              </a:rPr>
              <a:t>CAN NOT combine </a:t>
            </a:r>
            <a:r>
              <a:rPr lang="en-US" dirty="0">
                <a:solidFill>
                  <a:srgbClr val="FF0000"/>
                </a:solidFill>
              </a:rPr>
              <a:t>a string and a number</a:t>
            </a:r>
            <a:r>
              <a:rPr lang="en-US" dirty="0"/>
              <a:t>, Python will give you an </a:t>
            </a:r>
            <a:r>
              <a:rPr lang="en-US" dirty="0" smtClean="0"/>
              <a:t>error</a:t>
            </a:r>
          </a:p>
          <a:p>
            <a:endParaRPr lang="en-MY" dirty="0" smtClean="0"/>
          </a:p>
          <a:p>
            <a:endParaRPr lang="en-MY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805112"/>
            <a:ext cx="2407920" cy="134778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5112278"/>
            <a:ext cx="1931670" cy="1040872"/>
          </a:xfrm>
          <a:prstGeom prst="rect">
            <a:avLst/>
          </a:prstGeom>
        </p:spPr>
      </p:pic>
      <p:sp>
        <p:nvSpPr>
          <p:cNvPr id="7" name="Text Box 1"/>
          <p:cNvSpPr txBox="1">
            <a:spLocks noChangeArrowheads="1"/>
          </p:cNvSpPr>
          <p:nvPr/>
        </p:nvSpPr>
        <p:spPr bwMode="auto">
          <a:xfrm>
            <a:off x="0" y="0"/>
            <a:ext cx="12192000" cy="11430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37931725" indent="-37474525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MY" sz="4400" dirty="0"/>
              <a:t>Output Variables </a:t>
            </a:r>
            <a:r>
              <a:rPr lang="en-MY" sz="4400" dirty="0" err="1"/>
              <a:t>cont</a:t>
            </a:r>
            <a:r>
              <a:rPr lang="en-MY" sz="4400" dirty="0"/>
              <a:t>…</a:t>
            </a:r>
            <a:endParaRPr lang="en-US" altLang="en-US" sz="4400" b="1" dirty="0">
              <a:solidFill>
                <a:srgbClr val="FFFFFF"/>
              </a:solidFill>
              <a:latin typeface="Tahoma" panose="020B0604030504040204" pitchFamily="34" charset="0"/>
            </a:endParaRP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48" t="10524" r="5743" b="15793"/>
          <a:stretch>
            <a:fillRect/>
          </a:stretch>
        </p:blipFill>
        <p:spPr bwMode="auto">
          <a:xfrm>
            <a:off x="0" y="6096000"/>
            <a:ext cx="2447925" cy="74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2947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380067"/>
            <a:ext cx="10058400" cy="4478866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1. Create </a:t>
            </a:r>
            <a:r>
              <a:rPr lang="en-US" dirty="0"/>
              <a:t>a variable named </a:t>
            </a:r>
            <a:r>
              <a:rPr lang="en-US" dirty="0" err="1" smtClean="0">
                <a:solidFill>
                  <a:srgbClr val="FF0000"/>
                </a:solidFill>
              </a:rPr>
              <a:t>bunga</a:t>
            </a:r>
            <a:r>
              <a:rPr lang="en-US" dirty="0" smtClean="0"/>
              <a:t> </a:t>
            </a:r>
            <a:r>
              <a:rPr lang="en-US" dirty="0"/>
              <a:t>and assign the value </a:t>
            </a:r>
            <a:r>
              <a:rPr lang="en-US" dirty="0" err="1" smtClean="0">
                <a:solidFill>
                  <a:srgbClr val="FF0000"/>
                </a:solidFill>
              </a:rPr>
              <a:t>Teratai</a:t>
            </a:r>
            <a:r>
              <a:rPr lang="en-US" dirty="0" smtClean="0"/>
              <a:t> </a:t>
            </a:r>
            <a:r>
              <a:rPr lang="en-US" dirty="0"/>
              <a:t>to it</a:t>
            </a:r>
            <a:r>
              <a:rPr lang="en-US" dirty="0" smtClean="0"/>
              <a:t>.</a:t>
            </a:r>
          </a:p>
          <a:p>
            <a:r>
              <a:rPr lang="en-US" dirty="0" smtClean="0"/>
              <a:t>  Answer :</a:t>
            </a:r>
            <a:endParaRPr lang="en-US" dirty="0"/>
          </a:p>
          <a:p>
            <a:r>
              <a:rPr lang="en-US" dirty="0" smtClean="0"/>
              <a:t>2. Create </a:t>
            </a:r>
            <a:r>
              <a:rPr lang="en-US" dirty="0"/>
              <a:t>a variable named</a:t>
            </a:r>
            <a:r>
              <a:rPr lang="en-US" dirty="0">
                <a:solidFill>
                  <a:srgbClr val="FF0000"/>
                </a:solidFill>
              </a:rPr>
              <a:t> x </a:t>
            </a:r>
            <a:r>
              <a:rPr lang="en-US" dirty="0"/>
              <a:t>and assign the value </a:t>
            </a:r>
            <a:r>
              <a:rPr lang="en-US" dirty="0">
                <a:solidFill>
                  <a:srgbClr val="FF0000"/>
                </a:solidFill>
              </a:rPr>
              <a:t>50</a:t>
            </a:r>
            <a:r>
              <a:rPr lang="en-US" dirty="0"/>
              <a:t> to </a:t>
            </a:r>
            <a:r>
              <a:rPr lang="en-US" dirty="0" smtClean="0"/>
              <a:t>it</a:t>
            </a:r>
          </a:p>
          <a:p>
            <a:r>
              <a:rPr lang="en-US" dirty="0" smtClean="0"/>
              <a:t>Answer : </a:t>
            </a:r>
          </a:p>
          <a:p>
            <a:r>
              <a:rPr lang="en-US" dirty="0" smtClean="0"/>
              <a:t>3. Display </a:t>
            </a:r>
            <a:r>
              <a:rPr lang="en-US" dirty="0"/>
              <a:t>the sum of 5 + 10, using two variables: x and </a:t>
            </a:r>
            <a:r>
              <a:rPr lang="en-US" dirty="0" smtClean="0"/>
              <a:t>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answer: </a:t>
            </a:r>
            <a:r>
              <a:rPr lang="en-US" dirty="0" smtClean="0"/>
              <a:t>      ______	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</a:t>
            </a:r>
            <a:r>
              <a:rPr lang="en-US" dirty="0" smtClean="0"/>
              <a:t>                     y </a:t>
            </a:r>
            <a:r>
              <a:rPr lang="en-US" dirty="0"/>
              <a:t>= 10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                     print(x ____y)</a:t>
            </a:r>
          </a:p>
          <a:p>
            <a:r>
              <a:rPr lang="en-US" dirty="0" smtClean="0"/>
              <a:t>4. Create </a:t>
            </a:r>
            <a:r>
              <a:rPr lang="en-US" dirty="0"/>
              <a:t>a </a:t>
            </a:r>
            <a:r>
              <a:rPr lang="en-US" dirty="0" smtClean="0"/>
              <a:t>variable </a:t>
            </a:r>
            <a:r>
              <a:rPr lang="en-US" dirty="0"/>
              <a:t>called z, assign x + y to it, and display the </a:t>
            </a:r>
            <a:r>
              <a:rPr lang="en-US" dirty="0" smtClean="0"/>
              <a:t>result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Answer:    </a:t>
            </a:r>
            <a:r>
              <a:rPr lang="es-ES" dirty="0" smtClean="0"/>
              <a:t>x </a:t>
            </a:r>
            <a:r>
              <a:rPr lang="es-ES" dirty="0"/>
              <a:t>= 5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s-ES" dirty="0" smtClean="0"/>
              <a:t>               y </a:t>
            </a:r>
            <a:r>
              <a:rPr lang="es-ES" dirty="0"/>
              <a:t>= 10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s-ES" dirty="0" smtClean="0"/>
              <a:t>              </a:t>
            </a:r>
            <a:r>
              <a:rPr lang="es-ES" u="sng" dirty="0" smtClean="0"/>
              <a:t>    </a:t>
            </a:r>
            <a:r>
              <a:rPr lang="es-ES" dirty="0" smtClean="0"/>
              <a:t> </a:t>
            </a:r>
            <a:r>
              <a:rPr lang="es-ES" dirty="0"/>
              <a:t>= x + y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s-ES" dirty="0" smtClean="0"/>
              <a:t>              </a:t>
            </a:r>
            <a:r>
              <a:rPr lang="es-ES" dirty="0" err="1" smtClean="0"/>
              <a:t>print</a:t>
            </a:r>
            <a:r>
              <a:rPr lang="es-ES" dirty="0" smtClean="0"/>
              <a:t>(  )</a:t>
            </a:r>
            <a:endParaRPr lang="en-MY" dirty="0"/>
          </a:p>
        </p:txBody>
      </p:sp>
      <p:sp>
        <p:nvSpPr>
          <p:cNvPr id="4" name="Text Box 1"/>
          <p:cNvSpPr txBox="1">
            <a:spLocks noChangeArrowheads="1"/>
          </p:cNvSpPr>
          <p:nvPr/>
        </p:nvSpPr>
        <p:spPr bwMode="auto">
          <a:xfrm>
            <a:off x="0" y="0"/>
            <a:ext cx="12192000" cy="11430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37931725" indent="-37474525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MY" sz="4400" dirty="0"/>
              <a:t>Exercises</a:t>
            </a:r>
            <a:endParaRPr lang="en-US" altLang="en-US" sz="4400" b="1" dirty="0">
              <a:solidFill>
                <a:srgbClr val="FFFFFF"/>
              </a:solidFill>
              <a:latin typeface="Tahoma" panose="020B0604030504040204" pitchFamily="34" charset="0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48" t="10524" r="5743" b="15793"/>
          <a:stretch>
            <a:fillRect/>
          </a:stretch>
        </p:blipFill>
        <p:spPr bwMode="auto">
          <a:xfrm>
            <a:off x="0" y="6096000"/>
            <a:ext cx="2447925" cy="74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508320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336</TotalTime>
  <Words>352</Words>
  <Application>Microsoft Office PowerPoint</Application>
  <PresentationFormat>Widescreen</PresentationFormat>
  <Paragraphs>66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SimSun</vt:lpstr>
      <vt:lpstr>Arial</vt:lpstr>
      <vt:lpstr>Berlin Sans FB Demi</vt:lpstr>
      <vt:lpstr>Calibri</vt:lpstr>
      <vt:lpstr>Calibri Light</vt:lpstr>
      <vt:lpstr>Tahoma</vt:lpstr>
      <vt:lpstr>Wingdings</vt:lpstr>
      <vt:lpstr>Retrospect</vt:lpstr>
      <vt:lpstr>Topic 2: Python Program Elements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2: Python Program Elements</dc:title>
  <dc:creator>Noorazura bt. Natha@Mokhtar</dc:creator>
  <cp:lastModifiedBy>Lenovo</cp:lastModifiedBy>
  <cp:revision>20</cp:revision>
  <dcterms:created xsi:type="dcterms:W3CDTF">2021-03-04T04:27:37Z</dcterms:created>
  <dcterms:modified xsi:type="dcterms:W3CDTF">2023-02-11T21:30:02Z</dcterms:modified>
</cp:coreProperties>
</file>